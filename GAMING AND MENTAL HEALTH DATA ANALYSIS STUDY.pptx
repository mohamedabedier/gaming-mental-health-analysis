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x="18288000" cy="10287000"/>
  <p:notesSz cx="6858000" cy="9144000"/>
  <p:embeddedFontLst>
    <p:embeddedFont>
      <p:font typeface="Tex Gyre Termes" charset="1" panose="00000500000000000000"/>
      <p:regular r:id="rId65"/>
    </p:embeddedFont>
    <p:embeddedFont>
      <p:font typeface="Poppins" charset="1" panose="00000500000000000000"/>
      <p:regular r:id="rId66"/>
    </p:embeddedFont>
    <p:embeddedFont>
      <p:font typeface="Red Hat Display Bold" charset="1" panose="02010803040201060303"/>
      <p:regular r:id="rId67"/>
    </p:embeddedFont>
    <p:embeddedFont>
      <p:font typeface="ITC Franklin Gothic LT Semi-Bold" charset="1" panose="020B0704030502020204"/>
      <p:regular r:id="rId68"/>
    </p:embeddedFont>
    <p:embeddedFont>
      <p:font typeface="Canva Sans Bold" charset="1" panose="020B0803030501040103"/>
      <p:regular r:id="rId69"/>
    </p:embeddedFont>
    <p:embeddedFont>
      <p:font typeface="Poppins Bold" charset="1" panose="00000800000000000000"/>
      <p:regular r:id="rId70"/>
    </p:embeddedFont>
    <p:embeddedFont>
      <p:font typeface="Tex Gyre Termes Bold" charset="1" panose="00000800000000000000"/>
      <p:regular r:id="rId7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fonts/font65.fntdata" Type="http://schemas.openxmlformats.org/officeDocument/2006/relationships/font"/><Relationship Id="rId66" Target="fonts/font66.fntdata" Type="http://schemas.openxmlformats.org/officeDocument/2006/relationships/font"/><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70" Target="fonts/font70.fntdata" Type="http://schemas.openxmlformats.org/officeDocument/2006/relationships/font"/><Relationship Id="rId71" Target="fonts/font71.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 Id="rId6" Target="../media/image8.jpeg" Type="http://schemas.openxmlformats.org/officeDocument/2006/relationships/image"/><Relationship Id="rId7" Target="../media/image1.png" Type="http://schemas.openxmlformats.org/officeDocument/2006/relationships/image"/><Relationship Id="rId8" Target="../media/image2.png" Type="http://schemas.openxmlformats.org/officeDocument/2006/relationships/image"/><Relationship Id="rId9"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png" Type="http://schemas.openxmlformats.org/officeDocument/2006/relationships/image"/><Relationship Id="rId6" Target="../media/image2.png" Type="http://schemas.openxmlformats.org/officeDocument/2006/relationships/image"/><Relationship Id="rId7"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9.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20.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21.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22.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23.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24.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2.png" Type="http://schemas.openxmlformats.org/officeDocument/2006/relationships/image"/><Relationship Id="rId5" Target="../media/image1.png" Type="http://schemas.openxmlformats.org/officeDocument/2006/relationships/image"/><Relationship Id="rId6" Target="../media/image2.png" Type="http://schemas.openxmlformats.org/officeDocument/2006/relationships/image"/><Relationship Id="rId7" Target="../media/image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1.png" Type="http://schemas.openxmlformats.org/officeDocument/2006/relationships/image"/><Relationship Id="rId6" Target="../media/image2.png" Type="http://schemas.openxmlformats.org/officeDocument/2006/relationships/image"/><Relationship Id="rId7" Target="../media/image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39.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0.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1.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42.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jpe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5.jpe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6.jpe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7.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8.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9.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50.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51.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57.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61.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pn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64.png" Type="http://schemas.openxmlformats.org/officeDocument/2006/relationships/image"/><Relationship Id="rId8" Target="../media/image6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grpSp>
        <p:nvGrpSpPr>
          <p:cNvPr name="Group 2" id="2"/>
          <p:cNvGrpSpPr/>
          <p:nvPr/>
        </p:nvGrpSpPr>
        <p:grpSpPr>
          <a:xfrm rot="0">
            <a:off x="1061867" y="8274604"/>
            <a:ext cx="6782896" cy="983696"/>
            <a:chOff x="0" y="0"/>
            <a:chExt cx="1786442" cy="259081"/>
          </a:xfrm>
        </p:grpSpPr>
        <p:sp>
          <p:nvSpPr>
            <p:cNvPr name="Freeform 3" id="3"/>
            <p:cNvSpPr/>
            <p:nvPr/>
          </p:nvSpPr>
          <p:spPr>
            <a:xfrm flipH="false" flipV="false" rot="0">
              <a:off x="0" y="0"/>
              <a:ext cx="1786442" cy="259081"/>
            </a:xfrm>
            <a:custGeom>
              <a:avLst/>
              <a:gdLst/>
              <a:ahLst/>
              <a:cxnLst/>
              <a:rect r="r" b="b" t="t" l="l"/>
              <a:pathLst>
                <a:path h="259081" w="1786442">
                  <a:moveTo>
                    <a:pt x="58211" y="0"/>
                  </a:moveTo>
                  <a:lnTo>
                    <a:pt x="1728231" y="0"/>
                  </a:lnTo>
                  <a:cubicBezTo>
                    <a:pt x="1760380" y="0"/>
                    <a:pt x="1786442" y="26062"/>
                    <a:pt x="1786442" y="58211"/>
                  </a:cubicBezTo>
                  <a:lnTo>
                    <a:pt x="1786442" y="200870"/>
                  </a:lnTo>
                  <a:cubicBezTo>
                    <a:pt x="1786442" y="233019"/>
                    <a:pt x="1760380" y="259081"/>
                    <a:pt x="1728231" y="259081"/>
                  </a:cubicBezTo>
                  <a:lnTo>
                    <a:pt x="58211" y="259081"/>
                  </a:lnTo>
                  <a:cubicBezTo>
                    <a:pt x="26062" y="259081"/>
                    <a:pt x="0" y="233019"/>
                    <a:pt x="0" y="200870"/>
                  </a:cubicBezTo>
                  <a:lnTo>
                    <a:pt x="0" y="58211"/>
                  </a:lnTo>
                  <a:cubicBezTo>
                    <a:pt x="0" y="26062"/>
                    <a:pt x="26062" y="0"/>
                    <a:pt x="58211" y="0"/>
                  </a:cubicBezTo>
                  <a:close/>
                </a:path>
              </a:pathLst>
            </a:custGeom>
            <a:solidFill>
              <a:srgbClr val="4119FF"/>
            </a:solidFill>
          </p:spPr>
        </p:sp>
        <p:sp>
          <p:nvSpPr>
            <p:cNvPr name="TextBox 4" id="4"/>
            <p:cNvSpPr txBox="true"/>
            <p:nvPr/>
          </p:nvSpPr>
          <p:spPr>
            <a:xfrm>
              <a:off x="0" y="-57150"/>
              <a:ext cx="1786442" cy="31623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2040121"/>
            <a:ext cx="9971420" cy="1926669"/>
          </a:xfrm>
          <a:prstGeom prst="rect">
            <a:avLst/>
          </a:prstGeom>
        </p:spPr>
        <p:txBody>
          <a:bodyPr anchor="t" rtlCol="false" tIns="0" lIns="0" bIns="0" rIns="0">
            <a:spAutoFit/>
          </a:bodyPr>
          <a:lstStyle/>
          <a:p>
            <a:pPr algn="l" marL="0" indent="0" lvl="0">
              <a:lnSpc>
                <a:spcPts val="7730"/>
              </a:lnSpc>
              <a:spcBef>
                <a:spcPct val="0"/>
              </a:spcBef>
            </a:pPr>
            <a:r>
              <a:rPr lang="en-US" sz="5521">
                <a:solidFill>
                  <a:srgbClr val="FFFFFF"/>
                </a:solidFill>
                <a:latin typeface="Tex Gyre Termes"/>
                <a:ea typeface="Tex Gyre Termes"/>
                <a:cs typeface="Tex Gyre Termes"/>
                <a:sym typeface="Tex Gyre Termes"/>
              </a:rPr>
              <a:t>GAMING AND</a:t>
            </a:r>
          </a:p>
          <a:p>
            <a:pPr algn="l" marL="0" indent="0" lvl="0">
              <a:lnSpc>
                <a:spcPts val="7730"/>
              </a:lnSpc>
              <a:spcBef>
                <a:spcPct val="0"/>
              </a:spcBef>
            </a:pPr>
            <a:r>
              <a:rPr lang="en-US" sz="5521">
                <a:solidFill>
                  <a:srgbClr val="FFFFFF"/>
                </a:solidFill>
                <a:latin typeface="Tex Gyre Termes"/>
                <a:ea typeface="Tex Gyre Termes"/>
                <a:cs typeface="Tex Gyre Termes"/>
                <a:sym typeface="Tex Gyre Termes"/>
              </a:rPr>
              <a:t>MENTAL HEALTH</a:t>
            </a:r>
          </a:p>
        </p:txBody>
      </p:sp>
      <p:sp>
        <p:nvSpPr>
          <p:cNvPr name="TextBox 6" id="6"/>
          <p:cNvSpPr txBox="true"/>
          <p:nvPr/>
        </p:nvSpPr>
        <p:spPr>
          <a:xfrm rot="0">
            <a:off x="1142995" y="8533049"/>
            <a:ext cx="6620639" cy="400130"/>
          </a:xfrm>
          <a:prstGeom prst="rect">
            <a:avLst/>
          </a:prstGeom>
        </p:spPr>
        <p:txBody>
          <a:bodyPr anchor="t" rtlCol="false" tIns="0" lIns="0" bIns="0" rIns="0">
            <a:spAutoFit/>
          </a:bodyPr>
          <a:lstStyle/>
          <a:p>
            <a:pPr algn="ctr" marL="0" indent="0" lvl="0">
              <a:lnSpc>
                <a:spcPts val="3145"/>
              </a:lnSpc>
            </a:pPr>
            <a:r>
              <a:rPr lang="en-US" sz="2246">
                <a:solidFill>
                  <a:srgbClr val="FFFFFF"/>
                </a:solidFill>
                <a:latin typeface="Poppins"/>
                <a:ea typeface="Poppins"/>
                <a:cs typeface="Poppins"/>
                <a:sym typeface="Poppins"/>
              </a:rPr>
              <a:t>DEPI Data Analysis Track  |  Graduation Project</a:t>
            </a:r>
          </a:p>
        </p:txBody>
      </p:sp>
      <p:sp>
        <p:nvSpPr>
          <p:cNvPr name="Freeform 7" id="7"/>
          <p:cNvSpPr/>
          <p:nvPr/>
        </p:nvSpPr>
        <p:spPr>
          <a:xfrm flipH="false" flipV="false" rot="0">
            <a:off x="9347224" y="1919818"/>
            <a:ext cx="6135818" cy="6135818"/>
          </a:xfrm>
          <a:custGeom>
            <a:avLst/>
            <a:gdLst/>
            <a:ahLst/>
            <a:cxnLst/>
            <a:rect r="r" b="b" t="t" l="l"/>
            <a:pathLst>
              <a:path h="6135818" w="6135818">
                <a:moveTo>
                  <a:pt x="0" y="0"/>
                </a:moveTo>
                <a:lnTo>
                  <a:pt x="6135818" y="0"/>
                </a:lnTo>
                <a:lnTo>
                  <a:pt x="6135818" y="6135818"/>
                </a:lnTo>
                <a:lnTo>
                  <a:pt x="0" y="6135818"/>
                </a:lnTo>
                <a:lnTo>
                  <a:pt x="0" y="0"/>
                </a:lnTo>
                <a:close/>
              </a:path>
            </a:pathLst>
          </a:custGeom>
          <a:blipFill>
            <a:blip r:embed="rId2"/>
            <a:stretch>
              <a:fillRect l="0" t="0" r="0" b="0"/>
            </a:stretch>
          </a:blipFill>
        </p:spPr>
      </p:sp>
      <p:grpSp>
        <p:nvGrpSpPr>
          <p:cNvPr name="Group 8" id="8"/>
          <p:cNvGrpSpPr/>
          <p:nvPr/>
        </p:nvGrpSpPr>
        <p:grpSpPr>
          <a:xfrm rot="0">
            <a:off x="0" y="-25475"/>
            <a:ext cx="18288000" cy="2166846"/>
            <a:chOff x="0" y="0"/>
            <a:chExt cx="24384000" cy="2889128"/>
          </a:xfrm>
        </p:grpSpPr>
        <p:sp>
          <p:nvSpPr>
            <p:cNvPr name="Freeform 9" id="9"/>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2"/>
              <a:stretch>
                <a:fillRect l="0" t="0" r="0" b="0"/>
              </a:stretch>
            </a:blipFill>
          </p:spPr>
        </p:sp>
        <p:sp>
          <p:nvSpPr>
            <p:cNvPr name="Freeform 10" id="10"/>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3"/>
              <a:stretch>
                <a:fillRect l="0" t="0" r="0" b="0"/>
              </a:stretch>
            </a:blipFill>
          </p:spPr>
        </p:sp>
        <p:sp>
          <p:nvSpPr>
            <p:cNvPr name="Freeform 11" id="11"/>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4"/>
              <a:stretch>
                <a:fillRect l="-12904" t="-12015" r="-11867" b="-12757"/>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675747" y="1837996"/>
            <a:ext cx="3305517" cy="3305504"/>
            <a:chOff x="0" y="0"/>
            <a:chExt cx="6350000" cy="6349975"/>
          </a:xfrm>
        </p:grpSpPr>
        <p:sp>
          <p:nvSpPr>
            <p:cNvPr name="Freeform 3" id="3"/>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0" t="0" r="0" b="0"/>
              </a:stretch>
            </a:blipFill>
          </p:spPr>
        </p:sp>
      </p:grpSp>
      <p:grpSp>
        <p:nvGrpSpPr>
          <p:cNvPr name="Group 4" id="4"/>
          <p:cNvGrpSpPr>
            <a:grpSpLocks noChangeAspect="true"/>
          </p:cNvGrpSpPr>
          <p:nvPr/>
        </p:nvGrpSpPr>
        <p:grpSpPr>
          <a:xfrm rot="0">
            <a:off x="4431919" y="6027615"/>
            <a:ext cx="3290988" cy="3290975"/>
            <a:chOff x="0" y="0"/>
            <a:chExt cx="6350000" cy="6349975"/>
          </a:xfrm>
        </p:grpSpPr>
        <p:sp>
          <p:nvSpPr>
            <p:cNvPr name="Freeform 5" id="5"/>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0" t="-8151" r="0" b="-29006"/>
              </a:stretch>
            </a:blipFill>
          </p:spPr>
        </p:sp>
      </p:grpSp>
      <p:grpSp>
        <p:nvGrpSpPr>
          <p:cNvPr name="Group 6" id="6"/>
          <p:cNvGrpSpPr>
            <a:grpSpLocks noChangeAspect="true"/>
          </p:cNvGrpSpPr>
          <p:nvPr/>
        </p:nvGrpSpPr>
        <p:grpSpPr>
          <a:xfrm rot="0">
            <a:off x="9144000" y="5908754"/>
            <a:ext cx="3409850" cy="3409836"/>
            <a:chOff x="0" y="0"/>
            <a:chExt cx="6350000" cy="6349975"/>
          </a:xfrm>
        </p:grpSpPr>
        <p:sp>
          <p:nvSpPr>
            <p:cNvPr name="Freeform 7" id="7"/>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40151" t="-75980" r="-45132" b="-71066"/>
              </a:stretch>
            </a:blipFill>
          </p:spPr>
        </p:sp>
      </p:grpSp>
      <p:grpSp>
        <p:nvGrpSpPr>
          <p:cNvPr name="Group 8" id="8"/>
          <p:cNvGrpSpPr>
            <a:grpSpLocks noChangeAspect="true"/>
          </p:cNvGrpSpPr>
          <p:nvPr/>
        </p:nvGrpSpPr>
        <p:grpSpPr>
          <a:xfrm rot="0">
            <a:off x="11780305" y="1893659"/>
            <a:ext cx="3353475" cy="3353462"/>
            <a:chOff x="0" y="0"/>
            <a:chExt cx="6350000" cy="6349975"/>
          </a:xfrm>
        </p:grpSpPr>
        <p:sp>
          <p:nvSpPr>
            <p:cNvPr name="Freeform 9" id="9"/>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l="0" t="-16666" r="0" b="-16666"/>
              </a:stretch>
            </a:blipFill>
          </p:spPr>
        </p:sp>
      </p:grpSp>
      <p:grpSp>
        <p:nvGrpSpPr>
          <p:cNvPr name="Group 10" id="10"/>
          <p:cNvGrpSpPr>
            <a:grpSpLocks noChangeAspect="true"/>
          </p:cNvGrpSpPr>
          <p:nvPr/>
        </p:nvGrpSpPr>
        <p:grpSpPr>
          <a:xfrm rot="0">
            <a:off x="7229038" y="1945701"/>
            <a:ext cx="3301433" cy="3301420"/>
            <a:chOff x="0" y="0"/>
            <a:chExt cx="6350000" cy="6349975"/>
          </a:xfrm>
        </p:grpSpPr>
        <p:sp>
          <p:nvSpPr>
            <p:cNvPr name="Freeform 11" id="11"/>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0" t="-16747" r="0" b="-16747"/>
              </a:stretch>
            </a:blipFill>
          </p:spPr>
        </p:sp>
      </p:grpSp>
      <p:grpSp>
        <p:nvGrpSpPr>
          <p:cNvPr name="Group 12" id="12"/>
          <p:cNvGrpSpPr/>
          <p:nvPr/>
        </p:nvGrpSpPr>
        <p:grpSpPr>
          <a:xfrm rot="0">
            <a:off x="4133607" y="168309"/>
            <a:ext cx="9432699" cy="1219113"/>
            <a:chOff x="0" y="0"/>
            <a:chExt cx="2484332" cy="321083"/>
          </a:xfrm>
        </p:grpSpPr>
        <p:sp>
          <p:nvSpPr>
            <p:cNvPr name="Freeform 13" id="13"/>
            <p:cNvSpPr/>
            <p:nvPr/>
          </p:nvSpPr>
          <p:spPr>
            <a:xfrm flipH="false" flipV="false" rot="0">
              <a:off x="0" y="0"/>
              <a:ext cx="2484332" cy="321083"/>
            </a:xfrm>
            <a:custGeom>
              <a:avLst/>
              <a:gdLst/>
              <a:ahLst/>
              <a:cxnLst/>
              <a:rect r="r" b="b" t="t" l="l"/>
              <a:pathLst>
                <a:path h="321083" w="2484332">
                  <a:moveTo>
                    <a:pt x="41858" y="0"/>
                  </a:moveTo>
                  <a:lnTo>
                    <a:pt x="2442474" y="0"/>
                  </a:lnTo>
                  <a:cubicBezTo>
                    <a:pt x="2453575" y="0"/>
                    <a:pt x="2464222" y="4410"/>
                    <a:pt x="2472072" y="12260"/>
                  </a:cubicBezTo>
                  <a:cubicBezTo>
                    <a:pt x="2479922" y="20110"/>
                    <a:pt x="2484332" y="30757"/>
                    <a:pt x="2484332" y="41858"/>
                  </a:cubicBezTo>
                  <a:lnTo>
                    <a:pt x="2484332" y="279225"/>
                  </a:lnTo>
                  <a:cubicBezTo>
                    <a:pt x="2484332" y="290326"/>
                    <a:pt x="2479922" y="300973"/>
                    <a:pt x="2472072" y="308823"/>
                  </a:cubicBezTo>
                  <a:cubicBezTo>
                    <a:pt x="2464222" y="316673"/>
                    <a:pt x="2453575" y="321083"/>
                    <a:pt x="2442474" y="321083"/>
                  </a:cubicBezTo>
                  <a:lnTo>
                    <a:pt x="41858" y="321083"/>
                  </a:lnTo>
                  <a:cubicBezTo>
                    <a:pt x="30757" y="321083"/>
                    <a:pt x="20110" y="316673"/>
                    <a:pt x="12260" y="308823"/>
                  </a:cubicBezTo>
                  <a:cubicBezTo>
                    <a:pt x="4410" y="300973"/>
                    <a:pt x="0" y="290326"/>
                    <a:pt x="0" y="279225"/>
                  </a:cubicBezTo>
                  <a:lnTo>
                    <a:pt x="0" y="41858"/>
                  </a:lnTo>
                  <a:cubicBezTo>
                    <a:pt x="0" y="30757"/>
                    <a:pt x="4410" y="20110"/>
                    <a:pt x="12260" y="12260"/>
                  </a:cubicBezTo>
                  <a:cubicBezTo>
                    <a:pt x="20110" y="4410"/>
                    <a:pt x="30757" y="0"/>
                    <a:pt x="41858" y="0"/>
                  </a:cubicBezTo>
                  <a:close/>
                </a:path>
              </a:pathLst>
            </a:custGeom>
            <a:solidFill>
              <a:srgbClr val="6192F6"/>
            </a:solidFill>
            <a:ln cap="rnd">
              <a:noFill/>
              <a:prstDash val="solid"/>
              <a:round/>
            </a:ln>
          </p:spPr>
        </p:sp>
        <p:sp>
          <p:nvSpPr>
            <p:cNvPr name="TextBox 14" id="14"/>
            <p:cNvSpPr txBox="true"/>
            <p:nvPr/>
          </p:nvSpPr>
          <p:spPr>
            <a:xfrm>
              <a:off x="0" y="142875"/>
              <a:ext cx="2484332" cy="178208"/>
            </a:xfrm>
            <a:prstGeom prst="rect">
              <a:avLst/>
            </a:prstGeom>
          </p:spPr>
          <p:txBody>
            <a:bodyPr anchor="ctr" rtlCol="false" tIns="50800" lIns="50800" bIns="50800" rIns="50800"/>
            <a:lstStyle/>
            <a:p>
              <a:pPr algn="ctr" marL="0" indent="0" lvl="0">
                <a:lnSpc>
                  <a:spcPts val="4913"/>
                </a:lnSpc>
                <a:spcBef>
                  <a:spcPct val="0"/>
                </a:spcBef>
              </a:pPr>
              <a:r>
                <a:rPr lang="en-US" b="true" sz="5399" spc="-107">
                  <a:solidFill>
                    <a:srgbClr val="000000"/>
                  </a:solidFill>
                  <a:latin typeface="Red Hat Display Bold"/>
                  <a:ea typeface="Red Hat Display Bold"/>
                  <a:cs typeface="Red Hat Display Bold"/>
                  <a:sym typeface="Red Hat Display Bold"/>
                </a:rPr>
                <a:t>The  Outlier Team</a:t>
              </a:r>
            </a:p>
          </p:txBody>
        </p:sp>
      </p:grpSp>
      <p:sp>
        <p:nvSpPr>
          <p:cNvPr name="TextBox 15" id="15"/>
          <p:cNvSpPr txBox="true"/>
          <p:nvPr/>
        </p:nvSpPr>
        <p:spPr>
          <a:xfrm rot="0">
            <a:off x="2992387" y="5333595"/>
            <a:ext cx="2672236" cy="471805"/>
          </a:xfrm>
          <a:prstGeom prst="rect">
            <a:avLst/>
          </a:prstGeom>
        </p:spPr>
        <p:txBody>
          <a:bodyPr anchor="t" rtlCol="false" tIns="0" lIns="0" bIns="0" rIns="0">
            <a:spAutoFit/>
          </a:bodyPr>
          <a:lstStyle/>
          <a:p>
            <a:pPr algn="ctr">
              <a:lnSpc>
                <a:spcPts val="3380"/>
              </a:lnSpc>
            </a:pPr>
            <a:r>
              <a:rPr lang="en-US" b="true" sz="2600">
                <a:solidFill>
                  <a:srgbClr val="FFFFFF"/>
                </a:solidFill>
                <a:latin typeface="ITC Franklin Gothic LT Semi-Bold"/>
                <a:ea typeface="ITC Franklin Gothic LT Semi-Bold"/>
                <a:cs typeface="ITC Franklin Gothic LT Semi-Bold"/>
                <a:sym typeface="ITC Franklin Gothic LT Semi-Bold"/>
              </a:rPr>
              <a:t>Mohamed Bedier</a:t>
            </a:r>
          </a:p>
        </p:txBody>
      </p:sp>
      <p:sp>
        <p:nvSpPr>
          <p:cNvPr name="TextBox 16" id="16"/>
          <p:cNvSpPr txBox="true"/>
          <p:nvPr/>
        </p:nvSpPr>
        <p:spPr>
          <a:xfrm rot="0">
            <a:off x="4890921" y="9509090"/>
            <a:ext cx="2672236" cy="471805"/>
          </a:xfrm>
          <a:prstGeom prst="rect">
            <a:avLst/>
          </a:prstGeom>
        </p:spPr>
        <p:txBody>
          <a:bodyPr anchor="t" rtlCol="false" tIns="0" lIns="0" bIns="0" rIns="0">
            <a:spAutoFit/>
          </a:bodyPr>
          <a:lstStyle/>
          <a:p>
            <a:pPr algn="ctr">
              <a:lnSpc>
                <a:spcPts val="3380"/>
              </a:lnSpc>
            </a:pPr>
            <a:r>
              <a:rPr lang="en-US" b="true" sz="2600">
                <a:solidFill>
                  <a:srgbClr val="FFFFFF"/>
                </a:solidFill>
                <a:latin typeface="ITC Franklin Gothic LT Semi-Bold"/>
                <a:ea typeface="ITC Franklin Gothic LT Semi-Bold"/>
                <a:cs typeface="ITC Franklin Gothic LT Semi-Bold"/>
                <a:sym typeface="ITC Franklin Gothic LT Semi-Bold"/>
              </a:rPr>
              <a:t>Belal Ahmed</a:t>
            </a:r>
          </a:p>
        </p:txBody>
      </p:sp>
      <p:sp>
        <p:nvSpPr>
          <p:cNvPr name="TextBox 17" id="17"/>
          <p:cNvSpPr txBox="true"/>
          <p:nvPr/>
        </p:nvSpPr>
        <p:spPr>
          <a:xfrm rot="0">
            <a:off x="9557952" y="9509090"/>
            <a:ext cx="2672236" cy="471805"/>
          </a:xfrm>
          <a:prstGeom prst="rect">
            <a:avLst/>
          </a:prstGeom>
        </p:spPr>
        <p:txBody>
          <a:bodyPr anchor="t" rtlCol="false" tIns="0" lIns="0" bIns="0" rIns="0">
            <a:spAutoFit/>
          </a:bodyPr>
          <a:lstStyle/>
          <a:p>
            <a:pPr algn="ctr">
              <a:lnSpc>
                <a:spcPts val="3380"/>
              </a:lnSpc>
            </a:pPr>
            <a:r>
              <a:rPr lang="en-US" b="true" sz="2600">
                <a:solidFill>
                  <a:srgbClr val="FFFFFF"/>
                </a:solidFill>
                <a:latin typeface="ITC Franklin Gothic LT Semi-Bold"/>
                <a:ea typeface="ITC Franklin Gothic LT Semi-Bold"/>
                <a:cs typeface="ITC Franklin Gothic LT Semi-Bold"/>
                <a:sym typeface="ITC Franklin Gothic LT Semi-Bold"/>
              </a:rPr>
              <a:t>Ibrahim Elnemr</a:t>
            </a:r>
          </a:p>
        </p:txBody>
      </p:sp>
      <p:sp>
        <p:nvSpPr>
          <p:cNvPr name="TextBox 18" id="18"/>
          <p:cNvSpPr txBox="true"/>
          <p:nvPr/>
        </p:nvSpPr>
        <p:spPr>
          <a:xfrm rot="0">
            <a:off x="12230188" y="5436949"/>
            <a:ext cx="2672236" cy="471805"/>
          </a:xfrm>
          <a:prstGeom prst="rect">
            <a:avLst/>
          </a:prstGeom>
        </p:spPr>
        <p:txBody>
          <a:bodyPr anchor="t" rtlCol="false" tIns="0" lIns="0" bIns="0" rIns="0">
            <a:spAutoFit/>
          </a:bodyPr>
          <a:lstStyle/>
          <a:p>
            <a:pPr algn="ctr">
              <a:lnSpc>
                <a:spcPts val="3380"/>
              </a:lnSpc>
            </a:pPr>
            <a:r>
              <a:rPr lang="en-US" b="true" sz="2600">
                <a:solidFill>
                  <a:srgbClr val="FFFFFF"/>
                </a:solidFill>
                <a:latin typeface="ITC Franklin Gothic LT Semi-Bold"/>
                <a:ea typeface="ITC Franklin Gothic LT Semi-Bold"/>
                <a:cs typeface="ITC Franklin Gothic LT Semi-Bold"/>
                <a:sym typeface="ITC Franklin Gothic LT Semi-Bold"/>
              </a:rPr>
              <a:t>Shahd Mohamed</a:t>
            </a:r>
          </a:p>
        </p:txBody>
      </p:sp>
      <p:sp>
        <p:nvSpPr>
          <p:cNvPr name="TextBox 19" id="19"/>
          <p:cNvSpPr txBox="true"/>
          <p:nvPr/>
        </p:nvSpPr>
        <p:spPr>
          <a:xfrm rot="0">
            <a:off x="7297191" y="5333595"/>
            <a:ext cx="3165129" cy="471805"/>
          </a:xfrm>
          <a:prstGeom prst="rect">
            <a:avLst/>
          </a:prstGeom>
        </p:spPr>
        <p:txBody>
          <a:bodyPr anchor="t" rtlCol="false" tIns="0" lIns="0" bIns="0" rIns="0">
            <a:spAutoFit/>
          </a:bodyPr>
          <a:lstStyle/>
          <a:p>
            <a:pPr algn="ctr">
              <a:lnSpc>
                <a:spcPts val="3380"/>
              </a:lnSpc>
            </a:pPr>
            <a:r>
              <a:rPr lang="en-US" b="true" sz="2600">
                <a:solidFill>
                  <a:srgbClr val="FFFFFF"/>
                </a:solidFill>
                <a:latin typeface="ITC Franklin Gothic LT Semi-Bold"/>
                <a:ea typeface="ITC Franklin Gothic LT Semi-Bold"/>
                <a:cs typeface="ITC Franklin Gothic LT Semi-Bold"/>
                <a:sym typeface="ITC Franklin Gothic LT Semi-Bold"/>
              </a:rPr>
              <a:t>Youssef Talaat</a:t>
            </a:r>
          </a:p>
        </p:txBody>
      </p:sp>
      <p:grpSp>
        <p:nvGrpSpPr>
          <p:cNvPr name="Group 20" id="20"/>
          <p:cNvGrpSpPr/>
          <p:nvPr/>
        </p:nvGrpSpPr>
        <p:grpSpPr>
          <a:xfrm rot="0">
            <a:off x="0" y="-25475"/>
            <a:ext cx="18288000" cy="2166846"/>
            <a:chOff x="0" y="0"/>
            <a:chExt cx="24384000" cy="2889128"/>
          </a:xfrm>
        </p:grpSpPr>
        <p:sp>
          <p:nvSpPr>
            <p:cNvPr name="Freeform 21" id="21"/>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7"/>
              <a:stretch>
                <a:fillRect l="0" t="0" r="0" b="0"/>
              </a:stretch>
            </a:blipFill>
          </p:spPr>
        </p:sp>
        <p:sp>
          <p:nvSpPr>
            <p:cNvPr name="Freeform 22" id="22"/>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8"/>
              <a:stretch>
                <a:fillRect l="0" t="0" r="0" b="0"/>
              </a:stretch>
            </a:blipFill>
          </p:spPr>
        </p:sp>
        <p:sp>
          <p:nvSpPr>
            <p:cNvPr name="Freeform 23" id="23"/>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9"/>
              <a:stretch>
                <a:fillRect l="-12904" t="-12015" r="-11867" b="-12757"/>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grpSp>
        <p:nvGrpSpPr>
          <p:cNvPr name="Group 2" id="2"/>
          <p:cNvGrpSpPr/>
          <p:nvPr/>
        </p:nvGrpSpPr>
        <p:grpSpPr>
          <a:xfrm rot="0">
            <a:off x="6701181" y="2905377"/>
            <a:ext cx="4286250" cy="1047750"/>
            <a:chOff x="0" y="0"/>
            <a:chExt cx="1128889" cy="275951"/>
          </a:xfrm>
        </p:grpSpPr>
        <p:sp>
          <p:nvSpPr>
            <p:cNvPr name="Freeform 3" id="3"/>
            <p:cNvSpPr/>
            <p:nvPr/>
          </p:nvSpPr>
          <p:spPr>
            <a:xfrm flipH="false" flipV="false" rot="0">
              <a:off x="0" y="0"/>
              <a:ext cx="1128889" cy="275951"/>
            </a:xfrm>
            <a:custGeom>
              <a:avLst/>
              <a:gdLst/>
              <a:ahLst/>
              <a:cxnLst/>
              <a:rect r="r" b="b" t="t" l="l"/>
              <a:pathLst>
                <a:path h="275951" w="1128889">
                  <a:moveTo>
                    <a:pt x="25287" y="0"/>
                  </a:moveTo>
                  <a:lnTo>
                    <a:pt x="1103602" y="0"/>
                  </a:lnTo>
                  <a:cubicBezTo>
                    <a:pt x="1110308" y="0"/>
                    <a:pt x="1116740" y="2664"/>
                    <a:pt x="1121482" y="7406"/>
                  </a:cubicBezTo>
                  <a:cubicBezTo>
                    <a:pt x="1126225" y="12149"/>
                    <a:pt x="1128889" y="18581"/>
                    <a:pt x="1128889" y="25287"/>
                  </a:cubicBezTo>
                  <a:lnTo>
                    <a:pt x="1128889" y="250664"/>
                  </a:lnTo>
                  <a:cubicBezTo>
                    <a:pt x="1128889" y="264629"/>
                    <a:pt x="1117567" y="275951"/>
                    <a:pt x="1103602" y="275951"/>
                  </a:cubicBezTo>
                  <a:lnTo>
                    <a:pt x="25287" y="275951"/>
                  </a:lnTo>
                  <a:cubicBezTo>
                    <a:pt x="18581" y="275951"/>
                    <a:pt x="12149" y="273286"/>
                    <a:pt x="7406" y="268544"/>
                  </a:cubicBezTo>
                  <a:cubicBezTo>
                    <a:pt x="2664" y="263802"/>
                    <a:pt x="0" y="257370"/>
                    <a:pt x="0" y="250664"/>
                  </a:cubicBezTo>
                  <a:lnTo>
                    <a:pt x="0" y="25287"/>
                  </a:lnTo>
                  <a:cubicBezTo>
                    <a:pt x="0" y="18581"/>
                    <a:pt x="2664" y="12149"/>
                    <a:pt x="7406" y="7406"/>
                  </a:cubicBezTo>
                  <a:cubicBezTo>
                    <a:pt x="12149" y="2664"/>
                    <a:pt x="18581" y="0"/>
                    <a:pt x="25287" y="0"/>
                  </a:cubicBezTo>
                  <a:close/>
                </a:path>
              </a:pathLst>
            </a:custGeom>
            <a:solidFill>
              <a:srgbClr val="4119FF"/>
            </a:solidFill>
            <a:ln cap="sq">
              <a:noFill/>
              <a:prstDash val="solid"/>
              <a:miter/>
            </a:ln>
          </p:spPr>
        </p:sp>
        <p:sp>
          <p:nvSpPr>
            <p:cNvPr name="TextBox 4" id="4"/>
            <p:cNvSpPr txBox="true"/>
            <p:nvPr/>
          </p:nvSpPr>
          <p:spPr>
            <a:xfrm>
              <a:off x="0" y="76200"/>
              <a:ext cx="1128889" cy="199751"/>
            </a:xfrm>
            <a:prstGeom prst="rect">
              <a:avLst/>
            </a:prstGeom>
          </p:spPr>
          <p:txBody>
            <a:bodyPr anchor="ctr" rtlCol="false" tIns="50800" lIns="50800" bIns="50800" rIns="50800"/>
            <a:lstStyle/>
            <a:p>
              <a:pPr algn="ctr" marL="0" indent="0" lvl="0">
                <a:lnSpc>
                  <a:spcPts val="2184"/>
                </a:lnSpc>
                <a:spcBef>
                  <a:spcPct val="0"/>
                </a:spcBef>
              </a:pPr>
            </a:p>
          </p:txBody>
        </p:sp>
      </p:grpSp>
      <p:grpSp>
        <p:nvGrpSpPr>
          <p:cNvPr name="Group 5" id="5"/>
          <p:cNvGrpSpPr/>
          <p:nvPr/>
        </p:nvGrpSpPr>
        <p:grpSpPr>
          <a:xfrm rot="0">
            <a:off x="11798630" y="2905377"/>
            <a:ext cx="4286250" cy="1047750"/>
            <a:chOff x="0" y="0"/>
            <a:chExt cx="1128889" cy="275951"/>
          </a:xfrm>
        </p:grpSpPr>
        <p:sp>
          <p:nvSpPr>
            <p:cNvPr name="Freeform 6" id="6"/>
            <p:cNvSpPr/>
            <p:nvPr/>
          </p:nvSpPr>
          <p:spPr>
            <a:xfrm flipH="false" flipV="false" rot="0">
              <a:off x="0" y="0"/>
              <a:ext cx="1128889" cy="275951"/>
            </a:xfrm>
            <a:custGeom>
              <a:avLst/>
              <a:gdLst/>
              <a:ahLst/>
              <a:cxnLst/>
              <a:rect r="r" b="b" t="t" l="l"/>
              <a:pathLst>
                <a:path h="275951" w="1128889">
                  <a:moveTo>
                    <a:pt x="25287" y="0"/>
                  </a:moveTo>
                  <a:lnTo>
                    <a:pt x="1103602" y="0"/>
                  </a:lnTo>
                  <a:cubicBezTo>
                    <a:pt x="1110308" y="0"/>
                    <a:pt x="1116740" y="2664"/>
                    <a:pt x="1121482" y="7406"/>
                  </a:cubicBezTo>
                  <a:cubicBezTo>
                    <a:pt x="1126225" y="12149"/>
                    <a:pt x="1128889" y="18581"/>
                    <a:pt x="1128889" y="25287"/>
                  </a:cubicBezTo>
                  <a:lnTo>
                    <a:pt x="1128889" y="250664"/>
                  </a:lnTo>
                  <a:cubicBezTo>
                    <a:pt x="1128889" y="264629"/>
                    <a:pt x="1117567" y="275951"/>
                    <a:pt x="1103602" y="275951"/>
                  </a:cubicBezTo>
                  <a:lnTo>
                    <a:pt x="25287" y="275951"/>
                  </a:lnTo>
                  <a:cubicBezTo>
                    <a:pt x="18581" y="275951"/>
                    <a:pt x="12149" y="273286"/>
                    <a:pt x="7406" y="268544"/>
                  </a:cubicBezTo>
                  <a:cubicBezTo>
                    <a:pt x="2664" y="263802"/>
                    <a:pt x="0" y="257370"/>
                    <a:pt x="0" y="250664"/>
                  </a:cubicBezTo>
                  <a:lnTo>
                    <a:pt x="0" y="25287"/>
                  </a:lnTo>
                  <a:cubicBezTo>
                    <a:pt x="0" y="18581"/>
                    <a:pt x="2664" y="12149"/>
                    <a:pt x="7406" y="7406"/>
                  </a:cubicBezTo>
                  <a:cubicBezTo>
                    <a:pt x="12149" y="2664"/>
                    <a:pt x="18581" y="0"/>
                    <a:pt x="25287" y="0"/>
                  </a:cubicBezTo>
                  <a:close/>
                </a:path>
              </a:pathLst>
            </a:custGeom>
            <a:solidFill>
              <a:srgbClr val="6192F6"/>
            </a:solidFill>
          </p:spPr>
        </p:sp>
        <p:sp>
          <p:nvSpPr>
            <p:cNvPr name="TextBox 7" id="7"/>
            <p:cNvSpPr txBox="true"/>
            <p:nvPr/>
          </p:nvSpPr>
          <p:spPr>
            <a:xfrm>
              <a:off x="0" y="76200"/>
              <a:ext cx="1128889" cy="199751"/>
            </a:xfrm>
            <a:prstGeom prst="rect">
              <a:avLst/>
            </a:prstGeom>
          </p:spPr>
          <p:txBody>
            <a:bodyPr anchor="ctr" rtlCol="false" tIns="50800" lIns="50800" bIns="50800" rIns="50800"/>
            <a:lstStyle/>
            <a:p>
              <a:pPr algn="just">
                <a:lnSpc>
                  <a:spcPts val="2547"/>
                </a:lnSpc>
              </a:pPr>
              <a:r>
                <a:rPr lang="en-US" b="true" sz="2799" spc="-218">
                  <a:solidFill>
                    <a:srgbClr val="FFFFFF"/>
                  </a:solidFill>
                  <a:latin typeface="Red Hat Display Bold"/>
                  <a:ea typeface="Red Hat Display Bold"/>
                  <a:cs typeface="Red Hat Display Bold"/>
                  <a:sym typeface="Red Hat Display Bold"/>
                </a:rPr>
                <a:t>           </a:t>
              </a:r>
              <a:r>
                <a:rPr lang="en-US" b="true" sz="2799" spc="-218" u="sng">
                  <a:solidFill>
                    <a:srgbClr val="FFFFFF"/>
                  </a:solidFill>
                  <a:latin typeface="Red Hat Display Bold"/>
                  <a:ea typeface="Red Hat Display Bold"/>
                  <a:cs typeface="Red Hat Display Bold"/>
                  <a:sym typeface="Red Hat Display Bold"/>
                </a:rPr>
                <a:t>2 . Motivation </a:t>
              </a:r>
            </a:p>
          </p:txBody>
        </p:sp>
      </p:grpSp>
      <p:sp>
        <p:nvSpPr>
          <p:cNvPr name="TextBox 8" id="8"/>
          <p:cNvSpPr txBox="true"/>
          <p:nvPr/>
        </p:nvSpPr>
        <p:spPr>
          <a:xfrm rot="0">
            <a:off x="712991" y="2859539"/>
            <a:ext cx="5178565" cy="990607"/>
          </a:xfrm>
          <a:prstGeom prst="rect">
            <a:avLst/>
          </a:prstGeom>
        </p:spPr>
        <p:txBody>
          <a:bodyPr anchor="t" rtlCol="false" tIns="0" lIns="0" bIns="0" rIns="0">
            <a:spAutoFit/>
          </a:bodyPr>
          <a:lstStyle/>
          <a:p>
            <a:pPr algn="l">
              <a:lnSpc>
                <a:spcPts val="7200"/>
              </a:lnSpc>
            </a:pPr>
            <a:r>
              <a:rPr lang="en-US" sz="8000" spc="-480" b="true">
                <a:solidFill>
                  <a:srgbClr val="FFFFFF"/>
                </a:solidFill>
                <a:latin typeface="Red Hat Display Bold"/>
                <a:ea typeface="Red Hat Display Bold"/>
                <a:cs typeface="Red Hat Display Bold"/>
                <a:sym typeface="Red Hat Display Bold"/>
              </a:rPr>
              <a:t>Agenda </a:t>
            </a:r>
          </a:p>
        </p:txBody>
      </p:sp>
      <p:sp>
        <p:nvSpPr>
          <p:cNvPr name="TextBox 9" id="9"/>
          <p:cNvSpPr txBox="true"/>
          <p:nvPr/>
        </p:nvSpPr>
        <p:spPr>
          <a:xfrm rot="0">
            <a:off x="7075271" y="3316742"/>
            <a:ext cx="3538070" cy="344805"/>
          </a:xfrm>
          <a:prstGeom prst="rect">
            <a:avLst/>
          </a:prstGeom>
        </p:spPr>
        <p:txBody>
          <a:bodyPr anchor="t" rtlCol="false" tIns="0" lIns="0" bIns="0" rIns="0">
            <a:spAutoFit/>
          </a:bodyPr>
          <a:lstStyle/>
          <a:p>
            <a:pPr algn="l">
              <a:lnSpc>
                <a:spcPts val="2519"/>
              </a:lnSpc>
            </a:pPr>
            <a:r>
              <a:rPr lang="en-US" b="true" sz="2799" u="sng">
                <a:solidFill>
                  <a:srgbClr val="FFFFFF"/>
                </a:solidFill>
                <a:latin typeface="Red Hat Display Bold"/>
                <a:ea typeface="Red Hat Display Bold"/>
                <a:cs typeface="Red Hat Display Bold"/>
                <a:sym typeface="Red Hat Display Bold"/>
              </a:rPr>
              <a:t>1.Introduction</a:t>
            </a:r>
          </a:p>
        </p:txBody>
      </p:sp>
      <p:grpSp>
        <p:nvGrpSpPr>
          <p:cNvPr name="Group 10" id="10"/>
          <p:cNvGrpSpPr/>
          <p:nvPr/>
        </p:nvGrpSpPr>
        <p:grpSpPr>
          <a:xfrm rot="0">
            <a:off x="6701181" y="4233020"/>
            <a:ext cx="4286250" cy="1047750"/>
            <a:chOff x="0" y="0"/>
            <a:chExt cx="1128889" cy="275951"/>
          </a:xfrm>
        </p:grpSpPr>
        <p:sp>
          <p:nvSpPr>
            <p:cNvPr name="Freeform 11" id="11"/>
            <p:cNvSpPr/>
            <p:nvPr/>
          </p:nvSpPr>
          <p:spPr>
            <a:xfrm flipH="false" flipV="false" rot="0">
              <a:off x="0" y="0"/>
              <a:ext cx="1128889" cy="275951"/>
            </a:xfrm>
            <a:custGeom>
              <a:avLst/>
              <a:gdLst/>
              <a:ahLst/>
              <a:cxnLst/>
              <a:rect r="r" b="b" t="t" l="l"/>
              <a:pathLst>
                <a:path h="275951" w="1128889">
                  <a:moveTo>
                    <a:pt x="25287" y="0"/>
                  </a:moveTo>
                  <a:lnTo>
                    <a:pt x="1103602" y="0"/>
                  </a:lnTo>
                  <a:cubicBezTo>
                    <a:pt x="1110308" y="0"/>
                    <a:pt x="1116740" y="2664"/>
                    <a:pt x="1121482" y="7406"/>
                  </a:cubicBezTo>
                  <a:cubicBezTo>
                    <a:pt x="1126225" y="12149"/>
                    <a:pt x="1128889" y="18581"/>
                    <a:pt x="1128889" y="25287"/>
                  </a:cubicBezTo>
                  <a:lnTo>
                    <a:pt x="1128889" y="250664"/>
                  </a:lnTo>
                  <a:cubicBezTo>
                    <a:pt x="1128889" y="264629"/>
                    <a:pt x="1117567" y="275951"/>
                    <a:pt x="1103602" y="275951"/>
                  </a:cubicBezTo>
                  <a:lnTo>
                    <a:pt x="25287" y="275951"/>
                  </a:lnTo>
                  <a:cubicBezTo>
                    <a:pt x="18581" y="275951"/>
                    <a:pt x="12149" y="273286"/>
                    <a:pt x="7406" y="268544"/>
                  </a:cubicBezTo>
                  <a:cubicBezTo>
                    <a:pt x="2664" y="263802"/>
                    <a:pt x="0" y="257370"/>
                    <a:pt x="0" y="250664"/>
                  </a:cubicBezTo>
                  <a:lnTo>
                    <a:pt x="0" y="25287"/>
                  </a:lnTo>
                  <a:cubicBezTo>
                    <a:pt x="0" y="18581"/>
                    <a:pt x="2664" y="12149"/>
                    <a:pt x="7406" y="7406"/>
                  </a:cubicBezTo>
                  <a:cubicBezTo>
                    <a:pt x="12149" y="2664"/>
                    <a:pt x="18581" y="0"/>
                    <a:pt x="25287" y="0"/>
                  </a:cubicBezTo>
                  <a:close/>
                </a:path>
              </a:pathLst>
            </a:custGeom>
            <a:solidFill>
              <a:srgbClr val="6192F6"/>
            </a:solidFill>
            <a:ln cap="sq">
              <a:noFill/>
              <a:prstDash val="solid"/>
              <a:miter/>
            </a:ln>
          </p:spPr>
        </p:sp>
        <p:sp>
          <p:nvSpPr>
            <p:cNvPr name="TextBox 12" id="12"/>
            <p:cNvSpPr txBox="true"/>
            <p:nvPr/>
          </p:nvSpPr>
          <p:spPr>
            <a:xfrm>
              <a:off x="0" y="76200"/>
              <a:ext cx="1128889" cy="199751"/>
            </a:xfrm>
            <a:prstGeom prst="rect">
              <a:avLst/>
            </a:prstGeom>
          </p:spPr>
          <p:txBody>
            <a:bodyPr anchor="ctr" rtlCol="false" tIns="50800" lIns="50800" bIns="50800" rIns="50800"/>
            <a:lstStyle/>
            <a:p>
              <a:pPr algn="ctr" marL="0" indent="0" lvl="0">
                <a:lnSpc>
                  <a:spcPts val="2184"/>
                </a:lnSpc>
                <a:spcBef>
                  <a:spcPct val="0"/>
                </a:spcBef>
              </a:pPr>
            </a:p>
          </p:txBody>
        </p:sp>
      </p:grpSp>
      <p:grpSp>
        <p:nvGrpSpPr>
          <p:cNvPr name="Group 13" id="13"/>
          <p:cNvGrpSpPr/>
          <p:nvPr/>
        </p:nvGrpSpPr>
        <p:grpSpPr>
          <a:xfrm rot="0">
            <a:off x="11798630" y="4233027"/>
            <a:ext cx="4286250" cy="1047750"/>
            <a:chOff x="0" y="0"/>
            <a:chExt cx="1128889" cy="275951"/>
          </a:xfrm>
        </p:grpSpPr>
        <p:sp>
          <p:nvSpPr>
            <p:cNvPr name="Freeform 14" id="14"/>
            <p:cNvSpPr/>
            <p:nvPr/>
          </p:nvSpPr>
          <p:spPr>
            <a:xfrm flipH="false" flipV="false" rot="0">
              <a:off x="0" y="0"/>
              <a:ext cx="1128889" cy="275951"/>
            </a:xfrm>
            <a:custGeom>
              <a:avLst/>
              <a:gdLst/>
              <a:ahLst/>
              <a:cxnLst/>
              <a:rect r="r" b="b" t="t" l="l"/>
              <a:pathLst>
                <a:path h="275951" w="1128889">
                  <a:moveTo>
                    <a:pt x="25287" y="0"/>
                  </a:moveTo>
                  <a:lnTo>
                    <a:pt x="1103602" y="0"/>
                  </a:lnTo>
                  <a:cubicBezTo>
                    <a:pt x="1110308" y="0"/>
                    <a:pt x="1116740" y="2664"/>
                    <a:pt x="1121482" y="7406"/>
                  </a:cubicBezTo>
                  <a:cubicBezTo>
                    <a:pt x="1126225" y="12149"/>
                    <a:pt x="1128889" y="18581"/>
                    <a:pt x="1128889" y="25287"/>
                  </a:cubicBezTo>
                  <a:lnTo>
                    <a:pt x="1128889" y="250664"/>
                  </a:lnTo>
                  <a:cubicBezTo>
                    <a:pt x="1128889" y="264629"/>
                    <a:pt x="1117567" y="275951"/>
                    <a:pt x="1103602" y="275951"/>
                  </a:cubicBezTo>
                  <a:lnTo>
                    <a:pt x="25287" y="275951"/>
                  </a:lnTo>
                  <a:cubicBezTo>
                    <a:pt x="18581" y="275951"/>
                    <a:pt x="12149" y="273286"/>
                    <a:pt x="7406" y="268544"/>
                  </a:cubicBezTo>
                  <a:cubicBezTo>
                    <a:pt x="2664" y="263802"/>
                    <a:pt x="0" y="257370"/>
                    <a:pt x="0" y="250664"/>
                  </a:cubicBezTo>
                  <a:lnTo>
                    <a:pt x="0" y="25287"/>
                  </a:lnTo>
                  <a:cubicBezTo>
                    <a:pt x="0" y="18581"/>
                    <a:pt x="2664" y="12149"/>
                    <a:pt x="7406" y="7406"/>
                  </a:cubicBezTo>
                  <a:cubicBezTo>
                    <a:pt x="12149" y="2664"/>
                    <a:pt x="18581" y="0"/>
                    <a:pt x="25287" y="0"/>
                  </a:cubicBezTo>
                  <a:close/>
                </a:path>
              </a:pathLst>
            </a:custGeom>
            <a:solidFill>
              <a:srgbClr val="4119FF"/>
            </a:solidFill>
            <a:ln cap="sq">
              <a:noFill/>
              <a:prstDash val="solid"/>
              <a:miter/>
            </a:ln>
          </p:spPr>
        </p:sp>
        <p:sp>
          <p:nvSpPr>
            <p:cNvPr name="TextBox 15" id="15"/>
            <p:cNvSpPr txBox="true"/>
            <p:nvPr/>
          </p:nvSpPr>
          <p:spPr>
            <a:xfrm>
              <a:off x="0" y="76200"/>
              <a:ext cx="1128889" cy="199751"/>
            </a:xfrm>
            <a:prstGeom prst="rect">
              <a:avLst/>
            </a:prstGeom>
          </p:spPr>
          <p:txBody>
            <a:bodyPr anchor="ctr" rtlCol="false" tIns="50800" lIns="50800" bIns="50800" rIns="50800"/>
            <a:lstStyle/>
            <a:p>
              <a:pPr algn="ctr" marL="0" indent="0" lvl="0">
                <a:lnSpc>
                  <a:spcPts val="2184"/>
                </a:lnSpc>
                <a:spcBef>
                  <a:spcPct val="0"/>
                </a:spcBef>
              </a:pPr>
            </a:p>
          </p:txBody>
        </p:sp>
      </p:grpSp>
      <p:grpSp>
        <p:nvGrpSpPr>
          <p:cNvPr name="Group 16" id="16"/>
          <p:cNvGrpSpPr/>
          <p:nvPr/>
        </p:nvGrpSpPr>
        <p:grpSpPr>
          <a:xfrm rot="0">
            <a:off x="6701181" y="5560662"/>
            <a:ext cx="4286250" cy="1047750"/>
            <a:chOff x="0" y="0"/>
            <a:chExt cx="1128889" cy="275951"/>
          </a:xfrm>
        </p:grpSpPr>
        <p:sp>
          <p:nvSpPr>
            <p:cNvPr name="Freeform 17" id="17"/>
            <p:cNvSpPr/>
            <p:nvPr/>
          </p:nvSpPr>
          <p:spPr>
            <a:xfrm flipH="false" flipV="false" rot="0">
              <a:off x="0" y="0"/>
              <a:ext cx="1128889" cy="275951"/>
            </a:xfrm>
            <a:custGeom>
              <a:avLst/>
              <a:gdLst/>
              <a:ahLst/>
              <a:cxnLst/>
              <a:rect r="r" b="b" t="t" l="l"/>
              <a:pathLst>
                <a:path h="275951" w="1128889">
                  <a:moveTo>
                    <a:pt x="25287" y="0"/>
                  </a:moveTo>
                  <a:lnTo>
                    <a:pt x="1103602" y="0"/>
                  </a:lnTo>
                  <a:cubicBezTo>
                    <a:pt x="1110308" y="0"/>
                    <a:pt x="1116740" y="2664"/>
                    <a:pt x="1121482" y="7406"/>
                  </a:cubicBezTo>
                  <a:cubicBezTo>
                    <a:pt x="1126225" y="12149"/>
                    <a:pt x="1128889" y="18581"/>
                    <a:pt x="1128889" y="25287"/>
                  </a:cubicBezTo>
                  <a:lnTo>
                    <a:pt x="1128889" y="250664"/>
                  </a:lnTo>
                  <a:cubicBezTo>
                    <a:pt x="1128889" y="264629"/>
                    <a:pt x="1117567" y="275951"/>
                    <a:pt x="1103602" y="275951"/>
                  </a:cubicBezTo>
                  <a:lnTo>
                    <a:pt x="25287" y="275951"/>
                  </a:lnTo>
                  <a:cubicBezTo>
                    <a:pt x="18581" y="275951"/>
                    <a:pt x="12149" y="273286"/>
                    <a:pt x="7406" y="268544"/>
                  </a:cubicBezTo>
                  <a:cubicBezTo>
                    <a:pt x="2664" y="263802"/>
                    <a:pt x="0" y="257370"/>
                    <a:pt x="0" y="250664"/>
                  </a:cubicBezTo>
                  <a:lnTo>
                    <a:pt x="0" y="25287"/>
                  </a:lnTo>
                  <a:cubicBezTo>
                    <a:pt x="0" y="18581"/>
                    <a:pt x="2664" y="12149"/>
                    <a:pt x="7406" y="7406"/>
                  </a:cubicBezTo>
                  <a:cubicBezTo>
                    <a:pt x="12149" y="2664"/>
                    <a:pt x="18581" y="0"/>
                    <a:pt x="25287" y="0"/>
                  </a:cubicBezTo>
                  <a:close/>
                </a:path>
              </a:pathLst>
            </a:custGeom>
            <a:solidFill>
              <a:srgbClr val="4119FF"/>
            </a:solidFill>
            <a:ln cap="sq">
              <a:noFill/>
              <a:prstDash val="solid"/>
              <a:miter/>
            </a:ln>
          </p:spPr>
        </p:sp>
        <p:sp>
          <p:nvSpPr>
            <p:cNvPr name="TextBox 18" id="18"/>
            <p:cNvSpPr txBox="true"/>
            <p:nvPr/>
          </p:nvSpPr>
          <p:spPr>
            <a:xfrm>
              <a:off x="0" y="76200"/>
              <a:ext cx="1128889" cy="199751"/>
            </a:xfrm>
            <a:prstGeom prst="rect">
              <a:avLst/>
            </a:prstGeom>
          </p:spPr>
          <p:txBody>
            <a:bodyPr anchor="ctr" rtlCol="false" tIns="50800" lIns="50800" bIns="50800" rIns="50800"/>
            <a:lstStyle/>
            <a:p>
              <a:pPr algn="ctr" marL="0" indent="0" lvl="0">
                <a:lnSpc>
                  <a:spcPts val="2184"/>
                </a:lnSpc>
                <a:spcBef>
                  <a:spcPct val="0"/>
                </a:spcBef>
              </a:pPr>
            </a:p>
          </p:txBody>
        </p:sp>
      </p:grpSp>
      <p:grpSp>
        <p:nvGrpSpPr>
          <p:cNvPr name="Group 19" id="19"/>
          <p:cNvGrpSpPr/>
          <p:nvPr/>
        </p:nvGrpSpPr>
        <p:grpSpPr>
          <a:xfrm rot="0">
            <a:off x="11798630" y="5557002"/>
            <a:ext cx="4286250" cy="1047750"/>
            <a:chOff x="0" y="0"/>
            <a:chExt cx="1128889" cy="275951"/>
          </a:xfrm>
        </p:grpSpPr>
        <p:sp>
          <p:nvSpPr>
            <p:cNvPr name="Freeform 20" id="20"/>
            <p:cNvSpPr/>
            <p:nvPr/>
          </p:nvSpPr>
          <p:spPr>
            <a:xfrm flipH="false" flipV="false" rot="0">
              <a:off x="0" y="0"/>
              <a:ext cx="1128889" cy="275951"/>
            </a:xfrm>
            <a:custGeom>
              <a:avLst/>
              <a:gdLst/>
              <a:ahLst/>
              <a:cxnLst/>
              <a:rect r="r" b="b" t="t" l="l"/>
              <a:pathLst>
                <a:path h="275951" w="1128889">
                  <a:moveTo>
                    <a:pt x="25287" y="0"/>
                  </a:moveTo>
                  <a:lnTo>
                    <a:pt x="1103602" y="0"/>
                  </a:lnTo>
                  <a:cubicBezTo>
                    <a:pt x="1110308" y="0"/>
                    <a:pt x="1116740" y="2664"/>
                    <a:pt x="1121482" y="7406"/>
                  </a:cubicBezTo>
                  <a:cubicBezTo>
                    <a:pt x="1126225" y="12149"/>
                    <a:pt x="1128889" y="18581"/>
                    <a:pt x="1128889" y="25287"/>
                  </a:cubicBezTo>
                  <a:lnTo>
                    <a:pt x="1128889" y="250664"/>
                  </a:lnTo>
                  <a:cubicBezTo>
                    <a:pt x="1128889" y="264629"/>
                    <a:pt x="1117567" y="275951"/>
                    <a:pt x="1103602" y="275951"/>
                  </a:cubicBezTo>
                  <a:lnTo>
                    <a:pt x="25287" y="275951"/>
                  </a:lnTo>
                  <a:cubicBezTo>
                    <a:pt x="18581" y="275951"/>
                    <a:pt x="12149" y="273286"/>
                    <a:pt x="7406" y="268544"/>
                  </a:cubicBezTo>
                  <a:cubicBezTo>
                    <a:pt x="2664" y="263802"/>
                    <a:pt x="0" y="257370"/>
                    <a:pt x="0" y="250664"/>
                  </a:cubicBezTo>
                  <a:lnTo>
                    <a:pt x="0" y="25287"/>
                  </a:lnTo>
                  <a:cubicBezTo>
                    <a:pt x="0" y="18581"/>
                    <a:pt x="2664" y="12149"/>
                    <a:pt x="7406" y="7406"/>
                  </a:cubicBezTo>
                  <a:cubicBezTo>
                    <a:pt x="12149" y="2664"/>
                    <a:pt x="18581" y="0"/>
                    <a:pt x="25287" y="0"/>
                  </a:cubicBezTo>
                  <a:close/>
                </a:path>
              </a:pathLst>
            </a:custGeom>
            <a:solidFill>
              <a:srgbClr val="6192F6"/>
            </a:solidFill>
            <a:ln cap="sq">
              <a:noFill/>
              <a:prstDash val="solid"/>
              <a:miter/>
            </a:ln>
          </p:spPr>
        </p:sp>
        <p:sp>
          <p:nvSpPr>
            <p:cNvPr name="TextBox 21" id="21"/>
            <p:cNvSpPr txBox="true"/>
            <p:nvPr/>
          </p:nvSpPr>
          <p:spPr>
            <a:xfrm>
              <a:off x="0" y="76200"/>
              <a:ext cx="1128889" cy="199751"/>
            </a:xfrm>
            <a:prstGeom prst="rect">
              <a:avLst/>
            </a:prstGeom>
          </p:spPr>
          <p:txBody>
            <a:bodyPr anchor="ctr" rtlCol="false" tIns="50800" lIns="50800" bIns="50800" rIns="50800"/>
            <a:lstStyle/>
            <a:p>
              <a:pPr algn="ctr" marL="0" indent="0" lvl="0">
                <a:lnSpc>
                  <a:spcPts val="2184"/>
                </a:lnSpc>
                <a:spcBef>
                  <a:spcPct val="0"/>
                </a:spcBef>
              </a:pPr>
            </a:p>
          </p:txBody>
        </p:sp>
      </p:grpSp>
      <p:grpSp>
        <p:nvGrpSpPr>
          <p:cNvPr name="Group 22" id="22"/>
          <p:cNvGrpSpPr/>
          <p:nvPr/>
        </p:nvGrpSpPr>
        <p:grpSpPr>
          <a:xfrm rot="0">
            <a:off x="6701181" y="6884637"/>
            <a:ext cx="4286250" cy="1047750"/>
            <a:chOff x="0" y="0"/>
            <a:chExt cx="1128889" cy="275951"/>
          </a:xfrm>
        </p:grpSpPr>
        <p:sp>
          <p:nvSpPr>
            <p:cNvPr name="Freeform 23" id="23"/>
            <p:cNvSpPr/>
            <p:nvPr/>
          </p:nvSpPr>
          <p:spPr>
            <a:xfrm flipH="false" flipV="false" rot="0">
              <a:off x="0" y="0"/>
              <a:ext cx="1128889" cy="275951"/>
            </a:xfrm>
            <a:custGeom>
              <a:avLst/>
              <a:gdLst/>
              <a:ahLst/>
              <a:cxnLst/>
              <a:rect r="r" b="b" t="t" l="l"/>
              <a:pathLst>
                <a:path h="275951" w="1128889">
                  <a:moveTo>
                    <a:pt x="25287" y="0"/>
                  </a:moveTo>
                  <a:lnTo>
                    <a:pt x="1103602" y="0"/>
                  </a:lnTo>
                  <a:cubicBezTo>
                    <a:pt x="1110308" y="0"/>
                    <a:pt x="1116740" y="2664"/>
                    <a:pt x="1121482" y="7406"/>
                  </a:cubicBezTo>
                  <a:cubicBezTo>
                    <a:pt x="1126225" y="12149"/>
                    <a:pt x="1128889" y="18581"/>
                    <a:pt x="1128889" y="25287"/>
                  </a:cubicBezTo>
                  <a:lnTo>
                    <a:pt x="1128889" y="250664"/>
                  </a:lnTo>
                  <a:cubicBezTo>
                    <a:pt x="1128889" y="264629"/>
                    <a:pt x="1117567" y="275951"/>
                    <a:pt x="1103602" y="275951"/>
                  </a:cubicBezTo>
                  <a:lnTo>
                    <a:pt x="25287" y="275951"/>
                  </a:lnTo>
                  <a:cubicBezTo>
                    <a:pt x="18581" y="275951"/>
                    <a:pt x="12149" y="273286"/>
                    <a:pt x="7406" y="268544"/>
                  </a:cubicBezTo>
                  <a:cubicBezTo>
                    <a:pt x="2664" y="263802"/>
                    <a:pt x="0" y="257370"/>
                    <a:pt x="0" y="250664"/>
                  </a:cubicBezTo>
                  <a:lnTo>
                    <a:pt x="0" y="25287"/>
                  </a:lnTo>
                  <a:cubicBezTo>
                    <a:pt x="0" y="18581"/>
                    <a:pt x="2664" y="12149"/>
                    <a:pt x="7406" y="7406"/>
                  </a:cubicBezTo>
                  <a:cubicBezTo>
                    <a:pt x="12149" y="2664"/>
                    <a:pt x="18581" y="0"/>
                    <a:pt x="25287" y="0"/>
                  </a:cubicBezTo>
                  <a:close/>
                </a:path>
              </a:pathLst>
            </a:custGeom>
            <a:solidFill>
              <a:srgbClr val="4119FF"/>
            </a:solidFill>
            <a:ln cap="sq">
              <a:noFill/>
              <a:prstDash val="solid"/>
              <a:miter/>
            </a:ln>
          </p:spPr>
        </p:sp>
        <p:sp>
          <p:nvSpPr>
            <p:cNvPr name="TextBox 24" id="24"/>
            <p:cNvSpPr txBox="true"/>
            <p:nvPr/>
          </p:nvSpPr>
          <p:spPr>
            <a:xfrm>
              <a:off x="0" y="76200"/>
              <a:ext cx="1128889" cy="199751"/>
            </a:xfrm>
            <a:prstGeom prst="rect">
              <a:avLst/>
            </a:prstGeom>
          </p:spPr>
          <p:txBody>
            <a:bodyPr anchor="ctr" rtlCol="false" tIns="50800" lIns="50800" bIns="50800" rIns="50800"/>
            <a:lstStyle/>
            <a:p>
              <a:pPr algn="ctr" marL="0" indent="0" lvl="0">
                <a:lnSpc>
                  <a:spcPts val="2184"/>
                </a:lnSpc>
                <a:spcBef>
                  <a:spcPct val="0"/>
                </a:spcBef>
              </a:pPr>
            </a:p>
          </p:txBody>
        </p:sp>
      </p:grpSp>
      <p:sp>
        <p:nvSpPr>
          <p:cNvPr name="TextBox 25" id="25"/>
          <p:cNvSpPr txBox="true"/>
          <p:nvPr/>
        </p:nvSpPr>
        <p:spPr>
          <a:xfrm rot="0">
            <a:off x="7075271" y="4622600"/>
            <a:ext cx="3538070" cy="344805"/>
          </a:xfrm>
          <a:prstGeom prst="rect">
            <a:avLst/>
          </a:prstGeom>
        </p:spPr>
        <p:txBody>
          <a:bodyPr anchor="t" rtlCol="false" tIns="0" lIns="0" bIns="0" rIns="0">
            <a:spAutoFit/>
          </a:bodyPr>
          <a:lstStyle/>
          <a:p>
            <a:pPr algn="just">
              <a:lnSpc>
                <a:spcPts val="2519"/>
              </a:lnSpc>
            </a:pPr>
            <a:r>
              <a:rPr lang="en-US" b="true" sz="2799" u="sng">
                <a:solidFill>
                  <a:srgbClr val="FFFFFF"/>
                </a:solidFill>
                <a:latin typeface="Red Hat Display Bold"/>
                <a:ea typeface="Red Hat Display Bold"/>
                <a:cs typeface="Red Hat Display Bold"/>
                <a:sym typeface="Red Hat Display Bold"/>
              </a:rPr>
              <a:t>3.Excel</a:t>
            </a:r>
          </a:p>
        </p:txBody>
      </p:sp>
      <p:sp>
        <p:nvSpPr>
          <p:cNvPr name="TextBox 26" id="26"/>
          <p:cNvSpPr txBox="true"/>
          <p:nvPr/>
        </p:nvSpPr>
        <p:spPr>
          <a:xfrm rot="0">
            <a:off x="12344962" y="4620762"/>
            <a:ext cx="3538070" cy="344805"/>
          </a:xfrm>
          <a:prstGeom prst="rect">
            <a:avLst/>
          </a:prstGeom>
        </p:spPr>
        <p:txBody>
          <a:bodyPr anchor="t" rtlCol="false" tIns="0" lIns="0" bIns="0" rIns="0">
            <a:spAutoFit/>
          </a:bodyPr>
          <a:lstStyle/>
          <a:p>
            <a:pPr algn="just">
              <a:lnSpc>
                <a:spcPts val="2519"/>
              </a:lnSpc>
            </a:pPr>
            <a:r>
              <a:rPr lang="en-US" b="true" sz="2799" u="sng">
                <a:solidFill>
                  <a:srgbClr val="FFFFFF"/>
                </a:solidFill>
                <a:latin typeface="Red Hat Display Bold"/>
                <a:ea typeface="Red Hat Display Bold"/>
                <a:cs typeface="Red Hat Display Bold"/>
                <a:sym typeface="Red Hat Display Bold"/>
              </a:rPr>
              <a:t>4.SQLl</a:t>
            </a:r>
          </a:p>
        </p:txBody>
      </p:sp>
      <p:sp>
        <p:nvSpPr>
          <p:cNvPr name="TextBox 27" id="27"/>
          <p:cNvSpPr txBox="true"/>
          <p:nvPr/>
        </p:nvSpPr>
        <p:spPr>
          <a:xfrm rot="0">
            <a:off x="7075271" y="5950235"/>
            <a:ext cx="3538070" cy="344805"/>
          </a:xfrm>
          <a:prstGeom prst="rect">
            <a:avLst/>
          </a:prstGeom>
        </p:spPr>
        <p:txBody>
          <a:bodyPr anchor="t" rtlCol="false" tIns="0" lIns="0" bIns="0" rIns="0">
            <a:spAutoFit/>
          </a:bodyPr>
          <a:lstStyle/>
          <a:p>
            <a:pPr algn="l">
              <a:lnSpc>
                <a:spcPts val="2519"/>
              </a:lnSpc>
            </a:pPr>
            <a:r>
              <a:rPr lang="en-US" b="true" sz="2799" u="sng">
                <a:solidFill>
                  <a:srgbClr val="FFFFFF"/>
                </a:solidFill>
                <a:latin typeface="Red Hat Display Bold"/>
                <a:ea typeface="Red Hat Display Bold"/>
                <a:cs typeface="Red Hat Display Bold"/>
                <a:sym typeface="Red Hat Display Bold"/>
              </a:rPr>
              <a:t>5.Python</a:t>
            </a:r>
          </a:p>
        </p:txBody>
      </p:sp>
      <p:grpSp>
        <p:nvGrpSpPr>
          <p:cNvPr name="Group 28" id="28"/>
          <p:cNvGrpSpPr/>
          <p:nvPr/>
        </p:nvGrpSpPr>
        <p:grpSpPr>
          <a:xfrm rot="0">
            <a:off x="0" y="-25475"/>
            <a:ext cx="18288000" cy="2166846"/>
            <a:chOff x="0" y="0"/>
            <a:chExt cx="24384000" cy="2889128"/>
          </a:xfrm>
        </p:grpSpPr>
        <p:sp>
          <p:nvSpPr>
            <p:cNvPr name="Freeform 29" id="29"/>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2"/>
              <a:stretch>
                <a:fillRect l="0" t="0" r="0" b="0"/>
              </a:stretch>
            </a:blipFill>
          </p:spPr>
        </p:sp>
        <p:sp>
          <p:nvSpPr>
            <p:cNvPr name="Freeform 30" id="30"/>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3"/>
              <a:stretch>
                <a:fillRect l="0" t="0" r="0" b="0"/>
              </a:stretch>
            </a:blipFill>
          </p:spPr>
        </p:sp>
        <p:sp>
          <p:nvSpPr>
            <p:cNvPr name="Freeform 31" id="31"/>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4"/>
              <a:stretch>
                <a:fillRect l="-12904" t="-12015" r="-11867" b="-12757"/>
              </a:stretch>
            </a:blipFill>
          </p:spPr>
        </p:sp>
      </p:grpSp>
      <p:sp>
        <p:nvSpPr>
          <p:cNvPr name="TextBox 32" id="32"/>
          <p:cNvSpPr txBox="true"/>
          <p:nvPr/>
        </p:nvSpPr>
        <p:spPr>
          <a:xfrm rot="0">
            <a:off x="12172720" y="5950250"/>
            <a:ext cx="3538070" cy="344805"/>
          </a:xfrm>
          <a:prstGeom prst="rect">
            <a:avLst/>
          </a:prstGeom>
        </p:spPr>
        <p:txBody>
          <a:bodyPr anchor="t" rtlCol="false" tIns="0" lIns="0" bIns="0" rIns="0">
            <a:spAutoFit/>
          </a:bodyPr>
          <a:lstStyle/>
          <a:p>
            <a:pPr algn="l">
              <a:lnSpc>
                <a:spcPts val="2519"/>
              </a:lnSpc>
            </a:pPr>
            <a:r>
              <a:rPr lang="en-US" b="true" sz="2799" u="sng">
                <a:solidFill>
                  <a:srgbClr val="FFFFFF"/>
                </a:solidFill>
                <a:latin typeface="Red Hat Display Bold"/>
                <a:ea typeface="Red Hat Display Bold"/>
                <a:cs typeface="Red Hat Display Bold"/>
                <a:sym typeface="Red Hat Display Bold"/>
              </a:rPr>
              <a:t>6.Tableau</a:t>
            </a:r>
          </a:p>
        </p:txBody>
      </p:sp>
      <p:sp>
        <p:nvSpPr>
          <p:cNvPr name="TextBox 33" id="33"/>
          <p:cNvSpPr txBox="true"/>
          <p:nvPr/>
        </p:nvSpPr>
        <p:spPr>
          <a:xfrm rot="0">
            <a:off x="7075271" y="7274210"/>
            <a:ext cx="3538070" cy="344805"/>
          </a:xfrm>
          <a:prstGeom prst="rect">
            <a:avLst/>
          </a:prstGeom>
        </p:spPr>
        <p:txBody>
          <a:bodyPr anchor="t" rtlCol="false" tIns="0" lIns="0" bIns="0" rIns="0">
            <a:spAutoFit/>
          </a:bodyPr>
          <a:lstStyle/>
          <a:p>
            <a:pPr algn="l">
              <a:lnSpc>
                <a:spcPts val="2519"/>
              </a:lnSpc>
            </a:pPr>
            <a:r>
              <a:rPr lang="en-US" b="true" sz="2799" u="sng">
                <a:solidFill>
                  <a:srgbClr val="FFFFFF"/>
                </a:solidFill>
                <a:latin typeface="Red Hat Display Bold"/>
                <a:ea typeface="Red Hat Display Bold"/>
                <a:cs typeface="Red Hat Display Bold"/>
                <a:sym typeface="Red Hat Display Bold"/>
              </a:rPr>
              <a:t>7.Power BI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166801" y="5675865"/>
            <a:ext cx="2090865" cy="923782"/>
          </a:xfrm>
          <a:custGeom>
            <a:avLst/>
            <a:gdLst/>
            <a:ahLst/>
            <a:cxnLst/>
            <a:rect r="r" b="b" t="t" l="l"/>
            <a:pathLst>
              <a:path h="923782" w="2090865">
                <a:moveTo>
                  <a:pt x="0" y="0"/>
                </a:moveTo>
                <a:lnTo>
                  <a:pt x="2090865" y="0"/>
                </a:lnTo>
                <a:lnTo>
                  <a:pt x="2090865" y="923782"/>
                </a:lnTo>
                <a:lnTo>
                  <a:pt x="0" y="923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0738" y="3338768"/>
            <a:ext cx="1162257" cy="1162257"/>
          </a:xfrm>
          <a:custGeom>
            <a:avLst/>
            <a:gdLst/>
            <a:ahLst/>
            <a:cxnLst/>
            <a:rect r="r" b="b" t="t" l="l"/>
            <a:pathLst>
              <a:path h="1162257" w="1162257">
                <a:moveTo>
                  <a:pt x="0" y="0"/>
                </a:moveTo>
                <a:lnTo>
                  <a:pt x="1162257" y="0"/>
                </a:lnTo>
                <a:lnTo>
                  <a:pt x="1162257" y="1162256"/>
                </a:lnTo>
                <a:lnTo>
                  <a:pt x="0" y="1162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24220" y="4009005"/>
            <a:ext cx="10733446"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Introduction</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6"/>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7"/>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8"/>
              <a:stretch>
                <a:fillRect l="-12904" t="-12015" r="-11867" b="-12757"/>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5105894" y="8087508"/>
            <a:ext cx="2096803" cy="1163726"/>
          </a:xfrm>
          <a:custGeom>
            <a:avLst/>
            <a:gdLst/>
            <a:ahLst/>
            <a:cxnLst/>
            <a:rect r="r" b="b" t="t" l="l"/>
            <a:pathLst>
              <a:path h="1163726" w="2096803">
                <a:moveTo>
                  <a:pt x="0" y="0"/>
                </a:moveTo>
                <a:lnTo>
                  <a:pt x="2096803" y="0"/>
                </a:lnTo>
                <a:lnTo>
                  <a:pt x="2096803" y="1163726"/>
                </a:lnTo>
                <a:lnTo>
                  <a:pt x="0" y="1163726"/>
                </a:lnTo>
                <a:lnTo>
                  <a:pt x="0" y="0"/>
                </a:lnTo>
                <a:close/>
              </a:path>
            </a:pathLst>
          </a:custGeom>
          <a:blipFill>
            <a:blip r:embed="rId2"/>
            <a:stretch>
              <a:fillRect l="0" t="0" r="0" b="0"/>
            </a:stretch>
          </a:blipFill>
        </p:spPr>
      </p:sp>
      <p:sp>
        <p:nvSpPr>
          <p:cNvPr name="TextBox 3" id="3"/>
          <p:cNvSpPr txBox="true"/>
          <p:nvPr/>
        </p:nvSpPr>
        <p:spPr>
          <a:xfrm rot="0">
            <a:off x="3740621" y="2148387"/>
            <a:ext cx="5912321" cy="1786117"/>
          </a:xfrm>
          <a:prstGeom prst="rect">
            <a:avLst/>
          </a:prstGeom>
        </p:spPr>
        <p:txBody>
          <a:bodyPr anchor="t" rtlCol="false" tIns="0" lIns="0" bIns="0" rIns="0">
            <a:spAutoFit/>
          </a:bodyPr>
          <a:lstStyle/>
          <a:p>
            <a:pPr algn="l" marL="0" indent="0" lvl="0">
              <a:lnSpc>
                <a:spcPts val="6855"/>
              </a:lnSpc>
            </a:pPr>
            <a:r>
              <a:rPr lang="en-US" sz="6995">
                <a:solidFill>
                  <a:srgbClr val="FFFFFF"/>
                </a:solidFill>
                <a:latin typeface="Tex Gyre Termes"/>
                <a:ea typeface="Tex Gyre Termes"/>
                <a:cs typeface="Tex Gyre Termes"/>
                <a:sym typeface="Tex Gyre Termes"/>
              </a:rPr>
              <a:t>Project Overview</a:t>
            </a:r>
          </a:p>
        </p:txBody>
      </p:sp>
      <p:sp>
        <p:nvSpPr>
          <p:cNvPr name="TextBox 4" id="4"/>
          <p:cNvSpPr txBox="true"/>
          <p:nvPr/>
        </p:nvSpPr>
        <p:spPr>
          <a:xfrm rot="0">
            <a:off x="3740621" y="4184221"/>
            <a:ext cx="11067458" cy="2820125"/>
          </a:xfrm>
          <a:prstGeom prst="rect">
            <a:avLst/>
          </a:prstGeom>
        </p:spPr>
        <p:txBody>
          <a:bodyPr anchor="t" rtlCol="false" tIns="0" lIns="0" bIns="0" rIns="0">
            <a:spAutoFit/>
          </a:bodyPr>
          <a:lstStyle/>
          <a:p>
            <a:pPr algn="just" marL="0" indent="0" lvl="0">
              <a:lnSpc>
                <a:spcPts val="3269"/>
              </a:lnSpc>
              <a:spcBef>
                <a:spcPct val="0"/>
              </a:spcBef>
            </a:pPr>
            <a:r>
              <a:rPr lang="en-US" sz="2335">
                <a:solidFill>
                  <a:srgbClr val="FFFFFF"/>
                </a:solidFill>
                <a:latin typeface="Poppins"/>
                <a:ea typeface="Poppins"/>
                <a:cs typeface="Poppins"/>
                <a:sym typeface="Poppins"/>
              </a:rPr>
              <a:t>This study explores how gaming habits influence key mental health indicators among players. By analyzing behavioral and psychological data, we aim to uncover patterns that connect screen time, sleep, productivity, and social well-being.</a:t>
            </a:r>
          </a:p>
          <a:p>
            <a:pPr algn="just" marL="0" indent="0" lvl="0">
              <a:lnSpc>
                <a:spcPts val="3269"/>
              </a:lnSpc>
              <a:spcBef>
                <a:spcPct val="0"/>
              </a:spcBef>
            </a:pPr>
            <a:r>
              <a:rPr lang="en-US" sz="2335">
                <a:solidFill>
                  <a:srgbClr val="FFFFFF"/>
                </a:solidFill>
                <a:latin typeface="Poppins"/>
                <a:ea typeface="Poppins"/>
                <a:cs typeface="Poppins"/>
                <a:sym typeface="Poppins"/>
              </a:rPr>
              <a:t>● Identify correlations between gaming hours and mental health scores</a:t>
            </a:r>
          </a:p>
          <a:p>
            <a:pPr algn="just" marL="0" indent="0" lvl="0">
              <a:lnSpc>
                <a:spcPts val="3269"/>
              </a:lnSpc>
              <a:spcBef>
                <a:spcPct val="0"/>
              </a:spcBef>
            </a:pPr>
            <a:r>
              <a:rPr lang="en-US" sz="2335">
                <a:solidFill>
                  <a:srgbClr val="FFFFFF"/>
                </a:solidFill>
                <a:latin typeface="Poppins"/>
                <a:ea typeface="Poppins"/>
                <a:cs typeface="Poppins"/>
                <a:sym typeface="Poppins"/>
              </a:rPr>
              <a:t>● Categorize behavior patterns by addiction level and mood state</a:t>
            </a:r>
          </a:p>
          <a:p>
            <a:pPr algn="just" marL="0" indent="0" lvl="0">
              <a:lnSpc>
                <a:spcPts val="3269"/>
              </a:lnSpc>
              <a:spcBef>
                <a:spcPct val="0"/>
              </a:spcBef>
            </a:pPr>
            <a:r>
              <a:rPr lang="en-US" sz="2335">
                <a:solidFill>
                  <a:srgbClr val="FFFFFF"/>
                </a:solidFill>
                <a:latin typeface="Poppins"/>
                <a:ea typeface="Poppins"/>
                <a:cs typeface="Poppins"/>
                <a:sym typeface="Poppins"/>
              </a:rPr>
              <a:t>● Inform data-driven recommendations for healthier gaming habits</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5105894" y="8087508"/>
            <a:ext cx="2096803" cy="1163726"/>
          </a:xfrm>
          <a:custGeom>
            <a:avLst/>
            <a:gdLst/>
            <a:ahLst/>
            <a:cxnLst/>
            <a:rect r="r" b="b" t="t" l="l"/>
            <a:pathLst>
              <a:path h="1163726" w="2096803">
                <a:moveTo>
                  <a:pt x="0" y="0"/>
                </a:moveTo>
                <a:lnTo>
                  <a:pt x="2096803" y="0"/>
                </a:lnTo>
                <a:lnTo>
                  <a:pt x="2096803" y="1163726"/>
                </a:lnTo>
                <a:lnTo>
                  <a:pt x="0" y="1163726"/>
                </a:lnTo>
                <a:lnTo>
                  <a:pt x="0" y="0"/>
                </a:lnTo>
                <a:close/>
              </a:path>
            </a:pathLst>
          </a:custGeom>
          <a:blipFill>
            <a:blip r:embed="rId2"/>
            <a:stretch>
              <a:fillRect l="0" t="0" r="0" b="0"/>
            </a:stretch>
          </a:blipFill>
        </p:spPr>
      </p:sp>
      <p:sp>
        <p:nvSpPr>
          <p:cNvPr name="TextBox 3" id="3"/>
          <p:cNvSpPr txBox="true"/>
          <p:nvPr/>
        </p:nvSpPr>
        <p:spPr>
          <a:xfrm rot="0">
            <a:off x="5653172" y="2251212"/>
            <a:ext cx="5912321" cy="1786117"/>
          </a:xfrm>
          <a:prstGeom prst="rect">
            <a:avLst/>
          </a:prstGeom>
        </p:spPr>
        <p:txBody>
          <a:bodyPr anchor="t" rtlCol="false" tIns="0" lIns="0" bIns="0" rIns="0">
            <a:spAutoFit/>
          </a:bodyPr>
          <a:lstStyle/>
          <a:p>
            <a:pPr algn="l" marL="0" indent="0" lvl="0">
              <a:lnSpc>
                <a:spcPts val="6855"/>
              </a:lnSpc>
            </a:pPr>
            <a:r>
              <a:rPr lang="en-US" sz="6995">
                <a:solidFill>
                  <a:srgbClr val="FFFFFF"/>
                </a:solidFill>
                <a:latin typeface="Tex Gyre Termes"/>
                <a:ea typeface="Tex Gyre Termes"/>
                <a:cs typeface="Tex Gyre Termes"/>
                <a:sym typeface="Tex Gyre Termes"/>
              </a:rPr>
              <a:t>Project Motivation</a:t>
            </a:r>
          </a:p>
        </p:txBody>
      </p:sp>
      <p:sp>
        <p:nvSpPr>
          <p:cNvPr name="TextBox 4" id="4"/>
          <p:cNvSpPr txBox="true"/>
          <p:nvPr/>
        </p:nvSpPr>
        <p:spPr>
          <a:xfrm rot="0">
            <a:off x="5281727" y="4199620"/>
            <a:ext cx="9824167" cy="3658923"/>
          </a:xfrm>
          <a:prstGeom prst="rect">
            <a:avLst/>
          </a:prstGeom>
        </p:spPr>
        <p:txBody>
          <a:bodyPr anchor="t" rtlCol="false" tIns="0" lIns="0" bIns="0" rIns="0">
            <a:spAutoFit/>
          </a:bodyPr>
          <a:lstStyle/>
          <a:p>
            <a:pPr algn="just" marL="0" indent="0" lvl="0">
              <a:lnSpc>
                <a:spcPts val="3602"/>
              </a:lnSpc>
              <a:spcBef>
                <a:spcPct val="0"/>
              </a:spcBef>
            </a:pPr>
            <a:r>
              <a:rPr lang="en-US" sz="2572">
                <a:solidFill>
                  <a:srgbClr val="FFFFFF"/>
                </a:solidFill>
                <a:latin typeface="Poppins"/>
                <a:ea typeface="Poppins"/>
                <a:cs typeface="Poppins"/>
                <a:sym typeface="Poppins"/>
              </a:rPr>
              <a:t>W</a:t>
            </a:r>
            <a:r>
              <a:rPr lang="en-US" sz="2572">
                <a:solidFill>
                  <a:srgbClr val="FFFFFF"/>
                </a:solidFill>
                <a:latin typeface="Poppins"/>
                <a:ea typeface="Poppins"/>
                <a:cs typeface="Poppins"/>
                <a:sym typeface="Poppins"/>
              </a:rPr>
              <a:t>hy did we choose this project?</a:t>
            </a:r>
          </a:p>
          <a:p>
            <a:pPr algn="just" marL="555493" indent="-277747" lvl="1">
              <a:lnSpc>
                <a:spcPts val="3602"/>
              </a:lnSpc>
              <a:spcBef>
                <a:spcPct val="0"/>
              </a:spcBef>
              <a:buFont typeface="Arial"/>
              <a:buChar char="•"/>
            </a:pPr>
            <a:r>
              <a:rPr lang="en-US" sz="2572">
                <a:solidFill>
                  <a:srgbClr val="FFFFFF"/>
                </a:solidFill>
                <a:latin typeface="Poppins"/>
                <a:ea typeface="Poppins"/>
                <a:cs typeface="Poppins"/>
                <a:sym typeface="Poppins"/>
              </a:rPr>
              <a:t>Gaming is growing rapidly worldwide.</a:t>
            </a:r>
          </a:p>
          <a:p>
            <a:pPr algn="just" marL="555493" indent="-277747" lvl="1">
              <a:lnSpc>
                <a:spcPts val="3602"/>
              </a:lnSpc>
              <a:spcBef>
                <a:spcPct val="0"/>
              </a:spcBef>
              <a:buFont typeface="Arial"/>
              <a:buChar char="•"/>
            </a:pPr>
            <a:r>
              <a:rPr lang="en-US" sz="2572">
                <a:solidFill>
                  <a:srgbClr val="FFFFFF"/>
                </a:solidFill>
                <a:latin typeface="Poppins"/>
                <a:ea typeface="Poppins"/>
                <a:cs typeface="Poppins"/>
                <a:sym typeface="Poppins"/>
              </a:rPr>
              <a:t>Mental health has become an important topic.</a:t>
            </a:r>
          </a:p>
          <a:p>
            <a:pPr algn="just" marL="555493" indent="-277747" lvl="1">
              <a:lnSpc>
                <a:spcPts val="3602"/>
              </a:lnSpc>
              <a:spcBef>
                <a:spcPct val="0"/>
              </a:spcBef>
              <a:buFont typeface="Arial"/>
              <a:buChar char="•"/>
            </a:pPr>
            <a:r>
              <a:rPr lang="en-US" sz="2572">
                <a:solidFill>
                  <a:srgbClr val="FFFFFF"/>
                </a:solidFill>
                <a:latin typeface="Poppins"/>
                <a:ea typeface="Poppins"/>
                <a:cs typeface="Poppins"/>
                <a:sym typeface="Poppins"/>
              </a:rPr>
              <a:t>Understand how gaming behavior affects well-being.</a:t>
            </a:r>
          </a:p>
          <a:p>
            <a:pPr algn="just" marL="555493" indent="-277747" lvl="1">
              <a:lnSpc>
                <a:spcPts val="3602"/>
              </a:lnSpc>
              <a:spcBef>
                <a:spcPct val="0"/>
              </a:spcBef>
              <a:buFont typeface="Arial"/>
              <a:buChar char="•"/>
            </a:pPr>
            <a:r>
              <a:rPr lang="en-US" sz="2572">
                <a:solidFill>
                  <a:srgbClr val="FFFFFF"/>
                </a:solidFill>
                <a:latin typeface="Poppins"/>
                <a:ea typeface="Poppins"/>
                <a:cs typeface="Poppins"/>
                <a:sym typeface="Poppins"/>
              </a:rPr>
              <a:t>Apply data analysis techniques to solve a real-world problem.</a:t>
            </a:r>
          </a:p>
          <a:p>
            <a:pPr algn="just" marL="555493" indent="-277747" lvl="1">
              <a:lnSpc>
                <a:spcPts val="3602"/>
              </a:lnSpc>
              <a:spcBef>
                <a:spcPct val="0"/>
              </a:spcBef>
              <a:buFont typeface="Arial"/>
              <a:buChar char="•"/>
            </a:pPr>
            <a:r>
              <a:rPr lang="en-US" sz="2572">
                <a:solidFill>
                  <a:srgbClr val="FFFFFF"/>
                </a:solidFill>
                <a:latin typeface="Poppins"/>
                <a:ea typeface="Poppins"/>
                <a:cs typeface="Poppins"/>
                <a:sym typeface="Poppins"/>
              </a:rPr>
              <a:t>Build dashboards that provide meaningful insights.</a:t>
            </a:r>
          </a:p>
          <a:p>
            <a:pPr algn="just" marL="0" indent="0" lvl="0">
              <a:lnSpc>
                <a:spcPts val="3602"/>
              </a:lnSpc>
              <a:spcBef>
                <a:spcPct val="0"/>
              </a:spcBef>
            </a:pP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5105894" y="8087508"/>
            <a:ext cx="2096803" cy="1163726"/>
          </a:xfrm>
          <a:custGeom>
            <a:avLst/>
            <a:gdLst/>
            <a:ahLst/>
            <a:cxnLst/>
            <a:rect r="r" b="b" t="t" l="l"/>
            <a:pathLst>
              <a:path h="1163726" w="2096803">
                <a:moveTo>
                  <a:pt x="0" y="0"/>
                </a:moveTo>
                <a:lnTo>
                  <a:pt x="2096803" y="0"/>
                </a:lnTo>
                <a:lnTo>
                  <a:pt x="2096803" y="1163726"/>
                </a:lnTo>
                <a:lnTo>
                  <a:pt x="0" y="1163726"/>
                </a:lnTo>
                <a:lnTo>
                  <a:pt x="0" y="0"/>
                </a:lnTo>
                <a:close/>
              </a:path>
            </a:pathLst>
          </a:custGeom>
          <a:blipFill>
            <a:blip r:embed="rId2"/>
            <a:stretch>
              <a:fillRect l="0" t="0" r="0" b="0"/>
            </a:stretch>
          </a:blipFill>
        </p:spPr>
      </p:sp>
      <p:sp>
        <p:nvSpPr>
          <p:cNvPr name="TextBox 3" id="3"/>
          <p:cNvSpPr txBox="true"/>
          <p:nvPr/>
        </p:nvSpPr>
        <p:spPr>
          <a:xfrm rot="0">
            <a:off x="4760272" y="1898200"/>
            <a:ext cx="4383728" cy="1906297"/>
          </a:xfrm>
          <a:prstGeom prst="rect">
            <a:avLst/>
          </a:prstGeom>
        </p:spPr>
        <p:txBody>
          <a:bodyPr anchor="t" rtlCol="false" tIns="0" lIns="0" bIns="0" rIns="0">
            <a:spAutoFit/>
          </a:bodyPr>
          <a:lstStyle/>
          <a:p>
            <a:pPr algn="l">
              <a:lnSpc>
                <a:spcPts val="7378"/>
              </a:lnSpc>
            </a:pPr>
            <a:r>
              <a:rPr lang="en-US" sz="7095" spc="-475">
                <a:solidFill>
                  <a:srgbClr val="FFFFFF"/>
                </a:solidFill>
                <a:latin typeface="Tex Gyre Termes"/>
                <a:ea typeface="Tex Gyre Termes"/>
                <a:cs typeface="Tex Gyre Termes"/>
                <a:sym typeface="Tex Gyre Termes"/>
              </a:rPr>
              <a:t>Data Quality Challenges</a:t>
            </a:r>
          </a:p>
        </p:txBody>
      </p:sp>
      <p:sp>
        <p:nvSpPr>
          <p:cNvPr name="TextBox 4" id="4"/>
          <p:cNvSpPr txBox="true"/>
          <p:nvPr/>
        </p:nvSpPr>
        <p:spPr>
          <a:xfrm rot="0">
            <a:off x="4519832" y="4087481"/>
            <a:ext cx="8315215" cy="5816000"/>
          </a:xfrm>
          <a:prstGeom prst="rect">
            <a:avLst/>
          </a:prstGeom>
        </p:spPr>
        <p:txBody>
          <a:bodyPr anchor="t" rtlCol="false" tIns="0" lIns="0" bIns="0" rIns="0">
            <a:spAutoFit/>
          </a:bodyPr>
          <a:lstStyle/>
          <a:p>
            <a:pPr algn="just" marL="470172" indent="-235086" lvl="1">
              <a:lnSpc>
                <a:spcPts val="3048"/>
              </a:lnSpc>
              <a:spcBef>
                <a:spcPct val="0"/>
              </a:spcBef>
              <a:buFont typeface="Arial"/>
              <a:buChar char="•"/>
            </a:pPr>
            <a:r>
              <a:rPr lang="en-US" sz="2177">
                <a:solidFill>
                  <a:srgbClr val="FFFFFF"/>
                </a:solidFill>
                <a:latin typeface="Poppins"/>
                <a:ea typeface="Poppins"/>
                <a:cs typeface="Poppins"/>
                <a:sym typeface="Poppins"/>
              </a:rPr>
              <a:t>Missing</a:t>
            </a:r>
            <a:r>
              <a:rPr lang="en-US" sz="2177">
                <a:solidFill>
                  <a:srgbClr val="FFFFFF"/>
                </a:solidFill>
                <a:latin typeface="Poppins"/>
                <a:ea typeface="Poppins"/>
                <a:cs typeface="Poppins"/>
                <a:sym typeface="Poppins"/>
              </a:rPr>
              <a:t> Values in two key columns:grades_gpa: 246 missing (24.6%)</a:t>
            </a:r>
          </a:p>
          <a:p>
            <a:pPr algn="just" marL="470172" indent="-235086" lvl="1">
              <a:lnSpc>
                <a:spcPts val="3048"/>
              </a:lnSpc>
              <a:spcBef>
                <a:spcPct val="0"/>
              </a:spcBef>
              <a:buFont typeface="Arial"/>
              <a:buChar char="•"/>
            </a:pPr>
            <a:r>
              <a:rPr lang="en-US" sz="2177">
                <a:solidFill>
                  <a:srgbClr val="FFFFFF"/>
                </a:solidFill>
                <a:latin typeface="Poppins"/>
                <a:ea typeface="Poppins"/>
                <a:cs typeface="Poppins"/>
                <a:sym typeface="Poppins"/>
              </a:rPr>
              <a:t>work_productivity_score: 326 missing (32.6%)</a:t>
            </a:r>
          </a:p>
          <a:p>
            <a:pPr algn="just" marL="470172" indent="-235086" lvl="1">
              <a:lnSpc>
                <a:spcPts val="3048"/>
              </a:lnSpc>
              <a:spcBef>
                <a:spcPct val="0"/>
              </a:spcBef>
              <a:buFont typeface="Arial"/>
              <a:buChar char="•"/>
            </a:pPr>
            <a:r>
              <a:rPr lang="en-US" sz="2177">
                <a:solidFill>
                  <a:srgbClr val="FFFFFF"/>
                </a:solidFill>
                <a:latin typeface="Poppins"/>
                <a:ea typeface="Poppins"/>
                <a:cs typeface="Poppins"/>
                <a:sym typeface="Poppins"/>
              </a:rPr>
              <a:t>Cause — Structural Missingness (age-related, not random):Ages 23+ (graduates/working adults) → no GPA, since they're no longer students</a:t>
            </a:r>
          </a:p>
          <a:p>
            <a:pPr algn="just" marL="470172" indent="-235086" lvl="1">
              <a:lnSpc>
                <a:spcPts val="3048"/>
              </a:lnSpc>
              <a:spcBef>
                <a:spcPct val="0"/>
              </a:spcBef>
              <a:buFont typeface="Arial"/>
              <a:buChar char="•"/>
            </a:pPr>
            <a:r>
              <a:rPr lang="en-US" sz="2177">
                <a:solidFill>
                  <a:srgbClr val="FFFFFF"/>
                </a:solidFill>
                <a:latin typeface="Poppins"/>
                <a:ea typeface="Poppins"/>
                <a:cs typeface="Poppins"/>
                <a:sym typeface="Poppins"/>
              </a:rPr>
              <a:t>Ages under 19 (students/teens) → no productivity score, since they haven't entered the workforce</a:t>
            </a:r>
          </a:p>
          <a:p>
            <a:pPr algn="just" marL="470172" indent="-235086" lvl="1">
              <a:lnSpc>
                <a:spcPts val="3048"/>
              </a:lnSpc>
              <a:spcBef>
                <a:spcPct val="0"/>
              </a:spcBef>
              <a:buFont typeface="Arial"/>
              <a:buChar char="•"/>
            </a:pPr>
            <a:r>
              <a:rPr lang="en-US" sz="2177">
                <a:solidFill>
                  <a:srgbClr val="FFFFFF"/>
                </a:solidFill>
                <a:latin typeface="Poppins"/>
                <a:ea typeface="Poppins"/>
                <a:cs typeface="Poppins"/>
                <a:sym typeface="Poppins"/>
              </a:rPr>
              <a:t>0 records have both fields missing — confirming the pattern is systematic, not random</a:t>
            </a:r>
          </a:p>
          <a:p>
            <a:pPr algn="just" marL="470172" indent="-235086" lvl="1">
              <a:lnSpc>
                <a:spcPts val="3048"/>
              </a:lnSpc>
              <a:spcBef>
                <a:spcPct val="0"/>
              </a:spcBef>
              <a:buFont typeface="Arial"/>
              <a:buChar char="•"/>
            </a:pPr>
            <a:r>
              <a:rPr lang="en-US" sz="2177">
                <a:solidFill>
                  <a:srgbClr val="FFFFFF"/>
                </a:solidFill>
                <a:latin typeface="Poppins"/>
                <a:ea typeface="Poppins"/>
                <a:cs typeface="Poppins"/>
                <a:sym typeface="Poppins"/>
              </a:rPr>
              <a:t>Impact on Analysis:Treat both columns as indicators for two distinct sub-groups, not one unified metric</a:t>
            </a:r>
          </a:p>
          <a:p>
            <a:pPr algn="just" marL="470172" indent="-235086" lvl="1">
              <a:lnSpc>
                <a:spcPts val="3048"/>
              </a:lnSpc>
              <a:spcBef>
                <a:spcPct val="0"/>
              </a:spcBef>
              <a:buFont typeface="Arial"/>
              <a:buChar char="•"/>
            </a:pPr>
            <a:r>
              <a:rPr lang="en-US" sz="2177">
                <a:solidFill>
                  <a:srgbClr val="FFFFFF"/>
                </a:solidFill>
                <a:latin typeface="Poppins"/>
                <a:ea typeface="Poppins"/>
                <a:cs typeface="Poppins"/>
                <a:sym typeface="Poppins"/>
              </a:rPr>
              <a:t>Combining them (e.g., overall average) without handling missingness properly would produce misleading results</a:t>
            </a:r>
          </a:p>
          <a:p>
            <a:pPr algn="just" marL="0" indent="0" lvl="0">
              <a:lnSpc>
                <a:spcPts val="3048"/>
              </a:lnSpc>
              <a:spcBef>
                <a:spcPct val="0"/>
              </a:spcBef>
            </a:pP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4640012" y="963201"/>
            <a:ext cx="2537217" cy="1360582"/>
          </a:xfrm>
          <a:custGeom>
            <a:avLst/>
            <a:gdLst/>
            <a:ahLst/>
            <a:cxnLst/>
            <a:rect r="r" b="b" t="t" l="l"/>
            <a:pathLst>
              <a:path h="1360582" w="2537217">
                <a:moveTo>
                  <a:pt x="0" y="0"/>
                </a:moveTo>
                <a:lnTo>
                  <a:pt x="2537216" y="0"/>
                </a:lnTo>
                <a:lnTo>
                  <a:pt x="2537216" y="1360583"/>
                </a:lnTo>
                <a:lnTo>
                  <a:pt x="0" y="1360583"/>
                </a:lnTo>
                <a:lnTo>
                  <a:pt x="0" y="0"/>
                </a:lnTo>
                <a:close/>
              </a:path>
            </a:pathLst>
          </a:custGeom>
          <a:blipFill>
            <a:blip r:embed="rId2"/>
            <a:stretch>
              <a:fillRect l="0" t="0" r="0" b="0"/>
            </a:stretch>
          </a:blipFill>
        </p:spPr>
      </p:sp>
      <p:sp>
        <p:nvSpPr>
          <p:cNvPr name="TextBox 3" id="3"/>
          <p:cNvSpPr txBox="true"/>
          <p:nvPr/>
        </p:nvSpPr>
        <p:spPr>
          <a:xfrm rot="0">
            <a:off x="10580199" y="3109634"/>
            <a:ext cx="6679101" cy="1786117"/>
          </a:xfrm>
          <a:prstGeom prst="rect">
            <a:avLst/>
          </a:prstGeom>
        </p:spPr>
        <p:txBody>
          <a:bodyPr anchor="t" rtlCol="false" tIns="0" lIns="0" bIns="0" rIns="0">
            <a:spAutoFit/>
          </a:bodyPr>
          <a:lstStyle/>
          <a:p>
            <a:pPr algn="l" marL="0" indent="0" lvl="0">
              <a:lnSpc>
                <a:spcPts val="6855"/>
              </a:lnSpc>
              <a:spcBef>
                <a:spcPct val="0"/>
              </a:spcBef>
            </a:pPr>
            <a:r>
              <a:rPr lang="en-US" sz="6995" strike="noStrike" u="none">
                <a:solidFill>
                  <a:srgbClr val="FFFFFF"/>
                </a:solidFill>
                <a:latin typeface="Tex Gyre Termes"/>
                <a:ea typeface="Tex Gyre Termes"/>
                <a:cs typeface="Tex Gyre Termes"/>
                <a:sym typeface="Tex Gyre Termes"/>
              </a:rPr>
              <a:t>Dataset Description</a:t>
            </a:r>
          </a:p>
        </p:txBody>
      </p:sp>
      <p:sp>
        <p:nvSpPr>
          <p:cNvPr name="TextBox 4" id="4"/>
          <p:cNvSpPr txBox="true"/>
          <p:nvPr/>
        </p:nvSpPr>
        <p:spPr>
          <a:xfrm rot="0">
            <a:off x="10580199" y="5135841"/>
            <a:ext cx="5729921" cy="3344406"/>
          </a:xfrm>
          <a:prstGeom prst="rect">
            <a:avLst/>
          </a:prstGeom>
        </p:spPr>
        <p:txBody>
          <a:bodyPr anchor="t" rtlCol="false" tIns="0" lIns="0" bIns="0" rIns="0">
            <a:spAutoFit/>
          </a:bodyPr>
          <a:lstStyle/>
          <a:p>
            <a:pPr algn="l" marL="0" indent="0" lvl="0">
              <a:lnSpc>
                <a:spcPts val="2630"/>
              </a:lnSpc>
            </a:pPr>
            <a:r>
              <a:rPr lang="en-US" sz="1878">
                <a:solidFill>
                  <a:srgbClr val="FFFFFF"/>
                </a:solidFill>
                <a:latin typeface="Poppins"/>
                <a:ea typeface="Poppins"/>
                <a:cs typeface="Poppins"/>
                <a:sym typeface="Poppins"/>
              </a:rPr>
              <a:t>🕹 Daily Gaming Hours</a:t>
            </a:r>
          </a:p>
          <a:p>
            <a:pPr algn="l" marL="0" indent="0" lvl="0">
              <a:lnSpc>
                <a:spcPts val="2630"/>
              </a:lnSpc>
            </a:pPr>
            <a:r>
              <a:rPr lang="en-US" sz="1878">
                <a:solidFill>
                  <a:srgbClr val="FFFFFF"/>
                </a:solidFill>
                <a:latin typeface="Poppins"/>
                <a:ea typeface="Poppins"/>
                <a:cs typeface="Poppins"/>
                <a:sym typeface="Poppins"/>
              </a:rPr>
              <a:t>🌙 Sleep Hours</a:t>
            </a:r>
          </a:p>
          <a:p>
            <a:pPr algn="l" marL="0" indent="0" lvl="0">
              <a:lnSpc>
                <a:spcPts val="2630"/>
              </a:lnSpc>
            </a:pPr>
            <a:r>
              <a:rPr lang="en-US" sz="1878">
                <a:solidFill>
                  <a:srgbClr val="FFFFFF"/>
                </a:solidFill>
                <a:latin typeface="Poppins"/>
                <a:ea typeface="Poppins"/>
                <a:cs typeface="Poppins"/>
                <a:sym typeface="Poppins"/>
              </a:rPr>
              <a:t>🎓 GPA</a:t>
            </a:r>
          </a:p>
          <a:p>
            <a:pPr algn="l" marL="0" indent="0" lvl="0">
              <a:lnSpc>
                <a:spcPts val="2630"/>
              </a:lnSpc>
            </a:pPr>
            <a:r>
              <a:rPr lang="en-US" sz="1878">
                <a:solidFill>
                  <a:srgbClr val="FFFFFF"/>
                </a:solidFill>
                <a:latin typeface="Poppins"/>
                <a:ea typeface="Poppins"/>
                <a:cs typeface="Poppins"/>
                <a:sym typeface="Poppins"/>
              </a:rPr>
              <a:t>📊 Productivity Score</a:t>
            </a:r>
          </a:p>
          <a:p>
            <a:pPr algn="l" marL="0" indent="0" lvl="0">
              <a:lnSpc>
                <a:spcPts val="2630"/>
              </a:lnSpc>
            </a:pPr>
            <a:r>
              <a:rPr lang="en-US" sz="1878">
                <a:solidFill>
                  <a:srgbClr val="FFFFFF"/>
                </a:solidFill>
                <a:latin typeface="Poppins"/>
                <a:ea typeface="Poppins"/>
                <a:cs typeface="Poppins"/>
                <a:sym typeface="Poppins"/>
              </a:rPr>
              <a:t>😊 Mood State</a:t>
            </a:r>
          </a:p>
          <a:p>
            <a:pPr algn="l" marL="0" indent="0" lvl="0">
              <a:lnSpc>
                <a:spcPts val="2630"/>
              </a:lnSpc>
            </a:pPr>
            <a:r>
              <a:rPr lang="en-US" sz="1878">
                <a:solidFill>
                  <a:srgbClr val="FFFFFF"/>
                </a:solidFill>
                <a:latin typeface="Poppins"/>
                <a:ea typeface="Poppins"/>
                <a:cs typeface="Poppins"/>
                <a:sym typeface="Poppins"/>
              </a:rPr>
              <a:t>🏃 Exercise Hours</a:t>
            </a:r>
          </a:p>
          <a:p>
            <a:pPr algn="l" marL="0" indent="0" lvl="0">
              <a:lnSpc>
                <a:spcPts val="2630"/>
              </a:lnSpc>
            </a:pPr>
            <a:r>
              <a:rPr lang="en-US" sz="1878">
                <a:solidFill>
                  <a:srgbClr val="FFFFFF"/>
                </a:solidFill>
                <a:latin typeface="Poppins"/>
                <a:ea typeface="Poppins"/>
                <a:cs typeface="Poppins"/>
                <a:sym typeface="Poppins"/>
              </a:rPr>
              <a:t>🔒 Social Isolation Score</a:t>
            </a:r>
          </a:p>
          <a:p>
            <a:pPr algn="l" marL="0" indent="0" lvl="0">
              <a:lnSpc>
                <a:spcPts val="2630"/>
              </a:lnSpc>
            </a:pPr>
            <a:r>
              <a:rPr lang="en-US" sz="1878">
                <a:solidFill>
                  <a:srgbClr val="FFFFFF"/>
                </a:solidFill>
                <a:latin typeface="Poppins"/>
                <a:ea typeface="Poppins"/>
                <a:cs typeface="Poppins"/>
                <a:sym typeface="Poppins"/>
              </a:rPr>
              <a:t>💸 Monthly Spending</a:t>
            </a:r>
          </a:p>
          <a:p>
            <a:pPr algn="l" marL="0" indent="0" lvl="0">
              <a:lnSpc>
                <a:spcPts val="2630"/>
              </a:lnSpc>
            </a:pPr>
            <a:r>
              <a:rPr lang="en-US" sz="1878">
                <a:solidFill>
                  <a:srgbClr val="FFFFFF"/>
                </a:solidFill>
                <a:latin typeface="Poppins"/>
                <a:ea typeface="Poppins"/>
                <a:cs typeface="Poppins"/>
                <a:sym typeface="Poppins"/>
              </a:rPr>
              <a:t>📅 Years Gaming</a:t>
            </a:r>
          </a:p>
          <a:p>
            <a:pPr algn="l" marL="0" indent="0" lvl="0">
              <a:lnSpc>
                <a:spcPts val="2630"/>
              </a:lnSpc>
            </a:pPr>
            <a:r>
              <a:rPr lang="en-US" sz="1878">
                <a:solidFill>
                  <a:srgbClr val="FFFFFF"/>
                </a:solidFill>
                <a:latin typeface="Poppins"/>
                <a:ea typeface="Poppins"/>
                <a:cs typeface="Poppins"/>
                <a:sym typeface="Poppins"/>
              </a:rPr>
              <a:t>💰 Total Spent</a:t>
            </a:r>
          </a:p>
        </p:txBody>
      </p:sp>
      <p:sp>
        <p:nvSpPr>
          <p:cNvPr name="Freeform 5" id="5"/>
          <p:cNvSpPr/>
          <p:nvPr/>
        </p:nvSpPr>
        <p:spPr>
          <a:xfrm flipH="false" flipV="false" rot="0">
            <a:off x="1685155" y="3007481"/>
            <a:ext cx="7044499" cy="4297144"/>
          </a:xfrm>
          <a:custGeom>
            <a:avLst/>
            <a:gdLst/>
            <a:ahLst/>
            <a:cxnLst/>
            <a:rect r="r" b="b" t="t" l="l"/>
            <a:pathLst>
              <a:path h="4297144" w="7044499">
                <a:moveTo>
                  <a:pt x="0" y="0"/>
                </a:moveTo>
                <a:lnTo>
                  <a:pt x="7044499" y="0"/>
                </a:lnTo>
                <a:lnTo>
                  <a:pt x="7044499" y="4297144"/>
                </a:lnTo>
                <a:lnTo>
                  <a:pt x="0" y="4297144"/>
                </a:lnTo>
                <a:lnTo>
                  <a:pt x="0" y="0"/>
                </a:lnTo>
                <a:close/>
              </a:path>
            </a:pathLst>
          </a:custGeom>
          <a:blipFill>
            <a:blip r:embed="rId3"/>
            <a:stretch>
              <a:fillRect l="0" t="0" r="0" b="0"/>
            </a:stretch>
          </a:blipFill>
        </p:spPr>
      </p:sp>
      <p:sp>
        <p:nvSpPr>
          <p:cNvPr name="Freeform 6" id="6"/>
          <p:cNvSpPr/>
          <p:nvPr/>
        </p:nvSpPr>
        <p:spPr>
          <a:xfrm flipH="false" flipV="false" rot="0">
            <a:off x="-2528730" y="7703709"/>
            <a:ext cx="6505029" cy="1553076"/>
          </a:xfrm>
          <a:custGeom>
            <a:avLst/>
            <a:gdLst/>
            <a:ahLst/>
            <a:cxnLst/>
            <a:rect r="r" b="b" t="t" l="l"/>
            <a:pathLst>
              <a:path h="1553076" w="6505029">
                <a:moveTo>
                  <a:pt x="0" y="0"/>
                </a:moveTo>
                <a:lnTo>
                  <a:pt x="6505029" y="0"/>
                </a:lnTo>
                <a:lnTo>
                  <a:pt x="6505029" y="1553076"/>
                </a:lnTo>
                <a:lnTo>
                  <a:pt x="0" y="1553076"/>
                </a:lnTo>
                <a:lnTo>
                  <a:pt x="0" y="0"/>
                </a:lnTo>
                <a:close/>
              </a:path>
            </a:pathLst>
          </a:custGeom>
          <a:blipFill>
            <a:blip r:embed="rId4"/>
            <a:stretch>
              <a:fillRect l="0" t="0" r="0" b="0"/>
            </a:stretch>
          </a:blipFill>
        </p:spPr>
      </p:sp>
      <p:grpSp>
        <p:nvGrpSpPr>
          <p:cNvPr name="Group 7" id="7"/>
          <p:cNvGrpSpPr/>
          <p:nvPr/>
        </p:nvGrpSpPr>
        <p:grpSpPr>
          <a:xfrm rot="0">
            <a:off x="0" y="-25475"/>
            <a:ext cx="18288000" cy="2166846"/>
            <a:chOff x="0" y="0"/>
            <a:chExt cx="24384000" cy="2889128"/>
          </a:xfrm>
        </p:grpSpPr>
        <p:sp>
          <p:nvSpPr>
            <p:cNvPr name="Freeform 8" id="8"/>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5"/>
              <a:stretch>
                <a:fillRect l="0" t="0" r="0" b="0"/>
              </a:stretch>
            </a:blipFill>
          </p:spPr>
        </p:sp>
        <p:sp>
          <p:nvSpPr>
            <p:cNvPr name="Freeform 9" id="9"/>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6"/>
              <a:stretch>
                <a:fillRect l="0" t="0" r="0" b="0"/>
              </a:stretch>
            </a:blipFill>
          </p:spPr>
        </p:sp>
        <p:sp>
          <p:nvSpPr>
            <p:cNvPr name="Freeform 10" id="10"/>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7"/>
              <a:stretch>
                <a:fillRect l="-12904" t="-12015" r="-11867" b="-12757"/>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grpSp>
        <p:nvGrpSpPr>
          <p:cNvPr name="Group 2" id="2"/>
          <p:cNvGrpSpPr/>
          <p:nvPr/>
        </p:nvGrpSpPr>
        <p:grpSpPr>
          <a:xfrm rot="0">
            <a:off x="1028700" y="3175036"/>
            <a:ext cx="5206345" cy="5279526"/>
            <a:chOff x="0" y="0"/>
            <a:chExt cx="1371218" cy="1390493"/>
          </a:xfrm>
        </p:grpSpPr>
        <p:sp>
          <p:nvSpPr>
            <p:cNvPr name="Freeform 3" id="3"/>
            <p:cNvSpPr/>
            <p:nvPr/>
          </p:nvSpPr>
          <p:spPr>
            <a:xfrm flipH="false" flipV="false" rot="0">
              <a:off x="0" y="0"/>
              <a:ext cx="1371218" cy="1390493"/>
            </a:xfrm>
            <a:custGeom>
              <a:avLst/>
              <a:gdLst/>
              <a:ahLst/>
              <a:cxnLst/>
              <a:rect r="r" b="b" t="t" l="l"/>
              <a:pathLst>
                <a:path h="1390493" w="1371218">
                  <a:moveTo>
                    <a:pt x="75838" y="0"/>
                  </a:moveTo>
                  <a:lnTo>
                    <a:pt x="1295381" y="0"/>
                  </a:lnTo>
                  <a:cubicBezTo>
                    <a:pt x="1337265" y="0"/>
                    <a:pt x="1371218" y="33954"/>
                    <a:pt x="1371218" y="75838"/>
                  </a:cubicBezTo>
                  <a:lnTo>
                    <a:pt x="1371218" y="1314655"/>
                  </a:lnTo>
                  <a:cubicBezTo>
                    <a:pt x="1371218" y="1334768"/>
                    <a:pt x="1363228" y="1354058"/>
                    <a:pt x="1349006" y="1368280"/>
                  </a:cubicBezTo>
                  <a:cubicBezTo>
                    <a:pt x="1334784" y="1382503"/>
                    <a:pt x="1315494" y="1390493"/>
                    <a:pt x="1295381" y="1390493"/>
                  </a:cubicBezTo>
                  <a:lnTo>
                    <a:pt x="75838" y="1390493"/>
                  </a:lnTo>
                  <a:cubicBezTo>
                    <a:pt x="55724" y="1390493"/>
                    <a:pt x="36435" y="1382503"/>
                    <a:pt x="22212" y="1368280"/>
                  </a:cubicBezTo>
                  <a:cubicBezTo>
                    <a:pt x="7990" y="1354058"/>
                    <a:pt x="0" y="1334768"/>
                    <a:pt x="0" y="1314655"/>
                  </a:cubicBezTo>
                  <a:lnTo>
                    <a:pt x="0" y="75838"/>
                  </a:lnTo>
                  <a:cubicBezTo>
                    <a:pt x="0" y="55724"/>
                    <a:pt x="7990" y="36435"/>
                    <a:pt x="22212" y="22212"/>
                  </a:cubicBezTo>
                  <a:cubicBezTo>
                    <a:pt x="36435" y="7990"/>
                    <a:pt x="55724" y="0"/>
                    <a:pt x="75838" y="0"/>
                  </a:cubicBezTo>
                  <a:close/>
                </a:path>
              </a:pathLst>
            </a:custGeom>
            <a:ln w="66675" cap="rnd">
              <a:solidFill>
                <a:srgbClr val="FFFFFF"/>
              </a:solidFill>
              <a:prstDash val="solid"/>
              <a:round/>
            </a:ln>
          </p:spPr>
        </p:sp>
        <p:sp>
          <p:nvSpPr>
            <p:cNvPr name="TextBox 4" id="4"/>
            <p:cNvSpPr txBox="true"/>
            <p:nvPr/>
          </p:nvSpPr>
          <p:spPr>
            <a:xfrm>
              <a:off x="0" y="-66675"/>
              <a:ext cx="1371218" cy="1457168"/>
            </a:xfrm>
            <a:prstGeom prst="rect">
              <a:avLst/>
            </a:prstGeom>
          </p:spPr>
          <p:txBody>
            <a:bodyPr anchor="ctr" rtlCol="false" tIns="50800" lIns="50800" bIns="50800" rIns="50800"/>
            <a:lstStyle/>
            <a:p>
              <a:pPr algn="ctr" marL="0" indent="0" lvl="0">
                <a:lnSpc>
                  <a:spcPts val="3499"/>
                </a:lnSpc>
              </a:pPr>
            </a:p>
          </p:txBody>
        </p:sp>
      </p:grpSp>
      <p:grpSp>
        <p:nvGrpSpPr>
          <p:cNvPr name="Group 5" id="5"/>
          <p:cNvGrpSpPr/>
          <p:nvPr/>
        </p:nvGrpSpPr>
        <p:grpSpPr>
          <a:xfrm rot="0">
            <a:off x="1335845" y="3583392"/>
            <a:ext cx="4598047" cy="1159467"/>
            <a:chOff x="0" y="0"/>
            <a:chExt cx="1211008" cy="305374"/>
          </a:xfrm>
        </p:grpSpPr>
        <p:sp>
          <p:nvSpPr>
            <p:cNvPr name="Freeform 6" id="6"/>
            <p:cNvSpPr/>
            <p:nvPr/>
          </p:nvSpPr>
          <p:spPr>
            <a:xfrm flipH="false" flipV="false" rot="0">
              <a:off x="0" y="0"/>
              <a:ext cx="1211008" cy="305374"/>
            </a:xfrm>
            <a:custGeom>
              <a:avLst/>
              <a:gdLst/>
              <a:ahLst/>
              <a:cxnLst/>
              <a:rect r="r" b="b" t="t" l="l"/>
              <a:pathLst>
                <a:path h="305374" w="1211008">
                  <a:moveTo>
                    <a:pt x="52196" y="0"/>
                  </a:moveTo>
                  <a:lnTo>
                    <a:pt x="1158812" y="0"/>
                  </a:lnTo>
                  <a:cubicBezTo>
                    <a:pt x="1187639" y="0"/>
                    <a:pt x="1211008" y="23369"/>
                    <a:pt x="1211008" y="52196"/>
                  </a:cubicBezTo>
                  <a:lnTo>
                    <a:pt x="1211008" y="253178"/>
                  </a:lnTo>
                  <a:cubicBezTo>
                    <a:pt x="1211008" y="282005"/>
                    <a:pt x="1187639" y="305374"/>
                    <a:pt x="1158812" y="305374"/>
                  </a:cubicBezTo>
                  <a:lnTo>
                    <a:pt x="52196" y="305374"/>
                  </a:lnTo>
                  <a:cubicBezTo>
                    <a:pt x="38353" y="305374"/>
                    <a:pt x="25076" y="299875"/>
                    <a:pt x="15288" y="290086"/>
                  </a:cubicBezTo>
                  <a:cubicBezTo>
                    <a:pt x="5499" y="280297"/>
                    <a:pt x="0" y="267021"/>
                    <a:pt x="0" y="253178"/>
                  </a:cubicBezTo>
                  <a:lnTo>
                    <a:pt x="0" y="52196"/>
                  </a:lnTo>
                  <a:cubicBezTo>
                    <a:pt x="0" y="23369"/>
                    <a:pt x="23369" y="0"/>
                    <a:pt x="52196" y="0"/>
                  </a:cubicBezTo>
                  <a:close/>
                </a:path>
              </a:pathLst>
            </a:custGeom>
            <a:solidFill>
              <a:srgbClr val="4119FF"/>
            </a:solidFill>
          </p:spPr>
        </p:sp>
        <p:sp>
          <p:nvSpPr>
            <p:cNvPr name="TextBox 7" id="7"/>
            <p:cNvSpPr txBox="true"/>
            <p:nvPr/>
          </p:nvSpPr>
          <p:spPr>
            <a:xfrm>
              <a:off x="0" y="-66675"/>
              <a:ext cx="1211008" cy="372049"/>
            </a:xfrm>
            <a:prstGeom prst="rect">
              <a:avLst/>
            </a:prstGeom>
          </p:spPr>
          <p:txBody>
            <a:bodyPr anchor="ctr" rtlCol="false" tIns="50800" lIns="50800" bIns="50800" rIns="50800"/>
            <a:lstStyle/>
            <a:p>
              <a:pPr algn="ctr" marL="0" indent="0" lvl="0">
                <a:lnSpc>
                  <a:spcPts val="3499"/>
                </a:lnSpc>
              </a:pPr>
            </a:p>
          </p:txBody>
        </p:sp>
      </p:grpSp>
      <p:grpSp>
        <p:nvGrpSpPr>
          <p:cNvPr name="Group 8" id="8"/>
          <p:cNvGrpSpPr/>
          <p:nvPr/>
        </p:nvGrpSpPr>
        <p:grpSpPr>
          <a:xfrm rot="0">
            <a:off x="12052955" y="3175036"/>
            <a:ext cx="5206345" cy="5279526"/>
            <a:chOff x="0" y="0"/>
            <a:chExt cx="1371218" cy="1390493"/>
          </a:xfrm>
        </p:grpSpPr>
        <p:sp>
          <p:nvSpPr>
            <p:cNvPr name="Freeform 9" id="9"/>
            <p:cNvSpPr/>
            <p:nvPr/>
          </p:nvSpPr>
          <p:spPr>
            <a:xfrm flipH="false" flipV="false" rot="0">
              <a:off x="0" y="0"/>
              <a:ext cx="1371218" cy="1390493"/>
            </a:xfrm>
            <a:custGeom>
              <a:avLst/>
              <a:gdLst/>
              <a:ahLst/>
              <a:cxnLst/>
              <a:rect r="r" b="b" t="t" l="l"/>
              <a:pathLst>
                <a:path h="1390493" w="1371218">
                  <a:moveTo>
                    <a:pt x="75838" y="0"/>
                  </a:moveTo>
                  <a:lnTo>
                    <a:pt x="1295381" y="0"/>
                  </a:lnTo>
                  <a:cubicBezTo>
                    <a:pt x="1337265" y="0"/>
                    <a:pt x="1371218" y="33954"/>
                    <a:pt x="1371218" y="75838"/>
                  </a:cubicBezTo>
                  <a:lnTo>
                    <a:pt x="1371218" y="1314655"/>
                  </a:lnTo>
                  <a:cubicBezTo>
                    <a:pt x="1371218" y="1334768"/>
                    <a:pt x="1363228" y="1354058"/>
                    <a:pt x="1349006" y="1368280"/>
                  </a:cubicBezTo>
                  <a:cubicBezTo>
                    <a:pt x="1334784" y="1382503"/>
                    <a:pt x="1315494" y="1390493"/>
                    <a:pt x="1295381" y="1390493"/>
                  </a:cubicBezTo>
                  <a:lnTo>
                    <a:pt x="75838" y="1390493"/>
                  </a:lnTo>
                  <a:cubicBezTo>
                    <a:pt x="55724" y="1390493"/>
                    <a:pt x="36435" y="1382503"/>
                    <a:pt x="22212" y="1368280"/>
                  </a:cubicBezTo>
                  <a:cubicBezTo>
                    <a:pt x="7990" y="1354058"/>
                    <a:pt x="0" y="1334768"/>
                    <a:pt x="0" y="1314655"/>
                  </a:cubicBezTo>
                  <a:lnTo>
                    <a:pt x="0" y="75838"/>
                  </a:lnTo>
                  <a:cubicBezTo>
                    <a:pt x="0" y="55724"/>
                    <a:pt x="7990" y="36435"/>
                    <a:pt x="22212" y="22212"/>
                  </a:cubicBezTo>
                  <a:cubicBezTo>
                    <a:pt x="36435" y="7990"/>
                    <a:pt x="55724" y="0"/>
                    <a:pt x="75838" y="0"/>
                  </a:cubicBezTo>
                  <a:close/>
                </a:path>
              </a:pathLst>
            </a:custGeom>
            <a:ln w="66675" cap="rnd">
              <a:solidFill>
                <a:srgbClr val="FFFFFF"/>
              </a:solidFill>
              <a:prstDash val="solid"/>
              <a:round/>
            </a:ln>
          </p:spPr>
        </p:sp>
        <p:sp>
          <p:nvSpPr>
            <p:cNvPr name="TextBox 10" id="10"/>
            <p:cNvSpPr txBox="true"/>
            <p:nvPr/>
          </p:nvSpPr>
          <p:spPr>
            <a:xfrm>
              <a:off x="0" y="-66675"/>
              <a:ext cx="1371218" cy="1457168"/>
            </a:xfrm>
            <a:prstGeom prst="rect">
              <a:avLst/>
            </a:prstGeom>
          </p:spPr>
          <p:txBody>
            <a:bodyPr anchor="ctr" rtlCol="false" tIns="50800" lIns="50800" bIns="50800" rIns="50800"/>
            <a:lstStyle/>
            <a:p>
              <a:pPr algn="ctr" marL="0" indent="0" lvl="0">
                <a:lnSpc>
                  <a:spcPts val="3499"/>
                </a:lnSpc>
              </a:pPr>
            </a:p>
          </p:txBody>
        </p:sp>
      </p:grpSp>
      <p:grpSp>
        <p:nvGrpSpPr>
          <p:cNvPr name="Group 11" id="11"/>
          <p:cNvGrpSpPr/>
          <p:nvPr/>
        </p:nvGrpSpPr>
        <p:grpSpPr>
          <a:xfrm rot="0">
            <a:off x="6542321" y="3175036"/>
            <a:ext cx="5206345" cy="5279526"/>
            <a:chOff x="0" y="0"/>
            <a:chExt cx="1371218" cy="1390493"/>
          </a:xfrm>
        </p:grpSpPr>
        <p:sp>
          <p:nvSpPr>
            <p:cNvPr name="Freeform 12" id="12"/>
            <p:cNvSpPr/>
            <p:nvPr/>
          </p:nvSpPr>
          <p:spPr>
            <a:xfrm flipH="false" flipV="false" rot="0">
              <a:off x="0" y="0"/>
              <a:ext cx="1371218" cy="1390493"/>
            </a:xfrm>
            <a:custGeom>
              <a:avLst/>
              <a:gdLst/>
              <a:ahLst/>
              <a:cxnLst/>
              <a:rect r="r" b="b" t="t" l="l"/>
              <a:pathLst>
                <a:path h="1390493" w="1371218">
                  <a:moveTo>
                    <a:pt x="75838" y="0"/>
                  </a:moveTo>
                  <a:lnTo>
                    <a:pt x="1295381" y="0"/>
                  </a:lnTo>
                  <a:cubicBezTo>
                    <a:pt x="1337265" y="0"/>
                    <a:pt x="1371218" y="33954"/>
                    <a:pt x="1371218" y="75838"/>
                  </a:cubicBezTo>
                  <a:lnTo>
                    <a:pt x="1371218" y="1314655"/>
                  </a:lnTo>
                  <a:cubicBezTo>
                    <a:pt x="1371218" y="1334768"/>
                    <a:pt x="1363228" y="1354058"/>
                    <a:pt x="1349006" y="1368280"/>
                  </a:cubicBezTo>
                  <a:cubicBezTo>
                    <a:pt x="1334784" y="1382503"/>
                    <a:pt x="1315494" y="1390493"/>
                    <a:pt x="1295381" y="1390493"/>
                  </a:cubicBezTo>
                  <a:lnTo>
                    <a:pt x="75838" y="1390493"/>
                  </a:lnTo>
                  <a:cubicBezTo>
                    <a:pt x="55724" y="1390493"/>
                    <a:pt x="36435" y="1382503"/>
                    <a:pt x="22212" y="1368280"/>
                  </a:cubicBezTo>
                  <a:cubicBezTo>
                    <a:pt x="7990" y="1354058"/>
                    <a:pt x="0" y="1334768"/>
                    <a:pt x="0" y="1314655"/>
                  </a:cubicBezTo>
                  <a:lnTo>
                    <a:pt x="0" y="75838"/>
                  </a:lnTo>
                  <a:cubicBezTo>
                    <a:pt x="0" y="55724"/>
                    <a:pt x="7990" y="36435"/>
                    <a:pt x="22212" y="22212"/>
                  </a:cubicBezTo>
                  <a:cubicBezTo>
                    <a:pt x="36435" y="7990"/>
                    <a:pt x="55724" y="0"/>
                    <a:pt x="75838" y="0"/>
                  </a:cubicBezTo>
                  <a:close/>
                </a:path>
              </a:pathLst>
            </a:custGeom>
            <a:ln w="66675" cap="rnd">
              <a:solidFill>
                <a:srgbClr val="FFFFFF"/>
              </a:solidFill>
              <a:prstDash val="solid"/>
              <a:round/>
            </a:ln>
          </p:spPr>
        </p:sp>
        <p:sp>
          <p:nvSpPr>
            <p:cNvPr name="TextBox 13" id="13"/>
            <p:cNvSpPr txBox="true"/>
            <p:nvPr/>
          </p:nvSpPr>
          <p:spPr>
            <a:xfrm>
              <a:off x="0" y="-66675"/>
              <a:ext cx="1371218" cy="1457168"/>
            </a:xfrm>
            <a:prstGeom prst="rect">
              <a:avLst/>
            </a:prstGeom>
          </p:spPr>
          <p:txBody>
            <a:bodyPr anchor="ctr" rtlCol="false" tIns="50800" lIns="50800" bIns="50800" rIns="50800"/>
            <a:lstStyle/>
            <a:p>
              <a:pPr algn="ctr" marL="0" indent="0" lvl="0">
                <a:lnSpc>
                  <a:spcPts val="3499"/>
                </a:lnSpc>
              </a:pPr>
            </a:p>
          </p:txBody>
        </p:sp>
      </p:grpSp>
      <p:sp>
        <p:nvSpPr>
          <p:cNvPr name="TextBox 14" id="14"/>
          <p:cNvSpPr txBox="true"/>
          <p:nvPr/>
        </p:nvSpPr>
        <p:spPr>
          <a:xfrm rot="0">
            <a:off x="6542321" y="1487209"/>
            <a:ext cx="5203358" cy="1193925"/>
          </a:xfrm>
          <a:prstGeom prst="rect">
            <a:avLst/>
          </a:prstGeom>
        </p:spPr>
        <p:txBody>
          <a:bodyPr anchor="t" rtlCol="false" tIns="0" lIns="0" bIns="0" rIns="0">
            <a:spAutoFit/>
          </a:bodyPr>
          <a:lstStyle/>
          <a:p>
            <a:pPr algn="ctr" marL="0" indent="0" lvl="0">
              <a:lnSpc>
                <a:spcPts val="9793"/>
              </a:lnSpc>
              <a:spcBef>
                <a:spcPct val="0"/>
              </a:spcBef>
            </a:pPr>
            <a:r>
              <a:rPr lang="en-US" sz="6995">
                <a:solidFill>
                  <a:srgbClr val="FFFFFF"/>
                </a:solidFill>
                <a:latin typeface="Tex Gyre Termes"/>
                <a:ea typeface="Tex Gyre Termes"/>
                <a:cs typeface="Tex Gyre Termes"/>
                <a:sym typeface="Tex Gyre Termes"/>
              </a:rPr>
              <a:t>Data Pipeline</a:t>
            </a:r>
          </a:p>
        </p:txBody>
      </p:sp>
      <p:sp>
        <p:nvSpPr>
          <p:cNvPr name="TextBox 15" id="15"/>
          <p:cNvSpPr txBox="true"/>
          <p:nvPr/>
        </p:nvSpPr>
        <p:spPr>
          <a:xfrm rot="0">
            <a:off x="1989993" y="3909126"/>
            <a:ext cx="3289750" cy="441370"/>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FFFFFF"/>
                </a:solidFill>
                <a:latin typeface="Poppins Bold"/>
                <a:ea typeface="Poppins Bold"/>
                <a:cs typeface="Poppins Bold"/>
                <a:sym typeface="Poppins Bold"/>
              </a:rPr>
              <a:t>Excel → SQL</a:t>
            </a:r>
          </a:p>
        </p:txBody>
      </p:sp>
      <p:sp>
        <p:nvSpPr>
          <p:cNvPr name="TextBox 16" id="16"/>
          <p:cNvSpPr txBox="true"/>
          <p:nvPr/>
        </p:nvSpPr>
        <p:spPr>
          <a:xfrm rot="0">
            <a:off x="1329611" y="5043183"/>
            <a:ext cx="4598047" cy="2231851"/>
          </a:xfrm>
          <a:prstGeom prst="rect">
            <a:avLst/>
          </a:prstGeom>
        </p:spPr>
        <p:txBody>
          <a:bodyPr anchor="t" rtlCol="false" tIns="0" lIns="0" bIns="0" rIns="0">
            <a:spAutoFit/>
          </a:bodyPr>
          <a:lstStyle/>
          <a:p>
            <a:pPr algn="just" marL="0" indent="0" lvl="0">
              <a:lnSpc>
                <a:spcPts val="2984"/>
              </a:lnSpc>
              <a:spcBef>
                <a:spcPct val="0"/>
              </a:spcBef>
            </a:pPr>
            <a:r>
              <a:rPr lang="en-US" sz="2131">
                <a:solidFill>
                  <a:srgbClr val="FFFFFF"/>
                </a:solidFill>
                <a:latin typeface="Poppins"/>
                <a:ea typeface="Poppins"/>
                <a:cs typeface="Poppins"/>
                <a:sym typeface="Poppins"/>
              </a:rPr>
              <a:t>Raw data imported and cleaned in Excel. Fact &amp; Dimension tables structured. Data exported and loaded into SQL Server for schema design and relational querying.</a:t>
            </a:r>
          </a:p>
        </p:txBody>
      </p:sp>
      <p:sp>
        <p:nvSpPr>
          <p:cNvPr name="TextBox 17" id="17"/>
          <p:cNvSpPr txBox="true"/>
          <p:nvPr/>
        </p:nvSpPr>
        <p:spPr>
          <a:xfrm rot="0">
            <a:off x="6842896" y="5043183"/>
            <a:ext cx="4598047" cy="2603326"/>
          </a:xfrm>
          <a:prstGeom prst="rect">
            <a:avLst/>
          </a:prstGeom>
        </p:spPr>
        <p:txBody>
          <a:bodyPr anchor="t" rtlCol="false" tIns="0" lIns="0" bIns="0" rIns="0">
            <a:spAutoFit/>
          </a:bodyPr>
          <a:lstStyle/>
          <a:p>
            <a:pPr algn="just" marL="0" indent="0" lvl="0">
              <a:lnSpc>
                <a:spcPts val="2984"/>
              </a:lnSpc>
              <a:spcBef>
                <a:spcPct val="0"/>
              </a:spcBef>
            </a:pPr>
            <a:r>
              <a:rPr lang="en-US" sz="2131">
                <a:solidFill>
                  <a:srgbClr val="FFFFFF"/>
                </a:solidFill>
                <a:latin typeface="Poppins"/>
                <a:ea typeface="Poppins"/>
                <a:cs typeface="Poppins"/>
                <a:sym typeface="Poppins"/>
              </a:rPr>
              <a:t>Data preprocessed using Pandas. Feature engineering applied: Gaming_Hours_Category, Sleep_State, Spend_Category, Total_Spent. Visualizations generated for correlation analysis.</a:t>
            </a:r>
          </a:p>
        </p:txBody>
      </p:sp>
      <p:sp>
        <p:nvSpPr>
          <p:cNvPr name="TextBox 18" id="18"/>
          <p:cNvSpPr txBox="true"/>
          <p:nvPr/>
        </p:nvSpPr>
        <p:spPr>
          <a:xfrm rot="0">
            <a:off x="12354691" y="5043183"/>
            <a:ext cx="4598047" cy="1860376"/>
          </a:xfrm>
          <a:prstGeom prst="rect">
            <a:avLst/>
          </a:prstGeom>
        </p:spPr>
        <p:txBody>
          <a:bodyPr anchor="t" rtlCol="false" tIns="0" lIns="0" bIns="0" rIns="0">
            <a:spAutoFit/>
          </a:bodyPr>
          <a:lstStyle/>
          <a:p>
            <a:pPr algn="just" marL="0" indent="0" lvl="0">
              <a:lnSpc>
                <a:spcPts val="2984"/>
              </a:lnSpc>
              <a:spcBef>
                <a:spcPct val="0"/>
              </a:spcBef>
            </a:pPr>
            <a:r>
              <a:rPr lang="en-US" sz="2131">
                <a:solidFill>
                  <a:srgbClr val="FFFFFF"/>
                </a:solidFill>
                <a:latin typeface="Poppins"/>
                <a:ea typeface="Poppins"/>
                <a:cs typeface="Poppins"/>
                <a:sym typeface="Poppins"/>
              </a:rPr>
              <a:t>Interactive dashboards built in Tableau with slicers and drill-downs. Power BI KPI cards and filters applied for final analytical reporting and insights delivery.</a:t>
            </a:r>
          </a:p>
        </p:txBody>
      </p:sp>
      <p:grpSp>
        <p:nvGrpSpPr>
          <p:cNvPr name="Group 19" id="19"/>
          <p:cNvGrpSpPr/>
          <p:nvPr/>
        </p:nvGrpSpPr>
        <p:grpSpPr>
          <a:xfrm rot="0">
            <a:off x="6842896" y="3583392"/>
            <a:ext cx="4598047" cy="1159467"/>
            <a:chOff x="0" y="0"/>
            <a:chExt cx="1211008" cy="305374"/>
          </a:xfrm>
        </p:grpSpPr>
        <p:sp>
          <p:nvSpPr>
            <p:cNvPr name="Freeform 20" id="20"/>
            <p:cNvSpPr/>
            <p:nvPr/>
          </p:nvSpPr>
          <p:spPr>
            <a:xfrm flipH="false" flipV="false" rot="0">
              <a:off x="0" y="0"/>
              <a:ext cx="1211008" cy="305374"/>
            </a:xfrm>
            <a:custGeom>
              <a:avLst/>
              <a:gdLst/>
              <a:ahLst/>
              <a:cxnLst/>
              <a:rect r="r" b="b" t="t" l="l"/>
              <a:pathLst>
                <a:path h="305374" w="1211008">
                  <a:moveTo>
                    <a:pt x="52196" y="0"/>
                  </a:moveTo>
                  <a:lnTo>
                    <a:pt x="1158812" y="0"/>
                  </a:lnTo>
                  <a:cubicBezTo>
                    <a:pt x="1187639" y="0"/>
                    <a:pt x="1211008" y="23369"/>
                    <a:pt x="1211008" y="52196"/>
                  </a:cubicBezTo>
                  <a:lnTo>
                    <a:pt x="1211008" y="253178"/>
                  </a:lnTo>
                  <a:cubicBezTo>
                    <a:pt x="1211008" y="282005"/>
                    <a:pt x="1187639" y="305374"/>
                    <a:pt x="1158812" y="305374"/>
                  </a:cubicBezTo>
                  <a:lnTo>
                    <a:pt x="52196" y="305374"/>
                  </a:lnTo>
                  <a:cubicBezTo>
                    <a:pt x="38353" y="305374"/>
                    <a:pt x="25076" y="299875"/>
                    <a:pt x="15288" y="290086"/>
                  </a:cubicBezTo>
                  <a:cubicBezTo>
                    <a:pt x="5499" y="280297"/>
                    <a:pt x="0" y="267021"/>
                    <a:pt x="0" y="253178"/>
                  </a:cubicBezTo>
                  <a:lnTo>
                    <a:pt x="0" y="52196"/>
                  </a:lnTo>
                  <a:cubicBezTo>
                    <a:pt x="0" y="23369"/>
                    <a:pt x="23369" y="0"/>
                    <a:pt x="52196" y="0"/>
                  </a:cubicBezTo>
                  <a:close/>
                </a:path>
              </a:pathLst>
            </a:custGeom>
            <a:solidFill>
              <a:srgbClr val="4119FF"/>
            </a:solidFill>
          </p:spPr>
        </p:sp>
        <p:sp>
          <p:nvSpPr>
            <p:cNvPr name="TextBox 21" id="21"/>
            <p:cNvSpPr txBox="true"/>
            <p:nvPr/>
          </p:nvSpPr>
          <p:spPr>
            <a:xfrm>
              <a:off x="0" y="-66675"/>
              <a:ext cx="1211008" cy="372049"/>
            </a:xfrm>
            <a:prstGeom prst="rect">
              <a:avLst/>
            </a:prstGeom>
          </p:spPr>
          <p:txBody>
            <a:bodyPr anchor="ctr" rtlCol="false" tIns="50800" lIns="50800" bIns="50800" rIns="50800"/>
            <a:lstStyle/>
            <a:p>
              <a:pPr algn="ctr" marL="0" indent="0" lvl="0">
                <a:lnSpc>
                  <a:spcPts val="3499"/>
                </a:lnSpc>
              </a:pPr>
            </a:p>
          </p:txBody>
        </p:sp>
      </p:grpSp>
      <p:sp>
        <p:nvSpPr>
          <p:cNvPr name="TextBox 22" id="22"/>
          <p:cNvSpPr txBox="true"/>
          <p:nvPr/>
        </p:nvSpPr>
        <p:spPr>
          <a:xfrm rot="0">
            <a:off x="7497044" y="3909126"/>
            <a:ext cx="3289750" cy="441370"/>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FFFFFF"/>
                </a:solidFill>
                <a:latin typeface="Poppins Bold"/>
                <a:ea typeface="Poppins Bold"/>
                <a:cs typeface="Poppins Bold"/>
                <a:sym typeface="Poppins Bold"/>
              </a:rPr>
              <a:t>Python</a:t>
            </a:r>
          </a:p>
        </p:txBody>
      </p:sp>
      <p:grpSp>
        <p:nvGrpSpPr>
          <p:cNvPr name="Group 23" id="23"/>
          <p:cNvGrpSpPr/>
          <p:nvPr/>
        </p:nvGrpSpPr>
        <p:grpSpPr>
          <a:xfrm rot="0">
            <a:off x="12358266" y="3583392"/>
            <a:ext cx="4598047" cy="1159467"/>
            <a:chOff x="0" y="0"/>
            <a:chExt cx="1211008" cy="305374"/>
          </a:xfrm>
        </p:grpSpPr>
        <p:sp>
          <p:nvSpPr>
            <p:cNvPr name="Freeform 24" id="24"/>
            <p:cNvSpPr/>
            <p:nvPr/>
          </p:nvSpPr>
          <p:spPr>
            <a:xfrm flipH="false" flipV="false" rot="0">
              <a:off x="0" y="0"/>
              <a:ext cx="1211008" cy="305374"/>
            </a:xfrm>
            <a:custGeom>
              <a:avLst/>
              <a:gdLst/>
              <a:ahLst/>
              <a:cxnLst/>
              <a:rect r="r" b="b" t="t" l="l"/>
              <a:pathLst>
                <a:path h="305374" w="1211008">
                  <a:moveTo>
                    <a:pt x="52196" y="0"/>
                  </a:moveTo>
                  <a:lnTo>
                    <a:pt x="1158812" y="0"/>
                  </a:lnTo>
                  <a:cubicBezTo>
                    <a:pt x="1187639" y="0"/>
                    <a:pt x="1211008" y="23369"/>
                    <a:pt x="1211008" y="52196"/>
                  </a:cubicBezTo>
                  <a:lnTo>
                    <a:pt x="1211008" y="253178"/>
                  </a:lnTo>
                  <a:cubicBezTo>
                    <a:pt x="1211008" y="282005"/>
                    <a:pt x="1187639" y="305374"/>
                    <a:pt x="1158812" y="305374"/>
                  </a:cubicBezTo>
                  <a:lnTo>
                    <a:pt x="52196" y="305374"/>
                  </a:lnTo>
                  <a:cubicBezTo>
                    <a:pt x="38353" y="305374"/>
                    <a:pt x="25076" y="299875"/>
                    <a:pt x="15288" y="290086"/>
                  </a:cubicBezTo>
                  <a:cubicBezTo>
                    <a:pt x="5499" y="280297"/>
                    <a:pt x="0" y="267021"/>
                    <a:pt x="0" y="253178"/>
                  </a:cubicBezTo>
                  <a:lnTo>
                    <a:pt x="0" y="52196"/>
                  </a:lnTo>
                  <a:cubicBezTo>
                    <a:pt x="0" y="23369"/>
                    <a:pt x="23369" y="0"/>
                    <a:pt x="52196" y="0"/>
                  </a:cubicBezTo>
                  <a:close/>
                </a:path>
              </a:pathLst>
            </a:custGeom>
            <a:solidFill>
              <a:srgbClr val="4119FF"/>
            </a:solidFill>
          </p:spPr>
        </p:sp>
        <p:sp>
          <p:nvSpPr>
            <p:cNvPr name="TextBox 25" id="25"/>
            <p:cNvSpPr txBox="true"/>
            <p:nvPr/>
          </p:nvSpPr>
          <p:spPr>
            <a:xfrm>
              <a:off x="0" y="-66675"/>
              <a:ext cx="1211008" cy="372049"/>
            </a:xfrm>
            <a:prstGeom prst="rect">
              <a:avLst/>
            </a:prstGeom>
          </p:spPr>
          <p:txBody>
            <a:bodyPr anchor="ctr" rtlCol="false" tIns="50800" lIns="50800" bIns="50800" rIns="50800"/>
            <a:lstStyle/>
            <a:p>
              <a:pPr algn="ctr" marL="0" indent="0" lvl="0">
                <a:lnSpc>
                  <a:spcPts val="3499"/>
                </a:lnSpc>
              </a:pPr>
            </a:p>
          </p:txBody>
        </p:sp>
      </p:grpSp>
      <p:sp>
        <p:nvSpPr>
          <p:cNvPr name="TextBox 26" id="26"/>
          <p:cNvSpPr txBox="true"/>
          <p:nvPr/>
        </p:nvSpPr>
        <p:spPr>
          <a:xfrm rot="0">
            <a:off x="13012414" y="3909126"/>
            <a:ext cx="3289750" cy="441370"/>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FFFFFF"/>
                </a:solidFill>
                <a:latin typeface="Poppins Bold"/>
                <a:ea typeface="Poppins Bold"/>
                <a:cs typeface="Poppins Bold"/>
                <a:sym typeface="Poppins Bold"/>
              </a:rPr>
              <a:t>Tableau → Power BI</a:t>
            </a:r>
          </a:p>
        </p:txBody>
      </p:sp>
      <p:grpSp>
        <p:nvGrpSpPr>
          <p:cNvPr name="Group 27" id="27"/>
          <p:cNvGrpSpPr/>
          <p:nvPr/>
        </p:nvGrpSpPr>
        <p:grpSpPr>
          <a:xfrm rot="0">
            <a:off x="0" y="-25475"/>
            <a:ext cx="18288000" cy="2166846"/>
            <a:chOff x="0" y="0"/>
            <a:chExt cx="24384000" cy="2889128"/>
          </a:xfrm>
        </p:grpSpPr>
        <p:sp>
          <p:nvSpPr>
            <p:cNvPr name="Freeform 28" id="28"/>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2"/>
              <a:stretch>
                <a:fillRect l="0" t="0" r="0" b="0"/>
              </a:stretch>
            </a:blipFill>
          </p:spPr>
        </p:sp>
        <p:sp>
          <p:nvSpPr>
            <p:cNvPr name="Freeform 29" id="29"/>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3"/>
              <a:stretch>
                <a:fillRect l="0" t="0" r="0" b="0"/>
              </a:stretch>
            </a:blipFill>
          </p:spPr>
        </p:sp>
        <p:sp>
          <p:nvSpPr>
            <p:cNvPr name="Freeform 30" id="30"/>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4"/>
              <a:stretch>
                <a:fillRect l="-12904" t="-12015" r="-11867" b="-12757"/>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166801" y="5675865"/>
            <a:ext cx="2090865" cy="923782"/>
          </a:xfrm>
          <a:custGeom>
            <a:avLst/>
            <a:gdLst/>
            <a:ahLst/>
            <a:cxnLst/>
            <a:rect r="r" b="b" t="t" l="l"/>
            <a:pathLst>
              <a:path h="923782" w="2090865">
                <a:moveTo>
                  <a:pt x="0" y="0"/>
                </a:moveTo>
                <a:lnTo>
                  <a:pt x="2090865" y="0"/>
                </a:lnTo>
                <a:lnTo>
                  <a:pt x="2090865" y="923782"/>
                </a:lnTo>
                <a:lnTo>
                  <a:pt x="0" y="923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0738" y="3338768"/>
            <a:ext cx="1162257" cy="1162257"/>
          </a:xfrm>
          <a:custGeom>
            <a:avLst/>
            <a:gdLst/>
            <a:ahLst/>
            <a:cxnLst/>
            <a:rect r="r" b="b" t="t" l="l"/>
            <a:pathLst>
              <a:path h="1162257" w="1162257">
                <a:moveTo>
                  <a:pt x="0" y="0"/>
                </a:moveTo>
                <a:lnTo>
                  <a:pt x="1162257" y="0"/>
                </a:lnTo>
                <a:lnTo>
                  <a:pt x="1162257" y="1162256"/>
                </a:lnTo>
                <a:lnTo>
                  <a:pt x="0" y="1162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24220" y="4009005"/>
            <a:ext cx="10733446"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Motivation</a:t>
            </a:r>
            <a:r>
              <a:rPr lang="en-US" sz="9200" b="true">
                <a:solidFill>
                  <a:srgbClr val="FFFFFF"/>
                </a:solidFill>
                <a:latin typeface="Canva Sans Bold"/>
                <a:ea typeface="Canva Sans Bold"/>
                <a:cs typeface="Canva Sans Bold"/>
                <a:sym typeface="Canva Sans Bold"/>
              </a:rPr>
              <a:t> </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6"/>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7"/>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8"/>
              <a:stretch>
                <a:fillRect l="-12904" t="-12015" r="-11867" b="-12757"/>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TextBox 2" id="2"/>
          <p:cNvSpPr txBox="true"/>
          <p:nvPr/>
        </p:nvSpPr>
        <p:spPr>
          <a:xfrm rot="0">
            <a:off x="5483220" y="1733989"/>
            <a:ext cx="7321560" cy="1193925"/>
          </a:xfrm>
          <a:prstGeom prst="rect">
            <a:avLst/>
          </a:prstGeom>
        </p:spPr>
        <p:txBody>
          <a:bodyPr anchor="t" rtlCol="false" tIns="0" lIns="0" bIns="0" rIns="0">
            <a:spAutoFit/>
          </a:bodyPr>
          <a:lstStyle/>
          <a:p>
            <a:pPr algn="ctr" marL="0" indent="0" lvl="0">
              <a:lnSpc>
                <a:spcPts val="9793"/>
              </a:lnSpc>
              <a:spcBef>
                <a:spcPct val="0"/>
              </a:spcBef>
            </a:pPr>
            <a:r>
              <a:rPr lang="en-US" b="true" sz="6995">
                <a:solidFill>
                  <a:srgbClr val="FFFFFF"/>
                </a:solidFill>
                <a:latin typeface="Tex Gyre Termes Bold"/>
                <a:ea typeface="Tex Gyre Termes Bold"/>
                <a:cs typeface="Tex Gyre Termes Bold"/>
                <a:sym typeface="Tex Gyre Termes Bold"/>
              </a:rPr>
              <a:t>The mo</a:t>
            </a:r>
            <a:r>
              <a:rPr lang="en-US" b="true" sz="6995">
                <a:solidFill>
                  <a:srgbClr val="FFFFFF"/>
                </a:solidFill>
                <a:latin typeface="Tex Gyre Termes Bold"/>
                <a:ea typeface="Tex Gyre Termes Bold"/>
                <a:cs typeface="Tex Gyre Termes Bold"/>
                <a:sym typeface="Tex Gyre Termes Bold"/>
              </a:rPr>
              <a:t>tivation </a:t>
            </a:r>
          </a:p>
        </p:txBody>
      </p:sp>
      <p:grpSp>
        <p:nvGrpSpPr>
          <p:cNvPr name="Group 3" id="3"/>
          <p:cNvGrpSpPr/>
          <p:nvPr/>
        </p:nvGrpSpPr>
        <p:grpSpPr>
          <a:xfrm rot="0">
            <a:off x="0" y="-25475"/>
            <a:ext cx="18288000" cy="2166846"/>
            <a:chOff x="0" y="0"/>
            <a:chExt cx="24384000" cy="2889128"/>
          </a:xfrm>
        </p:grpSpPr>
        <p:sp>
          <p:nvSpPr>
            <p:cNvPr name="Freeform 4" id="4"/>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2"/>
              <a:stretch>
                <a:fillRect l="0" t="0" r="0" b="0"/>
              </a:stretch>
            </a:blipFill>
          </p:spPr>
        </p:sp>
        <p:sp>
          <p:nvSpPr>
            <p:cNvPr name="Freeform 5" id="5"/>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3"/>
              <a:stretch>
                <a:fillRect l="0" t="0" r="0" b="0"/>
              </a:stretch>
            </a:blipFill>
          </p:spPr>
        </p:sp>
        <p:sp>
          <p:nvSpPr>
            <p:cNvPr name="Freeform 6" id="6"/>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4"/>
              <a:stretch>
                <a:fillRect l="-12904" t="-12015" r="-11867" b="-12757"/>
              </a:stretch>
            </a:blipFill>
          </p:spPr>
        </p:sp>
      </p:grpSp>
      <p:sp>
        <p:nvSpPr>
          <p:cNvPr name="TextBox 7" id="7"/>
          <p:cNvSpPr txBox="true"/>
          <p:nvPr/>
        </p:nvSpPr>
        <p:spPr>
          <a:xfrm rot="0">
            <a:off x="838924" y="4100409"/>
            <a:ext cx="17449076" cy="1830053"/>
          </a:xfrm>
          <a:prstGeom prst="rect">
            <a:avLst/>
          </a:prstGeom>
        </p:spPr>
        <p:txBody>
          <a:bodyPr anchor="t" rtlCol="false" tIns="0" lIns="0" bIns="0" rIns="0">
            <a:spAutoFit/>
          </a:bodyPr>
          <a:lstStyle/>
          <a:p>
            <a:pPr algn="l">
              <a:lnSpc>
                <a:spcPts val="3605"/>
              </a:lnSpc>
              <a:spcBef>
                <a:spcPct val="0"/>
              </a:spcBef>
            </a:pPr>
            <a:r>
              <a:rPr lang="en-US" sz="2575">
                <a:solidFill>
                  <a:srgbClr val="FFFFFF"/>
                </a:solidFill>
                <a:latin typeface="Poppins"/>
                <a:ea typeface="Poppins"/>
                <a:cs typeface="Poppins"/>
                <a:sym typeface="Poppins"/>
              </a:rPr>
              <a:t>behind this project is the increasing popularity of video games and the growing importance of mental health in today's society. By applying data analysis techniques, we aim to understand how different gaming habits relate to mental health indicators and present the findings through interactive dashboards that simplify data interpretation.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166801" y="5675865"/>
            <a:ext cx="2090865" cy="923782"/>
          </a:xfrm>
          <a:custGeom>
            <a:avLst/>
            <a:gdLst/>
            <a:ahLst/>
            <a:cxnLst/>
            <a:rect r="r" b="b" t="t" l="l"/>
            <a:pathLst>
              <a:path h="923782" w="2090865">
                <a:moveTo>
                  <a:pt x="0" y="0"/>
                </a:moveTo>
                <a:lnTo>
                  <a:pt x="2090865" y="0"/>
                </a:lnTo>
                <a:lnTo>
                  <a:pt x="2090865" y="923782"/>
                </a:lnTo>
                <a:lnTo>
                  <a:pt x="0" y="923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0738" y="3338768"/>
            <a:ext cx="1162257" cy="1162257"/>
          </a:xfrm>
          <a:custGeom>
            <a:avLst/>
            <a:gdLst/>
            <a:ahLst/>
            <a:cxnLst/>
            <a:rect r="r" b="b" t="t" l="l"/>
            <a:pathLst>
              <a:path h="1162257" w="1162257">
                <a:moveTo>
                  <a:pt x="0" y="0"/>
                </a:moveTo>
                <a:lnTo>
                  <a:pt x="1162257" y="0"/>
                </a:lnTo>
                <a:lnTo>
                  <a:pt x="1162257" y="1162256"/>
                </a:lnTo>
                <a:lnTo>
                  <a:pt x="0" y="1162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24220" y="4009005"/>
            <a:ext cx="10733446"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Excel</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6"/>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7"/>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8"/>
              <a:stretch>
                <a:fillRect l="-12904" t="-12015" r="-11867" b="-12757"/>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7881465" y="2984033"/>
            <a:ext cx="9971732" cy="5631176"/>
          </a:xfrm>
          <a:custGeom>
            <a:avLst/>
            <a:gdLst/>
            <a:ahLst/>
            <a:cxnLst/>
            <a:rect r="r" b="b" t="t" l="l"/>
            <a:pathLst>
              <a:path h="5631176" w="9971732">
                <a:moveTo>
                  <a:pt x="0" y="0"/>
                </a:moveTo>
                <a:lnTo>
                  <a:pt x="9971732" y="0"/>
                </a:lnTo>
                <a:lnTo>
                  <a:pt x="9971732" y="5631176"/>
                </a:lnTo>
                <a:lnTo>
                  <a:pt x="0" y="5631176"/>
                </a:lnTo>
                <a:lnTo>
                  <a:pt x="0" y="0"/>
                </a:lnTo>
                <a:close/>
              </a:path>
            </a:pathLst>
          </a:custGeom>
          <a:blipFill>
            <a:blip r:embed="rId3"/>
            <a:stretch>
              <a:fillRect l="0" t="0" r="-96188" b="-96188"/>
            </a:stretch>
          </a:blipFill>
        </p:spPr>
      </p:sp>
      <p:sp>
        <p:nvSpPr>
          <p:cNvPr name="TextBox 4" id="4"/>
          <p:cNvSpPr txBox="true"/>
          <p:nvPr/>
        </p:nvSpPr>
        <p:spPr>
          <a:xfrm rot="0">
            <a:off x="1335845" y="2595800"/>
            <a:ext cx="6679101" cy="919342"/>
          </a:xfrm>
          <a:prstGeom prst="rect">
            <a:avLst/>
          </a:prstGeom>
        </p:spPr>
        <p:txBody>
          <a:bodyPr anchor="t" rtlCol="false" tIns="0" lIns="0" bIns="0" rIns="0">
            <a:spAutoFit/>
          </a:bodyPr>
          <a:lstStyle/>
          <a:p>
            <a:pPr algn="l" marL="0" indent="0" lvl="0">
              <a:lnSpc>
                <a:spcPts val="6855"/>
              </a:lnSpc>
              <a:spcBef>
                <a:spcPct val="0"/>
              </a:spcBef>
            </a:pPr>
            <a:r>
              <a:rPr lang="en-US" sz="6995" strike="noStrike" u="none">
                <a:solidFill>
                  <a:srgbClr val="FFFFFF"/>
                </a:solidFill>
                <a:latin typeface="Tex Gyre Termes"/>
                <a:ea typeface="Tex Gyre Termes"/>
                <a:cs typeface="Tex Gyre Termes"/>
                <a:sym typeface="Tex Gyre Termes"/>
              </a:rPr>
              <a:t>Excel Work</a:t>
            </a:r>
          </a:p>
        </p:txBody>
      </p:sp>
      <p:sp>
        <p:nvSpPr>
          <p:cNvPr name="TextBox 5" id="5"/>
          <p:cNvSpPr txBox="true"/>
          <p:nvPr/>
        </p:nvSpPr>
        <p:spPr>
          <a:xfrm rot="0">
            <a:off x="572984" y="3967090"/>
            <a:ext cx="7086032" cy="4442788"/>
          </a:xfrm>
          <a:prstGeom prst="rect">
            <a:avLst/>
          </a:prstGeom>
        </p:spPr>
        <p:txBody>
          <a:bodyPr anchor="t" rtlCol="false" tIns="0" lIns="0" bIns="0" rIns="0">
            <a:spAutoFit/>
          </a:bodyPr>
          <a:lstStyle/>
          <a:p>
            <a:pPr algn="l">
              <a:lnSpc>
                <a:spcPts val="2396"/>
              </a:lnSpc>
            </a:pPr>
          </a:p>
          <a:p>
            <a:pPr algn="l" marL="369642" indent="-184821" lvl="1">
              <a:lnSpc>
                <a:spcPts val="2396"/>
              </a:lnSpc>
              <a:buFont typeface="Arial"/>
              <a:buChar char="•"/>
            </a:pPr>
            <a:r>
              <a:rPr lang="en-US" sz="1712">
                <a:solidFill>
                  <a:srgbClr val="FFFFFF"/>
                </a:solidFill>
                <a:latin typeface="Poppins"/>
                <a:ea typeface="Poppins"/>
                <a:cs typeface="Poppins"/>
                <a:sym typeface="Poppins"/>
              </a:rPr>
              <a:t>Data Cleaning &amp; Preparation: Ensured 0% error and 0% empty values across all key fields before analysis began.</a:t>
            </a:r>
          </a:p>
          <a:p>
            <a:pPr algn="l">
              <a:lnSpc>
                <a:spcPts val="2396"/>
              </a:lnSpc>
            </a:pPr>
          </a:p>
          <a:p>
            <a:pPr algn="l" marL="369642" indent="-184821" lvl="1">
              <a:lnSpc>
                <a:spcPts val="2396"/>
              </a:lnSpc>
              <a:buFont typeface="Arial"/>
              <a:buChar char="•"/>
            </a:pPr>
            <a:r>
              <a:rPr lang="en-US" sz="1712">
                <a:solidFill>
                  <a:srgbClr val="FFFFFF"/>
                </a:solidFill>
                <a:latin typeface="Poppins"/>
                <a:ea typeface="Poppins"/>
                <a:cs typeface="Poppins"/>
                <a:sym typeface="Poppins"/>
              </a:rPr>
              <a:t>Feature Engineering: Built statistically-driven categories (Spend_Category, Gaming_Hours_Category) and composite risk indicators (Physical_Pain) using Power Query.</a:t>
            </a:r>
          </a:p>
          <a:p>
            <a:pPr algn="l">
              <a:lnSpc>
                <a:spcPts val="2396"/>
              </a:lnSpc>
            </a:pPr>
          </a:p>
          <a:p>
            <a:pPr algn="l" marL="369642" indent="-184821" lvl="1">
              <a:lnSpc>
                <a:spcPts val="2396"/>
              </a:lnSpc>
              <a:buFont typeface="Arial"/>
              <a:buChar char="•"/>
            </a:pPr>
            <a:r>
              <a:rPr lang="en-US" sz="1712">
                <a:solidFill>
                  <a:srgbClr val="FFFFFF"/>
                </a:solidFill>
                <a:latin typeface="Poppins"/>
                <a:ea typeface="Poppins"/>
                <a:cs typeface="Poppins"/>
                <a:sym typeface="Poppins"/>
              </a:rPr>
              <a:t>Data </a:t>
            </a:r>
            <a:r>
              <a:rPr lang="en-US" sz="1712">
                <a:solidFill>
                  <a:srgbClr val="FFFFFF"/>
                </a:solidFill>
                <a:latin typeface="Poppins"/>
                <a:ea typeface="Poppins"/>
                <a:cs typeface="Poppins"/>
                <a:sym typeface="Poppins"/>
              </a:rPr>
              <a:t>Modeling: Structured a Star Schema with one fact table and six dimension tables to enable fast, connected filtering.</a:t>
            </a:r>
          </a:p>
          <a:p>
            <a:pPr algn="l">
              <a:lnSpc>
                <a:spcPts val="2396"/>
              </a:lnSpc>
            </a:pPr>
          </a:p>
          <a:p>
            <a:pPr algn="l" marL="369642" indent="-184821" lvl="1">
              <a:lnSpc>
                <a:spcPts val="2396"/>
              </a:lnSpc>
              <a:buFont typeface="Arial"/>
              <a:buChar char="•"/>
            </a:pPr>
            <a:r>
              <a:rPr lang="en-US" sz="1712">
                <a:solidFill>
                  <a:srgbClr val="FFFFFF"/>
                </a:solidFill>
                <a:latin typeface="Poppins"/>
                <a:ea typeface="Poppins"/>
                <a:cs typeface="Poppins"/>
                <a:sym typeface="Poppins"/>
              </a:rPr>
              <a:t>Dashboarding: Delivered three interactive modules — Player, Addiction, and HealthCare — fully synchronized via slicers.</a:t>
            </a:r>
          </a:p>
          <a:p>
            <a:pPr algn="l">
              <a:lnSpc>
                <a:spcPts val="2396"/>
              </a:lnSpc>
            </a:pPr>
          </a:p>
          <a:p>
            <a:pPr algn="l" marL="0" indent="0" lvl="0">
              <a:lnSpc>
                <a:spcPts val="2396"/>
              </a:lnSpc>
            </a:pP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8412080" y="2964289"/>
            <a:ext cx="9022837" cy="5594159"/>
          </a:xfrm>
          <a:custGeom>
            <a:avLst/>
            <a:gdLst/>
            <a:ahLst/>
            <a:cxnLst/>
            <a:rect r="r" b="b" t="t" l="l"/>
            <a:pathLst>
              <a:path h="5594159" w="9022837">
                <a:moveTo>
                  <a:pt x="0" y="0"/>
                </a:moveTo>
                <a:lnTo>
                  <a:pt x="9022836" y="0"/>
                </a:lnTo>
                <a:lnTo>
                  <a:pt x="9022836" y="5594158"/>
                </a:lnTo>
                <a:lnTo>
                  <a:pt x="0" y="5594158"/>
                </a:lnTo>
                <a:lnTo>
                  <a:pt x="0" y="0"/>
                </a:lnTo>
                <a:close/>
              </a:path>
            </a:pathLst>
          </a:custGeom>
          <a:blipFill>
            <a:blip r:embed="rId3"/>
            <a:stretch>
              <a:fillRect l="0" t="0" r="0" b="0"/>
            </a:stretch>
          </a:blipFill>
        </p:spPr>
      </p:sp>
      <p:sp>
        <p:nvSpPr>
          <p:cNvPr name="TextBox 4" id="4"/>
          <p:cNvSpPr txBox="true"/>
          <p:nvPr/>
        </p:nvSpPr>
        <p:spPr>
          <a:xfrm rot="0">
            <a:off x="1335845" y="2595800"/>
            <a:ext cx="6679101" cy="919342"/>
          </a:xfrm>
          <a:prstGeom prst="rect">
            <a:avLst/>
          </a:prstGeom>
        </p:spPr>
        <p:txBody>
          <a:bodyPr anchor="t" rtlCol="false" tIns="0" lIns="0" bIns="0" rIns="0">
            <a:spAutoFit/>
          </a:bodyPr>
          <a:lstStyle/>
          <a:p>
            <a:pPr algn="l" marL="0" indent="0" lvl="0">
              <a:lnSpc>
                <a:spcPts val="6855"/>
              </a:lnSpc>
              <a:spcBef>
                <a:spcPct val="0"/>
              </a:spcBef>
            </a:pPr>
            <a:r>
              <a:rPr lang="en-US" sz="6995" strike="noStrike" u="none">
                <a:solidFill>
                  <a:srgbClr val="FFFFFF"/>
                </a:solidFill>
                <a:latin typeface="Tex Gyre Termes"/>
                <a:ea typeface="Tex Gyre Termes"/>
                <a:cs typeface="Tex Gyre Termes"/>
                <a:sym typeface="Tex Gyre Termes"/>
              </a:rPr>
              <a:t>Excel Work</a:t>
            </a:r>
          </a:p>
        </p:txBody>
      </p:sp>
      <p:sp>
        <p:nvSpPr>
          <p:cNvPr name="TextBox 5" id="5"/>
          <p:cNvSpPr txBox="true"/>
          <p:nvPr/>
        </p:nvSpPr>
        <p:spPr>
          <a:xfrm rot="0">
            <a:off x="1516583" y="5187074"/>
            <a:ext cx="6172556" cy="1194763"/>
          </a:xfrm>
          <a:prstGeom prst="rect">
            <a:avLst/>
          </a:prstGeom>
        </p:spPr>
        <p:txBody>
          <a:bodyPr anchor="t" rtlCol="false" tIns="0" lIns="0" bIns="0" rIns="0">
            <a:spAutoFit/>
          </a:bodyPr>
          <a:lstStyle/>
          <a:p>
            <a:pPr algn="l" marL="0" indent="0" lvl="0">
              <a:lnSpc>
                <a:spcPts val="2396"/>
              </a:lnSpc>
            </a:pPr>
            <a:r>
              <a:rPr lang="en-US" sz="1712">
                <a:solidFill>
                  <a:srgbClr val="FFFFFF"/>
                </a:solidFill>
                <a:latin typeface="Poppins"/>
                <a:ea typeface="Poppins"/>
                <a:cs typeface="Poppins"/>
                <a:sym typeface="Poppins"/>
              </a:rPr>
              <a:t>created a new column that categorizes players into "Student," "Worker," or "Working_Student" based on their GPA and productivity scores to better understand player demographics.</a:t>
            </a:r>
          </a:p>
        </p:txBody>
      </p:sp>
      <p:sp>
        <p:nvSpPr>
          <p:cNvPr name="TextBox 6" id="6"/>
          <p:cNvSpPr txBox="true"/>
          <p:nvPr/>
        </p:nvSpPr>
        <p:spPr>
          <a:xfrm rot="0">
            <a:off x="1061867" y="4209186"/>
            <a:ext cx="6679101" cy="398145"/>
          </a:xfrm>
          <a:prstGeom prst="rect">
            <a:avLst/>
          </a:prstGeom>
        </p:spPr>
        <p:txBody>
          <a:bodyPr anchor="t" rtlCol="false" tIns="0" lIns="0" bIns="0" rIns="0">
            <a:spAutoFit/>
          </a:bodyPr>
          <a:lstStyle/>
          <a:p>
            <a:pPr algn="l" marL="0" indent="0" lvl="0">
              <a:lnSpc>
                <a:spcPts val="2940"/>
              </a:lnSpc>
              <a:spcBef>
                <a:spcPct val="0"/>
              </a:spcBef>
            </a:pPr>
            <a:r>
              <a:rPr lang="en-US" sz="3000">
                <a:solidFill>
                  <a:srgbClr val="FFFFFF"/>
                </a:solidFill>
                <a:latin typeface="Tex Gyre Termes"/>
                <a:ea typeface="Tex Gyre Termes"/>
                <a:cs typeface="Tex Gyre Termes"/>
                <a:sym typeface="Tex Gyre Termes"/>
              </a:rPr>
              <a:t>F</a:t>
            </a:r>
            <a:r>
              <a:rPr lang="en-US" sz="3000" strike="noStrike" u="none">
                <a:solidFill>
                  <a:srgbClr val="FFFFFF"/>
                </a:solidFill>
                <a:latin typeface="Tex Gyre Termes"/>
                <a:ea typeface="Tex Gyre Termes"/>
                <a:cs typeface="Tex Gyre Termes"/>
                <a:sym typeface="Tex Gyre Termes"/>
              </a:rPr>
              <a:t>eature Engineering:</a:t>
            </a:r>
          </a:p>
        </p:txBody>
      </p:sp>
      <p:sp>
        <p:nvSpPr>
          <p:cNvPr name="TextBox 7" id="7"/>
          <p:cNvSpPr txBox="true"/>
          <p:nvPr/>
        </p:nvSpPr>
        <p:spPr>
          <a:xfrm rot="0">
            <a:off x="1061867" y="4209186"/>
            <a:ext cx="6679101" cy="769620"/>
          </a:xfrm>
          <a:prstGeom prst="rect">
            <a:avLst/>
          </a:prstGeom>
        </p:spPr>
        <p:txBody>
          <a:bodyPr anchor="t" rtlCol="false" tIns="0" lIns="0" bIns="0" rIns="0">
            <a:spAutoFit/>
          </a:bodyPr>
          <a:lstStyle/>
          <a:p>
            <a:pPr algn="l" marL="0" indent="0" lvl="0">
              <a:lnSpc>
                <a:spcPts val="2940"/>
              </a:lnSpc>
              <a:spcBef>
                <a:spcPct val="0"/>
              </a:spcBef>
            </a:pPr>
            <a:r>
              <a:rPr lang="en-US" sz="3000">
                <a:solidFill>
                  <a:srgbClr val="FFFFFF"/>
                </a:solidFill>
                <a:latin typeface="Tex Gyre Termes"/>
                <a:ea typeface="Tex Gyre Termes"/>
                <a:cs typeface="Tex Gyre Termes"/>
                <a:sym typeface="Tex Gyre Termes"/>
              </a:rPr>
              <a:t>F</a:t>
            </a:r>
            <a:r>
              <a:rPr lang="en-US" sz="3000" strike="noStrike" u="none">
                <a:solidFill>
                  <a:srgbClr val="FFFFFF"/>
                </a:solidFill>
                <a:latin typeface="Tex Gyre Termes"/>
                <a:ea typeface="Tex Gyre Termes"/>
                <a:cs typeface="Tex Gyre Termes"/>
                <a:sym typeface="Tex Gyre Termes"/>
              </a:rPr>
              <a:t>eature Engineering &amp; Data Transformation:</a:t>
            </a:r>
          </a:p>
        </p:txBody>
      </p:sp>
      <p:grpSp>
        <p:nvGrpSpPr>
          <p:cNvPr name="Group 8" id="8"/>
          <p:cNvGrpSpPr/>
          <p:nvPr/>
        </p:nvGrpSpPr>
        <p:grpSpPr>
          <a:xfrm rot="0">
            <a:off x="0" y="-25475"/>
            <a:ext cx="18288000" cy="2166846"/>
            <a:chOff x="0" y="0"/>
            <a:chExt cx="24384000" cy="2889128"/>
          </a:xfrm>
        </p:grpSpPr>
        <p:sp>
          <p:nvSpPr>
            <p:cNvPr name="Freeform 9" id="9"/>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10" id="10"/>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11" id="11"/>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8070113" y="3105553"/>
            <a:ext cx="8925074" cy="5599039"/>
          </a:xfrm>
          <a:custGeom>
            <a:avLst/>
            <a:gdLst/>
            <a:ahLst/>
            <a:cxnLst/>
            <a:rect r="r" b="b" t="t" l="l"/>
            <a:pathLst>
              <a:path h="5599039" w="8925074">
                <a:moveTo>
                  <a:pt x="0" y="0"/>
                </a:moveTo>
                <a:lnTo>
                  <a:pt x="8925074" y="0"/>
                </a:lnTo>
                <a:lnTo>
                  <a:pt x="8925074" y="5599039"/>
                </a:lnTo>
                <a:lnTo>
                  <a:pt x="0" y="5599039"/>
                </a:lnTo>
                <a:lnTo>
                  <a:pt x="0" y="0"/>
                </a:lnTo>
                <a:close/>
              </a:path>
            </a:pathLst>
          </a:custGeom>
          <a:blipFill>
            <a:blip r:embed="rId3"/>
            <a:stretch>
              <a:fillRect l="0" t="0" r="0" b="0"/>
            </a:stretch>
          </a:blipFill>
        </p:spPr>
      </p:sp>
      <p:sp>
        <p:nvSpPr>
          <p:cNvPr name="TextBox 4" id="4"/>
          <p:cNvSpPr txBox="true"/>
          <p:nvPr/>
        </p:nvSpPr>
        <p:spPr>
          <a:xfrm rot="0">
            <a:off x="1335845" y="2595800"/>
            <a:ext cx="6679101" cy="919342"/>
          </a:xfrm>
          <a:prstGeom prst="rect">
            <a:avLst/>
          </a:prstGeom>
        </p:spPr>
        <p:txBody>
          <a:bodyPr anchor="t" rtlCol="false" tIns="0" lIns="0" bIns="0" rIns="0">
            <a:spAutoFit/>
          </a:bodyPr>
          <a:lstStyle/>
          <a:p>
            <a:pPr algn="l" marL="0" indent="0" lvl="0">
              <a:lnSpc>
                <a:spcPts val="6855"/>
              </a:lnSpc>
              <a:spcBef>
                <a:spcPct val="0"/>
              </a:spcBef>
            </a:pPr>
            <a:r>
              <a:rPr lang="en-US" sz="6995" strike="noStrike" u="none">
                <a:solidFill>
                  <a:srgbClr val="FFFFFF"/>
                </a:solidFill>
                <a:latin typeface="Tex Gyre Termes"/>
                <a:ea typeface="Tex Gyre Termes"/>
                <a:cs typeface="Tex Gyre Termes"/>
                <a:sym typeface="Tex Gyre Termes"/>
              </a:rPr>
              <a:t>Excel Work</a:t>
            </a:r>
          </a:p>
        </p:txBody>
      </p:sp>
      <p:sp>
        <p:nvSpPr>
          <p:cNvPr name="TextBox 5" id="5"/>
          <p:cNvSpPr txBox="true"/>
          <p:nvPr/>
        </p:nvSpPr>
        <p:spPr>
          <a:xfrm rot="0">
            <a:off x="1516583" y="5187074"/>
            <a:ext cx="6172556" cy="899488"/>
          </a:xfrm>
          <a:prstGeom prst="rect">
            <a:avLst/>
          </a:prstGeom>
        </p:spPr>
        <p:txBody>
          <a:bodyPr anchor="t" rtlCol="false" tIns="0" lIns="0" bIns="0" rIns="0">
            <a:spAutoFit/>
          </a:bodyPr>
          <a:lstStyle/>
          <a:p>
            <a:pPr algn="l" marL="0" indent="0" lvl="0">
              <a:lnSpc>
                <a:spcPts val="2396"/>
              </a:lnSpc>
            </a:pPr>
            <a:r>
              <a:rPr lang="en-US" sz="1712">
                <a:solidFill>
                  <a:srgbClr val="FFFFFF"/>
                </a:solidFill>
                <a:latin typeface="Poppins"/>
                <a:ea typeface="Poppins"/>
                <a:cs typeface="Poppins"/>
                <a:sym typeface="Poppins"/>
              </a:rPr>
              <a:t>S</a:t>
            </a:r>
            <a:r>
              <a:rPr lang="en-US" sz="1712">
                <a:solidFill>
                  <a:srgbClr val="FFFFFF"/>
                </a:solidFill>
                <a:latin typeface="Poppins"/>
                <a:ea typeface="Poppins"/>
                <a:cs typeface="Poppins"/>
                <a:sym typeface="Poppins"/>
              </a:rPr>
              <a:t>egmented players into spending tiers (Low, Mid, High, Very High) using statistical measures like Average and Standard Deviation to identify high-value segments.</a:t>
            </a:r>
          </a:p>
        </p:txBody>
      </p:sp>
      <p:sp>
        <p:nvSpPr>
          <p:cNvPr name="TextBox 6" id="6"/>
          <p:cNvSpPr txBox="true"/>
          <p:nvPr/>
        </p:nvSpPr>
        <p:spPr>
          <a:xfrm rot="0">
            <a:off x="1061867" y="4209186"/>
            <a:ext cx="6679101" cy="398145"/>
          </a:xfrm>
          <a:prstGeom prst="rect">
            <a:avLst/>
          </a:prstGeom>
        </p:spPr>
        <p:txBody>
          <a:bodyPr anchor="t" rtlCol="false" tIns="0" lIns="0" bIns="0" rIns="0">
            <a:spAutoFit/>
          </a:bodyPr>
          <a:lstStyle/>
          <a:p>
            <a:pPr algn="l" marL="0" indent="0" lvl="0">
              <a:lnSpc>
                <a:spcPts val="2940"/>
              </a:lnSpc>
              <a:spcBef>
                <a:spcPct val="0"/>
              </a:spcBef>
            </a:pPr>
            <a:r>
              <a:rPr lang="en-US" sz="3000">
                <a:solidFill>
                  <a:srgbClr val="FFFFFF"/>
                </a:solidFill>
                <a:latin typeface="Tex Gyre Termes"/>
                <a:ea typeface="Tex Gyre Termes"/>
                <a:cs typeface="Tex Gyre Termes"/>
                <a:sym typeface="Tex Gyre Termes"/>
              </a:rPr>
              <a:t>F</a:t>
            </a:r>
            <a:r>
              <a:rPr lang="en-US" sz="3000" strike="noStrike" u="none">
                <a:solidFill>
                  <a:srgbClr val="FFFFFF"/>
                </a:solidFill>
                <a:latin typeface="Tex Gyre Termes"/>
                <a:ea typeface="Tex Gyre Termes"/>
                <a:cs typeface="Tex Gyre Termes"/>
                <a:sym typeface="Tex Gyre Termes"/>
              </a:rPr>
              <a:t>eature Engineering:</a:t>
            </a:r>
          </a:p>
        </p:txBody>
      </p:sp>
      <p:sp>
        <p:nvSpPr>
          <p:cNvPr name="TextBox 7" id="7"/>
          <p:cNvSpPr txBox="true"/>
          <p:nvPr/>
        </p:nvSpPr>
        <p:spPr>
          <a:xfrm rot="0">
            <a:off x="1061867" y="4209186"/>
            <a:ext cx="6679101" cy="769620"/>
          </a:xfrm>
          <a:prstGeom prst="rect">
            <a:avLst/>
          </a:prstGeom>
        </p:spPr>
        <p:txBody>
          <a:bodyPr anchor="t" rtlCol="false" tIns="0" lIns="0" bIns="0" rIns="0">
            <a:spAutoFit/>
          </a:bodyPr>
          <a:lstStyle/>
          <a:p>
            <a:pPr algn="l" marL="0" indent="0" lvl="0">
              <a:lnSpc>
                <a:spcPts val="2940"/>
              </a:lnSpc>
              <a:spcBef>
                <a:spcPct val="0"/>
              </a:spcBef>
            </a:pPr>
            <a:r>
              <a:rPr lang="en-US" sz="3000">
                <a:solidFill>
                  <a:srgbClr val="FFFFFF"/>
                </a:solidFill>
                <a:latin typeface="Tex Gyre Termes"/>
                <a:ea typeface="Tex Gyre Termes"/>
                <a:cs typeface="Tex Gyre Termes"/>
                <a:sym typeface="Tex Gyre Termes"/>
              </a:rPr>
              <a:t>F</a:t>
            </a:r>
            <a:r>
              <a:rPr lang="en-US" sz="3000" strike="noStrike" u="none">
                <a:solidFill>
                  <a:srgbClr val="FFFFFF"/>
                </a:solidFill>
                <a:latin typeface="Tex Gyre Termes"/>
                <a:ea typeface="Tex Gyre Termes"/>
                <a:cs typeface="Tex Gyre Termes"/>
                <a:sym typeface="Tex Gyre Termes"/>
              </a:rPr>
              <a:t>eature Engineering &amp; Data Transformation:</a:t>
            </a:r>
          </a:p>
        </p:txBody>
      </p:sp>
      <p:grpSp>
        <p:nvGrpSpPr>
          <p:cNvPr name="Group 8" id="8"/>
          <p:cNvGrpSpPr/>
          <p:nvPr/>
        </p:nvGrpSpPr>
        <p:grpSpPr>
          <a:xfrm rot="0">
            <a:off x="0" y="-25475"/>
            <a:ext cx="18288000" cy="2166846"/>
            <a:chOff x="0" y="0"/>
            <a:chExt cx="24384000" cy="2889128"/>
          </a:xfrm>
        </p:grpSpPr>
        <p:sp>
          <p:nvSpPr>
            <p:cNvPr name="Freeform 9" id="9"/>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10" id="10"/>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11" id="11"/>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8317606" y="2867093"/>
            <a:ext cx="8941694" cy="5596600"/>
          </a:xfrm>
          <a:custGeom>
            <a:avLst/>
            <a:gdLst/>
            <a:ahLst/>
            <a:cxnLst/>
            <a:rect r="r" b="b" t="t" l="l"/>
            <a:pathLst>
              <a:path h="5596600" w="8941694">
                <a:moveTo>
                  <a:pt x="0" y="0"/>
                </a:moveTo>
                <a:lnTo>
                  <a:pt x="8941694" y="0"/>
                </a:lnTo>
                <a:lnTo>
                  <a:pt x="8941694" y="5596600"/>
                </a:lnTo>
                <a:lnTo>
                  <a:pt x="0" y="5596600"/>
                </a:lnTo>
                <a:lnTo>
                  <a:pt x="0" y="0"/>
                </a:lnTo>
                <a:close/>
              </a:path>
            </a:pathLst>
          </a:custGeom>
          <a:blipFill>
            <a:blip r:embed="rId3"/>
            <a:stretch>
              <a:fillRect l="0" t="0" r="0" b="0"/>
            </a:stretch>
          </a:blipFill>
        </p:spPr>
      </p:sp>
      <p:sp>
        <p:nvSpPr>
          <p:cNvPr name="TextBox 4" id="4"/>
          <p:cNvSpPr txBox="true"/>
          <p:nvPr/>
        </p:nvSpPr>
        <p:spPr>
          <a:xfrm rot="0">
            <a:off x="1335845" y="2595800"/>
            <a:ext cx="6679101" cy="919342"/>
          </a:xfrm>
          <a:prstGeom prst="rect">
            <a:avLst/>
          </a:prstGeom>
        </p:spPr>
        <p:txBody>
          <a:bodyPr anchor="t" rtlCol="false" tIns="0" lIns="0" bIns="0" rIns="0">
            <a:spAutoFit/>
          </a:bodyPr>
          <a:lstStyle/>
          <a:p>
            <a:pPr algn="l" marL="0" indent="0" lvl="0">
              <a:lnSpc>
                <a:spcPts val="6855"/>
              </a:lnSpc>
              <a:spcBef>
                <a:spcPct val="0"/>
              </a:spcBef>
            </a:pPr>
            <a:r>
              <a:rPr lang="en-US" sz="6995" strike="noStrike" u="none">
                <a:solidFill>
                  <a:srgbClr val="FFFFFF"/>
                </a:solidFill>
                <a:latin typeface="Tex Gyre Termes"/>
                <a:ea typeface="Tex Gyre Termes"/>
                <a:cs typeface="Tex Gyre Termes"/>
                <a:sym typeface="Tex Gyre Termes"/>
              </a:rPr>
              <a:t>Excel Work</a:t>
            </a:r>
          </a:p>
        </p:txBody>
      </p:sp>
      <p:sp>
        <p:nvSpPr>
          <p:cNvPr name="TextBox 5" id="5"/>
          <p:cNvSpPr txBox="true"/>
          <p:nvPr/>
        </p:nvSpPr>
        <p:spPr>
          <a:xfrm rot="0">
            <a:off x="1516583" y="5187074"/>
            <a:ext cx="6172556" cy="899488"/>
          </a:xfrm>
          <a:prstGeom prst="rect">
            <a:avLst/>
          </a:prstGeom>
        </p:spPr>
        <p:txBody>
          <a:bodyPr anchor="t" rtlCol="false" tIns="0" lIns="0" bIns="0" rIns="0">
            <a:spAutoFit/>
          </a:bodyPr>
          <a:lstStyle/>
          <a:p>
            <a:pPr algn="l" marL="0" indent="0" lvl="0">
              <a:lnSpc>
                <a:spcPts val="2396"/>
              </a:lnSpc>
            </a:pPr>
            <a:r>
              <a:rPr lang="en-US" sz="1712">
                <a:solidFill>
                  <a:srgbClr val="FFFFFF"/>
                </a:solidFill>
                <a:latin typeface="Poppins"/>
                <a:ea typeface="Poppins"/>
                <a:cs typeface="Poppins"/>
                <a:sym typeface="Poppins"/>
              </a:rPr>
              <a:t>Cat</a:t>
            </a:r>
            <a:r>
              <a:rPr lang="en-US" sz="1712">
                <a:solidFill>
                  <a:srgbClr val="FFFFFF"/>
                </a:solidFill>
                <a:latin typeface="Poppins"/>
                <a:ea typeface="Poppins"/>
                <a:cs typeface="Poppins"/>
                <a:sym typeface="Poppins"/>
              </a:rPr>
              <a:t>egorized players based on daily gaming duration intensity, allowing for deeper analysis of gaming habits and potential addiction risks.</a:t>
            </a:r>
          </a:p>
        </p:txBody>
      </p:sp>
      <p:sp>
        <p:nvSpPr>
          <p:cNvPr name="TextBox 6" id="6"/>
          <p:cNvSpPr txBox="true"/>
          <p:nvPr/>
        </p:nvSpPr>
        <p:spPr>
          <a:xfrm rot="0">
            <a:off x="1061867" y="4209186"/>
            <a:ext cx="6679101" cy="769620"/>
          </a:xfrm>
          <a:prstGeom prst="rect">
            <a:avLst/>
          </a:prstGeom>
        </p:spPr>
        <p:txBody>
          <a:bodyPr anchor="t" rtlCol="false" tIns="0" lIns="0" bIns="0" rIns="0">
            <a:spAutoFit/>
          </a:bodyPr>
          <a:lstStyle/>
          <a:p>
            <a:pPr algn="l" marL="0" indent="0" lvl="0">
              <a:lnSpc>
                <a:spcPts val="2940"/>
              </a:lnSpc>
              <a:spcBef>
                <a:spcPct val="0"/>
              </a:spcBef>
            </a:pPr>
            <a:r>
              <a:rPr lang="en-US" sz="3000">
                <a:solidFill>
                  <a:srgbClr val="FFFFFF"/>
                </a:solidFill>
                <a:latin typeface="Tex Gyre Termes"/>
                <a:ea typeface="Tex Gyre Termes"/>
                <a:cs typeface="Tex Gyre Termes"/>
                <a:sym typeface="Tex Gyre Termes"/>
              </a:rPr>
              <a:t>F</a:t>
            </a:r>
            <a:r>
              <a:rPr lang="en-US" sz="3000" strike="noStrike" u="none">
                <a:solidFill>
                  <a:srgbClr val="FFFFFF"/>
                </a:solidFill>
                <a:latin typeface="Tex Gyre Termes"/>
                <a:ea typeface="Tex Gyre Termes"/>
                <a:cs typeface="Tex Gyre Termes"/>
                <a:sym typeface="Tex Gyre Termes"/>
              </a:rPr>
              <a:t>eature Engineering &amp; Data Transformation:</a:t>
            </a:r>
          </a:p>
        </p:txBody>
      </p:sp>
      <p:grpSp>
        <p:nvGrpSpPr>
          <p:cNvPr name="Group 7" id="7"/>
          <p:cNvGrpSpPr/>
          <p:nvPr/>
        </p:nvGrpSpPr>
        <p:grpSpPr>
          <a:xfrm rot="0">
            <a:off x="0" y="-25475"/>
            <a:ext cx="18288000" cy="2166846"/>
            <a:chOff x="0" y="0"/>
            <a:chExt cx="24384000" cy="2889128"/>
          </a:xfrm>
        </p:grpSpPr>
        <p:sp>
          <p:nvSpPr>
            <p:cNvPr name="Freeform 8" id="8"/>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9" id="9"/>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10" id="10"/>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1061867" y="2354021"/>
            <a:ext cx="13425642" cy="6830295"/>
          </a:xfrm>
          <a:custGeom>
            <a:avLst/>
            <a:gdLst/>
            <a:ahLst/>
            <a:cxnLst/>
            <a:rect r="r" b="b" t="t" l="l"/>
            <a:pathLst>
              <a:path h="6830295" w="13425642">
                <a:moveTo>
                  <a:pt x="0" y="0"/>
                </a:moveTo>
                <a:lnTo>
                  <a:pt x="13425642" y="0"/>
                </a:lnTo>
                <a:lnTo>
                  <a:pt x="13425642" y="6830296"/>
                </a:lnTo>
                <a:lnTo>
                  <a:pt x="0" y="6830296"/>
                </a:lnTo>
                <a:lnTo>
                  <a:pt x="0" y="0"/>
                </a:lnTo>
                <a:close/>
              </a:path>
            </a:pathLst>
          </a:custGeom>
          <a:blipFill>
            <a:blip r:embed="rId3"/>
            <a:stretch>
              <a:fillRect l="0" t="0" r="0" b="0"/>
            </a:stretch>
          </a:blipFill>
        </p:spPr>
      </p:sp>
      <p:sp>
        <p:nvSpPr>
          <p:cNvPr name="TextBox 4" id="4"/>
          <p:cNvSpPr txBox="true"/>
          <p:nvPr/>
        </p:nvSpPr>
        <p:spPr>
          <a:xfrm rot="0">
            <a:off x="4162742" y="400696"/>
            <a:ext cx="9962516" cy="919342"/>
          </a:xfrm>
          <a:prstGeom prst="rect">
            <a:avLst/>
          </a:prstGeom>
        </p:spPr>
        <p:txBody>
          <a:bodyPr anchor="t" rtlCol="false" tIns="0" lIns="0" bIns="0" rIns="0">
            <a:spAutoFit/>
          </a:bodyPr>
          <a:lstStyle/>
          <a:p>
            <a:pPr algn="ctr" marL="0" indent="0" lvl="0">
              <a:lnSpc>
                <a:spcPts val="6855"/>
              </a:lnSpc>
              <a:spcBef>
                <a:spcPct val="0"/>
              </a:spcBef>
            </a:pPr>
            <a:r>
              <a:rPr lang="en-US" sz="6995">
                <a:solidFill>
                  <a:srgbClr val="FFFFFF"/>
                </a:solidFill>
                <a:latin typeface="Tex Gyre Termes"/>
                <a:ea typeface="Tex Gyre Termes"/>
                <a:cs typeface="Tex Gyre Termes"/>
                <a:sym typeface="Tex Gyre Termes"/>
              </a:rPr>
              <a:t>Dashboard Using Excel</a:t>
            </a:r>
          </a:p>
        </p:txBody>
      </p:sp>
      <p:sp>
        <p:nvSpPr>
          <p:cNvPr name="TextBox 5" id="5"/>
          <p:cNvSpPr txBox="true"/>
          <p:nvPr/>
        </p:nvSpPr>
        <p:spPr>
          <a:xfrm rot="0">
            <a:off x="4391918" y="1488955"/>
            <a:ext cx="9504164" cy="400298"/>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Player Dashboard — Who plays, what they play, and what it costs</a:t>
            </a:r>
          </a:p>
        </p:txBody>
      </p:sp>
      <p:sp>
        <p:nvSpPr>
          <p:cNvPr name="TextBox 6" id="6"/>
          <p:cNvSpPr txBox="true"/>
          <p:nvPr/>
        </p:nvSpPr>
        <p:spPr>
          <a:xfrm rot="0">
            <a:off x="14379536" y="4559370"/>
            <a:ext cx="3428099" cy="2352923"/>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Demographics, game preferences, spending by genre, and the gaming-hours-vs-productivity relationship.</a:t>
            </a:r>
          </a:p>
        </p:txBody>
      </p:sp>
      <p:grpSp>
        <p:nvGrpSpPr>
          <p:cNvPr name="Group 7" id="7"/>
          <p:cNvGrpSpPr/>
          <p:nvPr/>
        </p:nvGrpSpPr>
        <p:grpSpPr>
          <a:xfrm rot="0">
            <a:off x="0" y="-25475"/>
            <a:ext cx="18288000" cy="2166846"/>
            <a:chOff x="0" y="0"/>
            <a:chExt cx="24384000" cy="2889128"/>
          </a:xfrm>
        </p:grpSpPr>
        <p:sp>
          <p:nvSpPr>
            <p:cNvPr name="Freeform 8" id="8"/>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9" id="9"/>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10" id="10"/>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1041028" y="2354021"/>
            <a:ext cx="13084230" cy="6836510"/>
          </a:xfrm>
          <a:custGeom>
            <a:avLst/>
            <a:gdLst/>
            <a:ahLst/>
            <a:cxnLst/>
            <a:rect r="r" b="b" t="t" l="l"/>
            <a:pathLst>
              <a:path h="6836510" w="13084230">
                <a:moveTo>
                  <a:pt x="0" y="0"/>
                </a:moveTo>
                <a:lnTo>
                  <a:pt x="13084230" y="0"/>
                </a:lnTo>
                <a:lnTo>
                  <a:pt x="13084230" y="6836511"/>
                </a:lnTo>
                <a:lnTo>
                  <a:pt x="0" y="6836511"/>
                </a:lnTo>
                <a:lnTo>
                  <a:pt x="0" y="0"/>
                </a:lnTo>
                <a:close/>
              </a:path>
            </a:pathLst>
          </a:custGeom>
          <a:blipFill>
            <a:blip r:embed="rId3"/>
            <a:stretch>
              <a:fillRect l="0" t="0" r="0" b="0"/>
            </a:stretch>
          </a:blipFill>
        </p:spPr>
      </p:sp>
      <p:sp>
        <p:nvSpPr>
          <p:cNvPr name="TextBox 4" id="4"/>
          <p:cNvSpPr txBox="true"/>
          <p:nvPr/>
        </p:nvSpPr>
        <p:spPr>
          <a:xfrm rot="0">
            <a:off x="4162742" y="400696"/>
            <a:ext cx="9962516" cy="919342"/>
          </a:xfrm>
          <a:prstGeom prst="rect">
            <a:avLst/>
          </a:prstGeom>
        </p:spPr>
        <p:txBody>
          <a:bodyPr anchor="t" rtlCol="false" tIns="0" lIns="0" bIns="0" rIns="0">
            <a:spAutoFit/>
          </a:bodyPr>
          <a:lstStyle/>
          <a:p>
            <a:pPr algn="ctr" marL="0" indent="0" lvl="0">
              <a:lnSpc>
                <a:spcPts val="6855"/>
              </a:lnSpc>
              <a:spcBef>
                <a:spcPct val="0"/>
              </a:spcBef>
            </a:pPr>
            <a:r>
              <a:rPr lang="en-US" sz="6995">
                <a:solidFill>
                  <a:srgbClr val="FFFFFF"/>
                </a:solidFill>
                <a:latin typeface="Tex Gyre Termes"/>
                <a:ea typeface="Tex Gyre Termes"/>
                <a:cs typeface="Tex Gyre Termes"/>
                <a:sym typeface="Tex Gyre Termes"/>
              </a:rPr>
              <a:t>Dashboard Using Excel</a:t>
            </a:r>
          </a:p>
        </p:txBody>
      </p:sp>
      <p:sp>
        <p:nvSpPr>
          <p:cNvPr name="TextBox 5" id="5"/>
          <p:cNvSpPr txBox="true"/>
          <p:nvPr/>
        </p:nvSpPr>
        <p:spPr>
          <a:xfrm rot="0">
            <a:off x="3503712" y="1488955"/>
            <a:ext cx="11280577" cy="1181348"/>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Addiction</a:t>
            </a:r>
            <a:r>
              <a:rPr lang="en-US" b="true" sz="2240">
                <a:solidFill>
                  <a:srgbClr val="FFFFFF"/>
                </a:solidFill>
                <a:latin typeface="Poppins Bold"/>
                <a:ea typeface="Poppins Bold"/>
                <a:cs typeface="Poppins Bold"/>
                <a:sym typeface="Poppins Bold"/>
              </a:rPr>
              <a:t> Dashboard — How gaming risk affects mood, money, and social life</a:t>
            </a:r>
          </a:p>
          <a:p>
            <a:pPr algn="ctr">
              <a:lnSpc>
                <a:spcPts val="3136"/>
              </a:lnSpc>
              <a:spcBef>
                <a:spcPct val="0"/>
              </a:spcBef>
            </a:pPr>
          </a:p>
          <a:p>
            <a:pPr algn="ctr">
              <a:lnSpc>
                <a:spcPts val="3136"/>
              </a:lnSpc>
              <a:spcBef>
                <a:spcPct val="0"/>
              </a:spcBef>
            </a:pPr>
          </a:p>
        </p:txBody>
      </p:sp>
      <p:sp>
        <p:nvSpPr>
          <p:cNvPr name="TextBox 6" id="6"/>
          <p:cNvSpPr txBox="true"/>
          <p:nvPr/>
        </p:nvSpPr>
        <p:spPr>
          <a:xfrm rot="0">
            <a:off x="14236245" y="3933701"/>
            <a:ext cx="3428099" cy="2352923"/>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Addicti</a:t>
            </a:r>
            <a:r>
              <a:rPr lang="en-US" b="true" sz="2240">
                <a:solidFill>
                  <a:srgbClr val="FFFFFF"/>
                </a:solidFill>
                <a:latin typeface="Poppins Bold"/>
                <a:ea typeface="Poppins Bold"/>
                <a:cs typeface="Poppins Bold"/>
                <a:sym typeface="Poppins Bold"/>
              </a:rPr>
              <a:t>on risk by age group, spending by mood state, and its impact on face-to-face interaction.</a:t>
            </a:r>
          </a:p>
          <a:p>
            <a:pPr algn="ctr">
              <a:lnSpc>
                <a:spcPts val="3136"/>
              </a:lnSpc>
              <a:spcBef>
                <a:spcPct val="0"/>
              </a:spcBef>
            </a:pPr>
          </a:p>
        </p:txBody>
      </p:sp>
      <p:grpSp>
        <p:nvGrpSpPr>
          <p:cNvPr name="Group 7" id="7"/>
          <p:cNvGrpSpPr/>
          <p:nvPr/>
        </p:nvGrpSpPr>
        <p:grpSpPr>
          <a:xfrm rot="0">
            <a:off x="0" y="-25475"/>
            <a:ext cx="18288000" cy="2166846"/>
            <a:chOff x="0" y="0"/>
            <a:chExt cx="24384000" cy="2889128"/>
          </a:xfrm>
        </p:grpSpPr>
        <p:sp>
          <p:nvSpPr>
            <p:cNvPr name="Freeform 8" id="8"/>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9" id="9"/>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10" id="10"/>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1061513" y="2626852"/>
            <a:ext cx="13084230" cy="6681135"/>
          </a:xfrm>
          <a:custGeom>
            <a:avLst/>
            <a:gdLst/>
            <a:ahLst/>
            <a:cxnLst/>
            <a:rect r="r" b="b" t="t" l="l"/>
            <a:pathLst>
              <a:path h="6681135" w="13084230">
                <a:moveTo>
                  <a:pt x="0" y="0"/>
                </a:moveTo>
                <a:lnTo>
                  <a:pt x="13084230" y="0"/>
                </a:lnTo>
                <a:lnTo>
                  <a:pt x="13084230" y="6681135"/>
                </a:lnTo>
                <a:lnTo>
                  <a:pt x="0" y="6681135"/>
                </a:lnTo>
                <a:lnTo>
                  <a:pt x="0" y="0"/>
                </a:lnTo>
                <a:close/>
              </a:path>
            </a:pathLst>
          </a:custGeom>
          <a:blipFill>
            <a:blip r:embed="rId3"/>
            <a:stretch>
              <a:fillRect l="0" t="0" r="0" b="0"/>
            </a:stretch>
          </a:blipFill>
        </p:spPr>
      </p:sp>
      <p:sp>
        <p:nvSpPr>
          <p:cNvPr name="TextBox 4" id="4"/>
          <p:cNvSpPr txBox="true"/>
          <p:nvPr/>
        </p:nvSpPr>
        <p:spPr>
          <a:xfrm rot="0">
            <a:off x="4162742" y="400696"/>
            <a:ext cx="9962516" cy="919342"/>
          </a:xfrm>
          <a:prstGeom prst="rect">
            <a:avLst/>
          </a:prstGeom>
        </p:spPr>
        <p:txBody>
          <a:bodyPr anchor="t" rtlCol="false" tIns="0" lIns="0" bIns="0" rIns="0">
            <a:spAutoFit/>
          </a:bodyPr>
          <a:lstStyle/>
          <a:p>
            <a:pPr algn="ctr" marL="0" indent="0" lvl="0">
              <a:lnSpc>
                <a:spcPts val="6855"/>
              </a:lnSpc>
              <a:spcBef>
                <a:spcPct val="0"/>
              </a:spcBef>
            </a:pPr>
            <a:r>
              <a:rPr lang="en-US" sz="6995">
                <a:solidFill>
                  <a:srgbClr val="FFFFFF"/>
                </a:solidFill>
                <a:latin typeface="Tex Gyre Termes"/>
                <a:ea typeface="Tex Gyre Termes"/>
                <a:cs typeface="Tex Gyre Termes"/>
                <a:sym typeface="Tex Gyre Termes"/>
              </a:rPr>
              <a:t>Dashboard Using Excel</a:t>
            </a:r>
          </a:p>
        </p:txBody>
      </p:sp>
      <p:sp>
        <p:nvSpPr>
          <p:cNvPr name="TextBox 5" id="5"/>
          <p:cNvSpPr txBox="true"/>
          <p:nvPr/>
        </p:nvSpPr>
        <p:spPr>
          <a:xfrm rot="0">
            <a:off x="4720010" y="1488955"/>
            <a:ext cx="8847981" cy="1181348"/>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Hea</a:t>
            </a:r>
            <a:r>
              <a:rPr lang="en-US" b="true" sz="2240">
                <a:solidFill>
                  <a:srgbClr val="FFFFFF"/>
                </a:solidFill>
                <a:latin typeface="Poppins Bold"/>
                <a:ea typeface="Poppins Bold"/>
                <a:cs typeface="Poppins Bold"/>
                <a:sym typeface="Poppins Bold"/>
              </a:rPr>
              <a:t>lthCare Dashboard — The physical cost of gaming habits</a:t>
            </a:r>
          </a:p>
          <a:p>
            <a:pPr algn="ctr">
              <a:lnSpc>
                <a:spcPts val="3136"/>
              </a:lnSpc>
              <a:spcBef>
                <a:spcPct val="0"/>
              </a:spcBef>
            </a:pPr>
          </a:p>
          <a:p>
            <a:pPr algn="ctr">
              <a:lnSpc>
                <a:spcPts val="3136"/>
              </a:lnSpc>
              <a:spcBef>
                <a:spcPct val="0"/>
              </a:spcBef>
            </a:pPr>
          </a:p>
        </p:txBody>
      </p:sp>
      <p:sp>
        <p:nvSpPr>
          <p:cNvPr name="TextBox 6" id="6"/>
          <p:cNvSpPr txBox="true"/>
          <p:nvPr/>
        </p:nvSpPr>
        <p:spPr>
          <a:xfrm rot="0">
            <a:off x="14236245" y="3933701"/>
            <a:ext cx="3428099" cy="1962398"/>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Sl</a:t>
            </a:r>
            <a:r>
              <a:rPr lang="en-US" b="true" sz="2240">
                <a:solidFill>
                  <a:srgbClr val="FFFFFF"/>
                </a:solidFill>
                <a:latin typeface="Poppins Bold"/>
                <a:ea typeface="Poppins Bold"/>
                <a:cs typeface="Poppins Bold"/>
                <a:sym typeface="Poppins Bold"/>
              </a:rPr>
              <a:t>eep quality, exercise levels, and physical pain risk linked to daily gaming hours.</a:t>
            </a:r>
          </a:p>
          <a:p>
            <a:pPr algn="ctr">
              <a:lnSpc>
                <a:spcPts val="3136"/>
              </a:lnSpc>
              <a:spcBef>
                <a:spcPct val="0"/>
              </a:spcBef>
            </a:pPr>
          </a:p>
        </p:txBody>
      </p:sp>
      <p:grpSp>
        <p:nvGrpSpPr>
          <p:cNvPr name="Group 7" id="7"/>
          <p:cNvGrpSpPr/>
          <p:nvPr/>
        </p:nvGrpSpPr>
        <p:grpSpPr>
          <a:xfrm rot="0">
            <a:off x="0" y="-25475"/>
            <a:ext cx="18288000" cy="2166846"/>
            <a:chOff x="0" y="0"/>
            <a:chExt cx="24384000" cy="2889128"/>
          </a:xfrm>
        </p:grpSpPr>
        <p:sp>
          <p:nvSpPr>
            <p:cNvPr name="Freeform 8" id="8"/>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9" id="9"/>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10" id="10"/>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869491" y="3800152"/>
            <a:ext cx="7601871" cy="3563377"/>
          </a:xfrm>
          <a:custGeom>
            <a:avLst/>
            <a:gdLst/>
            <a:ahLst/>
            <a:cxnLst/>
            <a:rect r="r" b="b" t="t" l="l"/>
            <a:pathLst>
              <a:path h="3563377" w="7601871">
                <a:moveTo>
                  <a:pt x="0" y="0"/>
                </a:moveTo>
                <a:lnTo>
                  <a:pt x="7601871" y="0"/>
                </a:lnTo>
                <a:lnTo>
                  <a:pt x="7601871" y="3563377"/>
                </a:lnTo>
                <a:lnTo>
                  <a:pt x="0" y="3563377"/>
                </a:lnTo>
                <a:lnTo>
                  <a:pt x="0" y="0"/>
                </a:lnTo>
                <a:close/>
              </a:path>
            </a:pathLst>
          </a:custGeom>
          <a:blipFill>
            <a:blip r:embed="rId2"/>
            <a:stretch>
              <a:fillRect l="0" t="0" r="0" b="0"/>
            </a:stretch>
          </a:blipFill>
        </p:spPr>
      </p:sp>
      <p:sp>
        <p:nvSpPr>
          <p:cNvPr name="TextBox 3" id="3"/>
          <p:cNvSpPr txBox="true"/>
          <p:nvPr/>
        </p:nvSpPr>
        <p:spPr>
          <a:xfrm rot="0">
            <a:off x="4752213" y="913712"/>
            <a:ext cx="8783574" cy="1193925"/>
          </a:xfrm>
          <a:prstGeom prst="rect">
            <a:avLst/>
          </a:prstGeom>
        </p:spPr>
        <p:txBody>
          <a:bodyPr anchor="t" rtlCol="false" tIns="0" lIns="0" bIns="0" rIns="0">
            <a:spAutoFit/>
          </a:bodyPr>
          <a:lstStyle/>
          <a:p>
            <a:pPr algn="ctr"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Excel Insights</a:t>
            </a:r>
          </a:p>
        </p:txBody>
      </p:sp>
      <p:sp>
        <p:nvSpPr>
          <p:cNvPr name="TextBox 4" id="4"/>
          <p:cNvSpPr txBox="true"/>
          <p:nvPr/>
        </p:nvSpPr>
        <p:spPr>
          <a:xfrm rot="0">
            <a:off x="9593821" y="4250819"/>
            <a:ext cx="7883933" cy="2352923"/>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Productivity does not decline steadily as gaming hours increase. Instead, it rises through the mid-range of gaming hours before tapering off at both extremes — contradicting the simple assumption that "more gaming always means lower productivity."</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2042987" y="2573331"/>
            <a:ext cx="6175578" cy="3074186"/>
          </a:xfrm>
          <a:custGeom>
            <a:avLst/>
            <a:gdLst/>
            <a:ahLst/>
            <a:cxnLst/>
            <a:rect r="r" b="b" t="t" l="l"/>
            <a:pathLst>
              <a:path h="3074186" w="6175578">
                <a:moveTo>
                  <a:pt x="0" y="0"/>
                </a:moveTo>
                <a:lnTo>
                  <a:pt x="6175578" y="0"/>
                </a:lnTo>
                <a:lnTo>
                  <a:pt x="6175578" y="3074187"/>
                </a:lnTo>
                <a:lnTo>
                  <a:pt x="0" y="3074187"/>
                </a:lnTo>
                <a:lnTo>
                  <a:pt x="0" y="0"/>
                </a:lnTo>
                <a:close/>
              </a:path>
            </a:pathLst>
          </a:custGeom>
          <a:blipFill>
            <a:blip r:embed="rId2"/>
            <a:stretch>
              <a:fillRect l="0" t="0" r="0" b="0"/>
            </a:stretch>
          </a:blipFill>
        </p:spPr>
      </p:sp>
      <p:sp>
        <p:nvSpPr>
          <p:cNvPr name="Freeform 3" id="3"/>
          <p:cNvSpPr/>
          <p:nvPr/>
        </p:nvSpPr>
        <p:spPr>
          <a:xfrm flipH="false" flipV="false" rot="0">
            <a:off x="9551994" y="5829967"/>
            <a:ext cx="7707306" cy="3428333"/>
          </a:xfrm>
          <a:custGeom>
            <a:avLst/>
            <a:gdLst/>
            <a:ahLst/>
            <a:cxnLst/>
            <a:rect r="r" b="b" t="t" l="l"/>
            <a:pathLst>
              <a:path h="3428333" w="7707306">
                <a:moveTo>
                  <a:pt x="0" y="0"/>
                </a:moveTo>
                <a:lnTo>
                  <a:pt x="7707306" y="0"/>
                </a:lnTo>
                <a:lnTo>
                  <a:pt x="7707306" y="3428333"/>
                </a:lnTo>
                <a:lnTo>
                  <a:pt x="0" y="3428333"/>
                </a:lnTo>
                <a:lnTo>
                  <a:pt x="0" y="0"/>
                </a:lnTo>
                <a:close/>
              </a:path>
            </a:pathLst>
          </a:custGeom>
          <a:blipFill>
            <a:blip r:embed="rId3"/>
            <a:stretch>
              <a:fillRect l="0" t="0" r="0" b="0"/>
            </a:stretch>
          </a:blipFill>
        </p:spPr>
      </p:sp>
      <p:sp>
        <p:nvSpPr>
          <p:cNvPr name="TextBox 4" id="4"/>
          <p:cNvSpPr txBox="true"/>
          <p:nvPr/>
        </p:nvSpPr>
        <p:spPr>
          <a:xfrm rot="0">
            <a:off x="4752213" y="1096611"/>
            <a:ext cx="8783574" cy="1193925"/>
          </a:xfrm>
          <a:prstGeom prst="rect">
            <a:avLst/>
          </a:prstGeom>
        </p:spPr>
        <p:txBody>
          <a:bodyPr anchor="t" rtlCol="false" tIns="0" lIns="0" bIns="0" rIns="0">
            <a:spAutoFit/>
          </a:bodyPr>
          <a:lstStyle/>
          <a:p>
            <a:pPr algn="ctr"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Excel Insights</a:t>
            </a:r>
          </a:p>
        </p:txBody>
      </p:sp>
      <p:sp>
        <p:nvSpPr>
          <p:cNvPr name="TextBox 5" id="5"/>
          <p:cNvSpPr txBox="true"/>
          <p:nvPr/>
        </p:nvSpPr>
        <p:spPr>
          <a:xfrm rot="0">
            <a:off x="543615" y="6686756"/>
            <a:ext cx="8600385" cy="1962398"/>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Young adults report the highest counts across every addiction-risk level, most notably in the Low-risk category (312 cases) — far exceeding both Teenagers and Adults. This identifies young adulthood as the life stage requiring the most attention in awareness efforts.</a:t>
            </a:r>
          </a:p>
        </p:txBody>
      </p:sp>
      <p:sp>
        <p:nvSpPr>
          <p:cNvPr name="TextBox 6" id="6"/>
          <p:cNvSpPr txBox="true"/>
          <p:nvPr/>
        </p:nvSpPr>
        <p:spPr>
          <a:xfrm rot="0">
            <a:off x="8641004" y="3045715"/>
            <a:ext cx="8027223" cy="1962398"/>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Spending rises sharply as mood shifts from positive to negative states. Players in an "Anxious" state spend up to 10.2k — more than three times what players in an "Excited" state spend (3.1k) — suggesting mood is a significant driver of monetization.</a:t>
            </a:r>
          </a:p>
        </p:txBody>
      </p:sp>
      <p:grpSp>
        <p:nvGrpSpPr>
          <p:cNvPr name="Group 7" id="7"/>
          <p:cNvGrpSpPr/>
          <p:nvPr/>
        </p:nvGrpSpPr>
        <p:grpSpPr>
          <a:xfrm rot="0">
            <a:off x="0" y="-25475"/>
            <a:ext cx="18288000" cy="2166846"/>
            <a:chOff x="0" y="0"/>
            <a:chExt cx="24384000" cy="2889128"/>
          </a:xfrm>
        </p:grpSpPr>
        <p:sp>
          <p:nvSpPr>
            <p:cNvPr name="Freeform 8" id="8"/>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9" id="9"/>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10" id="10"/>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809208" y="3074129"/>
            <a:ext cx="3066855" cy="3187770"/>
          </a:xfrm>
          <a:custGeom>
            <a:avLst/>
            <a:gdLst/>
            <a:ahLst/>
            <a:cxnLst/>
            <a:rect r="r" b="b" t="t" l="l"/>
            <a:pathLst>
              <a:path h="3187770" w="3066855">
                <a:moveTo>
                  <a:pt x="0" y="0"/>
                </a:moveTo>
                <a:lnTo>
                  <a:pt x="3066855" y="0"/>
                </a:lnTo>
                <a:lnTo>
                  <a:pt x="3066855" y="3187770"/>
                </a:lnTo>
                <a:lnTo>
                  <a:pt x="0" y="3187770"/>
                </a:lnTo>
                <a:lnTo>
                  <a:pt x="0" y="0"/>
                </a:lnTo>
                <a:close/>
              </a:path>
            </a:pathLst>
          </a:custGeom>
          <a:blipFill>
            <a:blip r:embed="rId2"/>
            <a:stretch>
              <a:fillRect l="0" t="0" r="0" b="0"/>
            </a:stretch>
          </a:blipFill>
        </p:spPr>
      </p:sp>
      <p:sp>
        <p:nvSpPr>
          <p:cNvPr name="TextBox 3" id="3"/>
          <p:cNvSpPr txBox="true"/>
          <p:nvPr/>
        </p:nvSpPr>
        <p:spPr>
          <a:xfrm rot="0">
            <a:off x="4752213" y="1594342"/>
            <a:ext cx="8783574" cy="1193925"/>
          </a:xfrm>
          <a:prstGeom prst="rect">
            <a:avLst/>
          </a:prstGeom>
        </p:spPr>
        <p:txBody>
          <a:bodyPr anchor="t" rtlCol="false" tIns="0" lIns="0" bIns="0" rIns="0">
            <a:spAutoFit/>
          </a:bodyPr>
          <a:lstStyle/>
          <a:p>
            <a:pPr algn="ctr"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Excel Insights</a:t>
            </a:r>
          </a:p>
        </p:txBody>
      </p:sp>
      <p:sp>
        <p:nvSpPr>
          <p:cNvPr name="TextBox 4" id="4"/>
          <p:cNvSpPr txBox="true"/>
          <p:nvPr/>
        </p:nvSpPr>
        <p:spPr>
          <a:xfrm rot="0">
            <a:off x="4000497" y="3653478"/>
            <a:ext cx="7991401" cy="1962398"/>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Only 20% of players fall into the "No Risk" category for physical pain. The remaining 80% report at least Moderate discomfort, with 43% classified as High Risk — indicating that physical strain affects the large majority of engaged players.</a:t>
            </a:r>
          </a:p>
        </p:txBody>
      </p:sp>
      <p:sp>
        <p:nvSpPr>
          <p:cNvPr name="Freeform 5" id="5"/>
          <p:cNvSpPr/>
          <p:nvPr/>
        </p:nvSpPr>
        <p:spPr>
          <a:xfrm flipH="false" flipV="false" rot="0">
            <a:off x="717942" y="6261899"/>
            <a:ext cx="6447210" cy="3404031"/>
          </a:xfrm>
          <a:custGeom>
            <a:avLst/>
            <a:gdLst/>
            <a:ahLst/>
            <a:cxnLst/>
            <a:rect r="r" b="b" t="t" l="l"/>
            <a:pathLst>
              <a:path h="3404031" w="6447210">
                <a:moveTo>
                  <a:pt x="0" y="0"/>
                </a:moveTo>
                <a:lnTo>
                  <a:pt x="6447210" y="0"/>
                </a:lnTo>
                <a:lnTo>
                  <a:pt x="6447210" y="3404031"/>
                </a:lnTo>
                <a:lnTo>
                  <a:pt x="0" y="3404031"/>
                </a:lnTo>
                <a:lnTo>
                  <a:pt x="0" y="0"/>
                </a:lnTo>
                <a:close/>
              </a:path>
            </a:pathLst>
          </a:custGeom>
          <a:blipFill>
            <a:blip r:embed="rId3"/>
            <a:stretch>
              <a:fillRect l="0" t="0" r="0" b="0"/>
            </a:stretch>
          </a:blipFill>
        </p:spPr>
      </p:sp>
      <p:sp>
        <p:nvSpPr>
          <p:cNvPr name="TextBox 6" id="6"/>
          <p:cNvSpPr txBox="true"/>
          <p:nvPr/>
        </p:nvSpPr>
        <p:spPr>
          <a:xfrm rot="0">
            <a:off x="7655882" y="6973337"/>
            <a:ext cx="8672030" cy="1962398"/>
          </a:xfrm>
          <a:prstGeom prst="rect">
            <a:avLst/>
          </a:prstGeom>
        </p:spPr>
        <p:txBody>
          <a:bodyPr anchor="t" rtlCol="false" tIns="0" lIns="0" bIns="0" rIns="0">
            <a:spAutoFit/>
          </a:bodyPr>
          <a:lstStyle/>
          <a:p>
            <a:pPr algn="ctr">
              <a:lnSpc>
                <a:spcPts val="3136"/>
              </a:lnSpc>
              <a:spcBef>
                <a:spcPct val="0"/>
              </a:spcBef>
            </a:pPr>
            <a:r>
              <a:rPr lang="en-US" b="true" sz="2240">
                <a:solidFill>
                  <a:srgbClr val="FFFFFF"/>
                </a:solidFill>
                <a:latin typeface="Poppins Bold"/>
                <a:ea typeface="Poppins Bold"/>
                <a:cs typeface="Poppins Bold"/>
                <a:sym typeface="Poppins Bold"/>
              </a:rPr>
              <a:t>Players classified as "Good" sleepers average 6.85 hours of sleep, while those labeled "Insomnia" or "Very Poor" average under 5 hours (4.75 and 4.88 respectively). This confirms the sleep-quality categories are grounded in real behavioral data, not arbitrary labels.</a:t>
            </a:r>
          </a:p>
        </p:txBody>
      </p:sp>
      <p:grpSp>
        <p:nvGrpSpPr>
          <p:cNvPr name="Group 7" id="7"/>
          <p:cNvGrpSpPr/>
          <p:nvPr/>
        </p:nvGrpSpPr>
        <p:grpSpPr>
          <a:xfrm rot="0">
            <a:off x="0" y="-25475"/>
            <a:ext cx="18288000" cy="2166846"/>
            <a:chOff x="0" y="0"/>
            <a:chExt cx="24384000" cy="2889128"/>
          </a:xfrm>
        </p:grpSpPr>
        <p:sp>
          <p:nvSpPr>
            <p:cNvPr name="Freeform 8" id="8"/>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9" id="9"/>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10" id="10"/>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166801" y="5675865"/>
            <a:ext cx="2090865" cy="923782"/>
          </a:xfrm>
          <a:custGeom>
            <a:avLst/>
            <a:gdLst/>
            <a:ahLst/>
            <a:cxnLst/>
            <a:rect r="r" b="b" t="t" l="l"/>
            <a:pathLst>
              <a:path h="923782" w="2090865">
                <a:moveTo>
                  <a:pt x="0" y="0"/>
                </a:moveTo>
                <a:lnTo>
                  <a:pt x="2090865" y="0"/>
                </a:lnTo>
                <a:lnTo>
                  <a:pt x="2090865" y="923782"/>
                </a:lnTo>
                <a:lnTo>
                  <a:pt x="0" y="923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0738" y="3338768"/>
            <a:ext cx="1162257" cy="1162257"/>
          </a:xfrm>
          <a:custGeom>
            <a:avLst/>
            <a:gdLst/>
            <a:ahLst/>
            <a:cxnLst/>
            <a:rect r="r" b="b" t="t" l="l"/>
            <a:pathLst>
              <a:path h="1162257" w="1162257">
                <a:moveTo>
                  <a:pt x="0" y="0"/>
                </a:moveTo>
                <a:lnTo>
                  <a:pt x="1162257" y="0"/>
                </a:lnTo>
                <a:lnTo>
                  <a:pt x="1162257" y="1162256"/>
                </a:lnTo>
                <a:lnTo>
                  <a:pt x="0" y="1162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24220" y="4009005"/>
            <a:ext cx="10733446"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SQL</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6"/>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7"/>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8"/>
              <a:stretch>
                <a:fillRect l="-12904" t="-12015" r="-11867" b="-12757"/>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256616"/>
            <a:ext cx="2173863" cy="2971863"/>
          </a:xfrm>
          <a:custGeom>
            <a:avLst/>
            <a:gdLst/>
            <a:ahLst/>
            <a:cxnLst/>
            <a:rect r="r" b="b" t="t" l="l"/>
            <a:pathLst>
              <a:path h="2971863" w="2173863">
                <a:moveTo>
                  <a:pt x="0" y="0"/>
                </a:moveTo>
                <a:lnTo>
                  <a:pt x="2173863" y="0"/>
                </a:lnTo>
                <a:lnTo>
                  <a:pt x="2173863" y="2971863"/>
                </a:lnTo>
                <a:lnTo>
                  <a:pt x="0" y="2971863"/>
                </a:lnTo>
                <a:lnTo>
                  <a:pt x="0" y="0"/>
                </a:lnTo>
                <a:close/>
              </a:path>
            </a:pathLst>
          </a:custGeom>
          <a:blipFill>
            <a:blip r:embed="rId2"/>
            <a:stretch>
              <a:fillRect l="0" t="0" r="0" b="0"/>
            </a:stretch>
          </a:blipFill>
        </p:spPr>
      </p:sp>
      <p:sp>
        <p:nvSpPr>
          <p:cNvPr name="Freeform 3" id="3"/>
          <p:cNvSpPr/>
          <p:nvPr/>
        </p:nvSpPr>
        <p:spPr>
          <a:xfrm flipH="false" flipV="false" rot="0">
            <a:off x="8411842" y="3382731"/>
            <a:ext cx="8066791" cy="5426750"/>
          </a:xfrm>
          <a:custGeom>
            <a:avLst/>
            <a:gdLst/>
            <a:ahLst/>
            <a:cxnLst/>
            <a:rect r="r" b="b" t="t" l="l"/>
            <a:pathLst>
              <a:path h="5426750" w="8066791">
                <a:moveTo>
                  <a:pt x="0" y="0"/>
                </a:moveTo>
                <a:lnTo>
                  <a:pt x="8066791" y="0"/>
                </a:lnTo>
                <a:lnTo>
                  <a:pt x="8066791" y="5426750"/>
                </a:lnTo>
                <a:lnTo>
                  <a:pt x="0" y="5426750"/>
                </a:lnTo>
                <a:lnTo>
                  <a:pt x="0" y="0"/>
                </a:lnTo>
                <a:close/>
              </a:path>
            </a:pathLst>
          </a:custGeom>
          <a:blipFill>
            <a:blip r:embed="rId3"/>
            <a:stretch>
              <a:fillRect l="0" t="0" r="0" b="0"/>
            </a:stretch>
          </a:blipFill>
        </p:spPr>
      </p:sp>
      <p:sp>
        <p:nvSpPr>
          <p:cNvPr name="TextBox 4" id="4"/>
          <p:cNvSpPr txBox="true"/>
          <p:nvPr/>
        </p:nvSpPr>
        <p:spPr>
          <a:xfrm rot="0">
            <a:off x="1483893" y="3525606"/>
            <a:ext cx="6679101" cy="919480"/>
          </a:xfrm>
          <a:prstGeom prst="rect">
            <a:avLst/>
          </a:prstGeom>
        </p:spPr>
        <p:txBody>
          <a:bodyPr anchor="t" rtlCol="false" tIns="0" lIns="0" bIns="0" rIns="0">
            <a:spAutoFit/>
          </a:bodyPr>
          <a:lstStyle/>
          <a:p>
            <a:pPr algn="l" marL="0" indent="0" lvl="0">
              <a:lnSpc>
                <a:spcPts val="6859"/>
              </a:lnSpc>
              <a:spcBef>
                <a:spcPct val="0"/>
              </a:spcBef>
            </a:pPr>
            <a:r>
              <a:rPr lang="en-US" sz="6999" strike="noStrike" u="none">
                <a:solidFill>
                  <a:srgbClr val="FFFFFF"/>
                </a:solidFill>
                <a:latin typeface="Tex Gyre Termes"/>
                <a:ea typeface="Tex Gyre Termes"/>
                <a:cs typeface="Tex Gyre Termes"/>
                <a:sym typeface="Tex Gyre Termes"/>
              </a:rPr>
              <a:t>SQL Work</a:t>
            </a:r>
          </a:p>
        </p:txBody>
      </p:sp>
      <p:sp>
        <p:nvSpPr>
          <p:cNvPr name="TextBox 5" id="5"/>
          <p:cNvSpPr txBox="true"/>
          <p:nvPr/>
        </p:nvSpPr>
        <p:spPr>
          <a:xfrm rot="0">
            <a:off x="1483893" y="5561338"/>
            <a:ext cx="4745906" cy="1342931"/>
          </a:xfrm>
          <a:prstGeom prst="rect">
            <a:avLst/>
          </a:prstGeom>
        </p:spPr>
        <p:txBody>
          <a:bodyPr anchor="t" rtlCol="false" tIns="0" lIns="0" bIns="0" rIns="0">
            <a:spAutoFit/>
          </a:bodyPr>
          <a:lstStyle/>
          <a:p>
            <a:pPr algn="l" marL="0" indent="0" lvl="0">
              <a:lnSpc>
                <a:spcPts val="2105"/>
              </a:lnSpc>
            </a:pPr>
            <a:r>
              <a:rPr lang="en-US" sz="1503">
                <a:solidFill>
                  <a:srgbClr val="FFFFFF"/>
                </a:solidFill>
                <a:latin typeface="Poppins"/>
                <a:ea typeface="Poppins"/>
                <a:cs typeface="Poppins"/>
                <a:sym typeface="Poppins"/>
              </a:rPr>
              <a:t>Database creation and schema design</a:t>
            </a:r>
          </a:p>
          <a:p>
            <a:pPr algn="l" marL="0" indent="0" lvl="0">
              <a:lnSpc>
                <a:spcPts val="2105"/>
              </a:lnSpc>
            </a:pPr>
            <a:r>
              <a:rPr lang="en-US" sz="1503">
                <a:solidFill>
                  <a:srgbClr val="FFFFFF"/>
                </a:solidFill>
                <a:latin typeface="Poppins"/>
                <a:ea typeface="Poppins"/>
                <a:cs typeface="Poppins"/>
                <a:sym typeface="Poppins"/>
              </a:rPr>
              <a:t>Data cleaning &amp; handling missing values</a:t>
            </a:r>
          </a:p>
          <a:p>
            <a:pPr algn="l" marL="0" indent="0" lvl="0">
              <a:lnSpc>
                <a:spcPts val="2105"/>
              </a:lnSpc>
            </a:pPr>
            <a:r>
              <a:rPr lang="en-US" sz="1503">
                <a:solidFill>
                  <a:srgbClr val="FFFFFF"/>
                </a:solidFill>
                <a:latin typeface="Poppins"/>
                <a:ea typeface="Poppins"/>
                <a:cs typeface="Poppins"/>
                <a:sym typeface="Poppins"/>
              </a:rPr>
              <a:t>Establishing relationships between tables</a:t>
            </a:r>
          </a:p>
          <a:p>
            <a:pPr algn="l" marL="0" indent="0" lvl="0">
              <a:lnSpc>
                <a:spcPts val="2105"/>
              </a:lnSpc>
            </a:pPr>
            <a:r>
              <a:rPr lang="en-US" sz="1503">
                <a:solidFill>
                  <a:srgbClr val="FFFFFF"/>
                </a:solidFill>
                <a:latin typeface="Poppins"/>
                <a:ea typeface="Poppins"/>
                <a:cs typeface="Poppins"/>
                <a:sym typeface="Poppins"/>
              </a:rPr>
              <a:t>Preparing analytical tables for querying</a:t>
            </a:r>
          </a:p>
          <a:p>
            <a:pPr algn="l" marL="0" indent="0" lvl="0">
              <a:lnSpc>
                <a:spcPts val="2105"/>
              </a:lnSpc>
            </a:pPr>
            <a:r>
              <a:rPr lang="en-US" sz="1503">
                <a:solidFill>
                  <a:srgbClr val="FFFFFF"/>
                </a:solidFill>
                <a:latin typeface="Poppins"/>
                <a:ea typeface="Poppins"/>
                <a:cs typeface="Poppins"/>
                <a:sym typeface="Poppins"/>
              </a:rPr>
              <a:t>Structured querying for insights</a:t>
            </a: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440563" y="5442219"/>
            <a:ext cx="4818737" cy="2909312"/>
          </a:xfrm>
          <a:custGeom>
            <a:avLst/>
            <a:gdLst/>
            <a:ahLst/>
            <a:cxnLst/>
            <a:rect r="r" b="b" t="t" l="l"/>
            <a:pathLst>
              <a:path h="2909312" w="4818737">
                <a:moveTo>
                  <a:pt x="0" y="0"/>
                </a:moveTo>
                <a:lnTo>
                  <a:pt x="4818737" y="0"/>
                </a:lnTo>
                <a:lnTo>
                  <a:pt x="4818737" y="2909313"/>
                </a:lnTo>
                <a:lnTo>
                  <a:pt x="0" y="2909313"/>
                </a:lnTo>
                <a:lnTo>
                  <a:pt x="0" y="0"/>
                </a:lnTo>
                <a:close/>
              </a:path>
            </a:pathLst>
          </a:custGeom>
          <a:blipFill>
            <a:blip r:embed="rId2"/>
            <a:stretch>
              <a:fillRect l="0" t="0" r="0" b="0"/>
            </a:stretch>
          </a:blipFill>
        </p:spPr>
      </p:sp>
      <p:sp>
        <p:nvSpPr>
          <p:cNvPr name="TextBox 3" id="3"/>
          <p:cNvSpPr txBox="true"/>
          <p:nvPr/>
        </p:nvSpPr>
        <p:spPr>
          <a:xfrm rot="0">
            <a:off x="2132552" y="1963496"/>
            <a:ext cx="7400813" cy="1198120"/>
          </a:xfrm>
          <a:prstGeom prst="rect">
            <a:avLst/>
          </a:prstGeom>
        </p:spPr>
        <p:txBody>
          <a:bodyPr anchor="t" rtlCol="false" tIns="0" lIns="0" bIns="0" rIns="0">
            <a:spAutoFit/>
          </a:bodyPr>
          <a:lstStyle/>
          <a:p>
            <a:pPr algn="l" marL="0" indent="0" lvl="0">
              <a:lnSpc>
                <a:spcPts val="4606"/>
              </a:lnSpc>
              <a:spcBef>
                <a:spcPct val="0"/>
              </a:spcBef>
            </a:pPr>
            <a:r>
              <a:rPr lang="en-US" sz="4700">
                <a:solidFill>
                  <a:srgbClr val="FFFFFF"/>
                </a:solidFill>
                <a:latin typeface="Tex Gyre Termes"/>
                <a:ea typeface="Tex Gyre Termes"/>
                <a:cs typeface="Tex Gyre Termes"/>
                <a:sym typeface="Tex Gyre Termes"/>
              </a:rPr>
              <a:t>Does Age Really Drive Gaming</a:t>
            </a:r>
            <a:r>
              <a:rPr lang="en-US" sz="4700" strike="noStrike" u="none">
                <a:solidFill>
                  <a:srgbClr val="FFFFFF"/>
                </a:solidFill>
                <a:latin typeface="Tex Gyre Termes"/>
                <a:ea typeface="Tex Gyre Termes"/>
                <a:cs typeface="Tex Gyre Termes"/>
                <a:sym typeface="Tex Gyre Termes"/>
              </a:rPr>
              <a:t> Addiction?</a:t>
            </a:r>
          </a:p>
        </p:txBody>
      </p:sp>
      <p:sp>
        <p:nvSpPr>
          <p:cNvPr name="TextBox 4" id="4"/>
          <p:cNvSpPr txBox="true"/>
          <p:nvPr/>
        </p:nvSpPr>
        <p:spPr>
          <a:xfrm rot="0">
            <a:off x="2132552" y="4149155"/>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Yo</a:t>
            </a:r>
            <a:r>
              <a:rPr lang="en-US" sz="2040">
                <a:solidFill>
                  <a:srgbClr val="FFFFFF"/>
                </a:solidFill>
                <a:latin typeface="Poppins"/>
                <a:ea typeface="Poppins"/>
                <a:cs typeface="Poppins"/>
                <a:sym typeface="Poppins"/>
              </a:rPr>
              <a:t>ung Adults log the highest total hours (63% of all gaming hours) — but that's simply because they're the largest group in the sample.</a:t>
            </a:r>
          </a:p>
        </p:txBody>
      </p:sp>
      <p:sp>
        <p:nvSpPr>
          <p:cNvPr name="TextBox 5" id="5"/>
          <p:cNvSpPr txBox="true"/>
          <p:nvPr/>
        </p:nvSpPr>
        <p:spPr>
          <a:xfrm rot="0">
            <a:off x="2132552" y="3596457"/>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1.</a:t>
            </a:r>
            <a:r>
              <a:rPr lang="en-US" b="true" sz="2240">
                <a:solidFill>
                  <a:srgbClr val="FFFFFF"/>
                </a:solidFill>
                <a:latin typeface="Poppins Bold"/>
                <a:ea typeface="Poppins Bold"/>
                <a:cs typeface="Poppins Bold"/>
                <a:sym typeface="Poppins Bold"/>
              </a:rPr>
              <a:t> Which age group plays the most?</a:t>
            </a:r>
          </a:p>
        </p:txBody>
      </p:sp>
      <p:sp>
        <p:nvSpPr>
          <p:cNvPr name="TextBox 6" id="6"/>
          <p:cNvSpPr txBox="true"/>
          <p:nvPr/>
        </p:nvSpPr>
        <p:spPr>
          <a:xfrm rot="0">
            <a:off x="2132552" y="5754760"/>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Avera</a:t>
            </a:r>
            <a:r>
              <a:rPr lang="en-US" sz="2040">
                <a:solidFill>
                  <a:srgbClr val="FFFFFF"/>
                </a:solidFill>
                <a:latin typeface="Poppins"/>
                <a:ea typeface="Poppins"/>
                <a:cs typeface="Poppins"/>
                <a:sym typeface="Poppins"/>
              </a:rPr>
              <a:t>ge hours per player are nearly identical across ages (Young Adults 6.22 vs Teenagers 6.12) — age barely moves the needle.</a:t>
            </a:r>
          </a:p>
        </p:txBody>
      </p:sp>
      <p:sp>
        <p:nvSpPr>
          <p:cNvPr name="TextBox 7" id="7"/>
          <p:cNvSpPr txBox="true"/>
          <p:nvPr/>
        </p:nvSpPr>
        <p:spPr>
          <a:xfrm rot="0">
            <a:off x="2132552" y="5202062"/>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2.</a:t>
            </a:r>
            <a:r>
              <a:rPr lang="en-US" b="true" sz="2240">
                <a:solidFill>
                  <a:srgbClr val="FFFFFF"/>
                </a:solidFill>
                <a:latin typeface="Poppins Bold"/>
                <a:ea typeface="Poppins Bold"/>
                <a:cs typeface="Poppins Bold"/>
                <a:sym typeface="Poppins Bold"/>
              </a:rPr>
              <a:t> Does that hold up per player?</a:t>
            </a:r>
          </a:p>
        </p:txBody>
      </p:sp>
      <p:sp>
        <p:nvSpPr>
          <p:cNvPr name="TextBox 8" id="8"/>
          <p:cNvSpPr txBox="true"/>
          <p:nvPr/>
        </p:nvSpPr>
        <p:spPr>
          <a:xfrm rot="0">
            <a:off x="2132552" y="7455787"/>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GPA</a:t>
            </a:r>
            <a:r>
              <a:rPr lang="en-US" sz="2040">
                <a:solidFill>
                  <a:srgbClr val="FFFFFF"/>
                </a:solidFill>
                <a:latin typeface="Poppins"/>
                <a:ea typeface="Poppins"/>
                <a:cs typeface="Poppins"/>
                <a:sym typeface="Poppins"/>
              </a:rPr>
              <a:t> is almost the same across age groups (2.56 vs 2.49) — age isn't the real driver of academic impact.</a:t>
            </a:r>
          </a:p>
        </p:txBody>
      </p:sp>
      <p:sp>
        <p:nvSpPr>
          <p:cNvPr name="TextBox 9" id="9"/>
          <p:cNvSpPr txBox="true"/>
          <p:nvPr/>
        </p:nvSpPr>
        <p:spPr>
          <a:xfrm rot="0">
            <a:off x="2132552" y="6903089"/>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3.</a:t>
            </a:r>
            <a:r>
              <a:rPr lang="en-US" b="true" sz="2240">
                <a:solidFill>
                  <a:srgbClr val="FFFFFF"/>
                </a:solidFill>
                <a:latin typeface="Poppins Bold"/>
                <a:ea typeface="Poppins Bold"/>
                <a:cs typeface="Poppins Bold"/>
                <a:sym typeface="Poppins Bold"/>
              </a:rPr>
              <a:t> Does age affect grades?</a:t>
            </a:r>
          </a:p>
        </p:txBody>
      </p:sp>
      <p:sp>
        <p:nvSpPr>
          <p:cNvPr name="TextBox 10" id="10"/>
          <p:cNvSpPr txBox="true"/>
          <p:nvPr/>
        </p:nvSpPr>
        <p:spPr>
          <a:xfrm rot="0">
            <a:off x="12256199" y="3708669"/>
            <a:ext cx="5003101" cy="1399788"/>
          </a:xfrm>
          <a:prstGeom prst="rect">
            <a:avLst/>
          </a:prstGeom>
        </p:spPr>
        <p:txBody>
          <a:bodyPr anchor="t" rtlCol="false" tIns="0" lIns="0" bIns="0" rIns="0">
            <a:spAutoFit/>
          </a:bodyPr>
          <a:lstStyle/>
          <a:p>
            <a:pPr algn="l" marL="0" indent="0" lvl="0">
              <a:lnSpc>
                <a:spcPts val="3696"/>
              </a:lnSpc>
            </a:pPr>
            <a:r>
              <a:rPr lang="en-US" b="true" sz="2640">
                <a:solidFill>
                  <a:srgbClr val="FFFFFF"/>
                </a:solidFill>
                <a:latin typeface="Poppins Bold"/>
                <a:ea typeface="Poppins Bold"/>
                <a:cs typeface="Poppins Bold"/>
                <a:sym typeface="Poppins Bold"/>
              </a:rPr>
              <a:t>Takeaway:</a:t>
            </a:r>
            <a:r>
              <a:rPr lang="en-US" b="true" sz="2640">
                <a:solidFill>
                  <a:srgbClr val="FFFFFF"/>
                </a:solidFill>
                <a:latin typeface="Poppins Bold"/>
                <a:ea typeface="Poppins Bold"/>
                <a:cs typeface="Poppins Bold"/>
                <a:sym typeface="Poppins Bold"/>
              </a:rPr>
              <a:t> Daily gaming hours — not age — is the real predictor of addiction risk.</a:t>
            </a:r>
          </a:p>
        </p:txBody>
      </p:sp>
      <p:grpSp>
        <p:nvGrpSpPr>
          <p:cNvPr name="Group 11" id="11"/>
          <p:cNvGrpSpPr/>
          <p:nvPr/>
        </p:nvGrpSpPr>
        <p:grpSpPr>
          <a:xfrm rot="0">
            <a:off x="0" y="-25475"/>
            <a:ext cx="18288000" cy="2166846"/>
            <a:chOff x="0" y="0"/>
            <a:chExt cx="24384000" cy="2889128"/>
          </a:xfrm>
        </p:grpSpPr>
        <p:sp>
          <p:nvSpPr>
            <p:cNvPr name="Freeform 12" id="12"/>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13" id="13"/>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14" id="14"/>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5117454" y="7964356"/>
            <a:ext cx="2162939" cy="1183717"/>
          </a:xfrm>
          <a:custGeom>
            <a:avLst/>
            <a:gdLst/>
            <a:ahLst/>
            <a:cxnLst/>
            <a:rect r="r" b="b" t="t" l="l"/>
            <a:pathLst>
              <a:path h="1183717" w="2162939">
                <a:moveTo>
                  <a:pt x="0" y="0"/>
                </a:moveTo>
                <a:lnTo>
                  <a:pt x="2162938" y="0"/>
                </a:lnTo>
                <a:lnTo>
                  <a:pt x="2162938" y="1183718"/>
                </a:lnTo>
                <a:lnTo>
                  <a:pt x="0" y="1183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440563" y="4791846"/>
            <a:ext cx="4818737" cy="2909312"/>
          </a:xfrm>
          <a:custGeom>
            <a:avLst/>
            <a:gdLst/>
            <a:ahLst/>
            <a:cxnLst/>
            <a:rect r="r" b="b" t="t" l="l"/>
            <a:pathLst>
              <a:path h="2909312" w="4818737">
                <a:moveTo>
                  <a:pt x="0" y="0"/>
                </a:moveTo>
                <a:lnTo>
                  <a:pt x="4818737" y="0"/>
                </a:lnTo>
                <a:lnTo>
                  <a:pt x="4818737" y="2909313"/>
                </a:lnTo>
                <a:lnTo>
                  <a:pt x="0" y="2909313"/>
                </a:lnTo>
                <a:lnTo>
                  <a:pt x="0" y="0"/>
                </a:lnTo>
                <a:close/>
              </a:path>
            </a:pathLst>
          </a:custGeom>
          <a:blipFill>
            <a:blip r:embed="rId4"/>
            <a:stretch>
              <a:fillRect l="0" t="0" r="0" b="0"/>
            </a:stretch>
          </a:blipFill>
        </p:spPr>
      </p:sp>
      <p:sp>
        <p:nvSpPr>
          <p:cNvPr name="TextBox 4" id="4"/>
          <p:cNvSpPr txBox="true"/>
          <p:nvPr/>
        </p:nvSpPr>
        <p:spPr>
          <a:xfrm rot="0">
            <a:off x="2132552" y="2424826"/>
            <a:ext cx="7400813" cy="1198120"/>
          </a:xfrm>
          <a:prstGeom prst="rect">
            <a:avLst/>
          </a:prstGeom>
        </p:spPr>
        <p:txBody>
          <a:bodyPr anchor="t" rtlCol="false" tIns="0" lIns="0" bIns="0" rIns="0">
            <a:spAutoFit/>
          </a:bodyPr>
          <a:lstStyle/>
          <a:p>
            <a:pPr algn="l" marL="0" indent="0" lvl="0">
              <a:lnSpc>
                <a:spcPts val="4606"/>
              </a:lnSpc>
              <a:spcBef>
                <a:spcPct val="0"/>
              </a:spcBef>
            </a:pPr>
            <a:r>
              <a:rPr lang="en-US" sz="4700">
                <a:solidFill>
                  <a:srgbClr val="FFFFFF"/>
                </a:solidFill>
                <a:latin typeface="Tex Gyre Termes"/>
                <a:ea typeface="Tex Gyre Termes"/>
                <a:cs typeface="Tex Gyre Termes"/>
                <a:sym typeface="Tex Gyre Termes"/>
              </a:rPr>
              <a:t>What Actually Drives</a:t>
            </a:r>
            <a:r>
              <a:rPr lang="en-US" sz="4700" strike="noStrike" u="none">
                <a:solidFill>
                  <a:srgbClr val="FFFFFF"/>
                </a:solidFill>
                <a:latin typeface="Tex Gyre Termes"/>
                <a:ea typeface="Tex Gyre Termes"/>
                <a:cs typeface="Tex Gyre Termes"/>
                <a:sym typeface="Tex Gyre Termes"/>
              </a:rPr>
              <a:t> Addiction Risk?</a:t>
            </a:r>
          </a:p>
        </p:txBody>
      </p:sp>
      <p:sp>
        <p:nvSpPr>
          <p:cNvPr name="TextBox 5" id="5"/>
          <p:cNvSpPr txBox="true"/>
          <p:nvPr/>
        </p:nvSpPr>
        <p:spPr>
          <a:xfrm rot="0">
            <a:off x="2132552" y="4793298"/>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Low-ho</a:t>
            </a:r>
            <a:r>
              <a:rPr lang="en-US" sz="2040">
                <a:solidFill>
                  <a:srgbClr val="FFFFFF"/>
                </a:solidFill>
                <a:latin typeface="Poppins"/>
                <a:ea typeface="Poppins"/>
                <a:cs typeface="Poppins"/>
                <a:sym typeface="Poppins"/>
              </a:rPr>
              <a:t>ur players are 89% "Low risk" with zero Severe cases — High/Very High-hour players flip to 51–61% Severe risk.</a:t>
            </a:r>
          </a:p>
        </p:txBody>
      </p:sp>
      <p:sp>
        <p:nvSpPr>
          <p:cNvPr name="TextBox 6" id="6"/>
          <p:cNvSpPr txBox="true"/>
          <p:nvPr/>
        </p:nvSpPr>
        <p:spPr>
          <a:xfrm rot="0">
            <a:off x="2132552" y="4240599"/>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1.</a:t>
            </a:r>
            <a:r>
              <a:rPr lang="en-US" b="true" sz="2240">
                <a:solidFill>
                  <a:srgbClr val="FFFFFF"/>
                </a:solidFill>
                <a:latin typeface="Poppins Bold"/>
                <a:ea typeface="Poppins Bold"/>
                <a:cs typeface="Poppins Bold"/>
                <a:sym typeface="Poppins Bold"/>
              </a:rPr>
              <a:t> Do daily gaming hours predict risk level?</a:t>
            </a:r>
          </a:p>
        </p:txBody>
      </p:sp>
      <p:sp>
        <p:nvSpPr>
          <p:cNvPr name="TextBox 7" id="7"/>
          <p:cNvSpPr txBox="true"/>
          <p:nvPr/>
        </p:nvSpPr>
        <p:spPr>
          <a:xfrm rot="0">
            <a:off x="2132552" y="6398903"/>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Sever</a:t>
            </a:r>
            <a:r>
              <a:rPr lang="en-US" sz="2040">
                <a:solidFill>
                  <a:srgbClr val="FFFFFF"/>
                </a:solidFill>
                <a:latin typeface="Poppins"/>
                <a:ea typeface="Poppins"/>
                <a:cs typeface="Poppins"/>
                <a:sym typeface="Poppins"/>
              </a:rPr>
              <a:t>e-risk players average 4.6 hrs of sleep vs 6.6 hrs for Low-risk — a 2-hour gap.</a:t>
            </a:r>
          </a:p>
        </p:txBody>
      </p:sp>
      <p:sp>
        <p:nvSpPr>
          <p:cNvPr name="TextBox 8" id="8"/>
          <p:cNvSpPr txBox="true"/>
          <p:nvPr/>
        </p:nvSpPr>
        <p:spPr>
          <a:xfrm rot="0">
            <a:off x="2132552" y="5846204"/>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2.</a:t>
            </a:r>
            <a:r>
              <a:rPr lang="en-US" b="true" sz="2240">
                <a:solidFill>
                  <a:srgbClr val="FFFFFF"/>
                </a:solidFill>
                <a:latin typeface="Poppins Bold"/>
                <a:ea typeface="Poppins Bold"/>
                <a:cs typeface="Poppins Bold"/>
                <a:sym typeface="Poppins Bold"/>
              </a:rPr>
              <a:t> Does higher risk mean less sleep?</a:t>
            </a:r>
          </a:p>
        </p:txBody>
      </p:sp>
      <p:sp>
        <p:nvSpPr>
          <p:cNvPr name="TextBox 9" id="9"/>
          <p:cNvSpPr txBox="true"/>
          <p:nvPr/>
        </p:nvSpPr>
        <p:spPr>
          <a:xfrm rot="0">
            <a:off x="2132552" y="8190246"/>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Severe-r</a:t>
            </a:r>
            <a:r>
              <a:rPr lang="en-US" sz="2040">
                <a:solidFill>
                  <a:srgbClr val="FFFFFF"/>
                </a:solidFill>
                <a:latin typeface="Poppins"/>
                <a:ea typeface="Poppins"/>
                <a:cs typeface="Poppins"/>
                <a:sym typeface="Poppins"/>
              </a:rPr>
              <a:t>isk players report 6.5 isolation score and only 3.2 hrs of face-to-face time weekly, vs 2.5 / 10.2 hrs for Low-risk.</a:t>
            </a:r>
          </a:p>
        </p:txBody>
      </p:sp>
      <p:sp>
        <p:nvSpPr>
          <p:cNvPr name="TextBox 10" id="10"/>
          <p:cNvSpPr txBox="true"/>
          <p:nvPr/>
        </p:nvSpPr>
        <p:spPr>
          <a:xfrm rot="0">
            <a:off x="2132552" y="7637547"/>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3.</a:t>
            </a:r>
            <a:r>
              <a:rPr lang="en-US" b="true" sz="2240">
                <a:solidFill>
                  <a:srgbClr val="FFFFFF"/>
                </a:solidFill>
                <a:latin typeface="Poppins Bold"/>
                <a:ea typeface="Poppins Bold"/>
                <a:cs typeface="Poppins Bold"/>
                <a:sym typeface="Poppins Bold"/>
              </a:rPr>
              <a:t> Does addiction isolate players socially?</a:t>
            </a:r>
          </a:p>
        </p:txBody>
      </p:sp>
      <p:sp>
        <p:nvSpPr>
          <p:cNvPr name="TextBox 11" id="11"/>
          <p:cNvSpPr txBox="true"/>
          <p:nvPr/>
        </p:nvSpPr>
        <p:spPr>
          <a:xfrm rot="0">
            <a:off x="12051543" y="3210448"/>
            <a:ext cx="5003101" cy="933063"/>
          </a:xfrm>
          <a:prstGeom prst="rect">
            <a:avLst/>
          </a:prstGeom>
        </p:spPr>
        <p:txBody>
          <a:bodyPr anchor="t" rtlCol="false" tIns="0" lIns="0" bIns="0" rIns="0">
            <a:spAutoFit/>
          </a:bodyPr>
          <a:lstStyle/>
          <a:p>
            <a:pPr algn="l" marL="0" indent="0" lvl="0">
              <a:lnSpc>
                <a:spcPts val="3696"/>
              </a:lnSpc>
            </a:pPr>
            <a:r>
              <a:rPr lang="en-US" b="true" sz="2640">
                <a:solidFill>
                  <a:srgbClr val="FFFFFF"/>
                </a:solidFill>
                <a:latin typeface="Poppins Bold"/>
                <a:ea typeface="Poppins Bold"/>
                <a:cs typeface="Poppins Bold"/>
                <a:sym typeface="Poppins Bold"/>
              </a:rPr>
              <a:t>Takeaway:</a:t>
            </a:r>
            <a:r>
              <a:rPr lang="en-US" b="true" sz="2640">
                <a:solidFill>
                  <a:srgbClr val="FFFFFF"/>
                </a:solidFill>
                <a:latin typeface="Poppins Bold"/>
                <a:ea typeface="Poppins Bold"/>
                <a:cs typeface="Poppins Bold"/>
                <a:sym typeface="Poppins Bold"/>
              </a:rPr>
              <a:t> Age is not the risk factor. Something else is.</a:t>
            </a:r>
          </a:p>
        </p:txBody>
      </p:sp>
      <p:grpSp>
        <p:nvGrpSpPr>
          <p:cNvPr name="Group 12" id="12"/>
          <p:cNvGrpSpPr/>
          <p:nvPr/>
        </p:nvGrpSpPr>
        <p:grpSpPr>
          <a:xfrm rot="0">
            <a:off x="0" y="-25475"/>
            <a:ext cx="18288000" cy="2166846"/>
            <a:chOff x="0" y="0"/>
            <a:chExt cx="24384000" cy="2889128"/>
          </a:xfrm>
        </p:grpSpPr>
        <p:sp>
          <p:nvSpPr>
            <p:cNvPr name="Freeform 13" id="13"/>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5"/>
              <a:stretch>
                <a:fillRect l="0" t="0" r="0" b="0"/>
              </a:stretch>
            </a:blipFill>
          </p:spPr>
        </p:sp>
        <p:sp>
          <p:nvSpPr>
            <p:cNvPr name="Freeform 14" id="14"/>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6"/>
              <a:stretch>
                <a:fillRect l="0" t="0" r="0" b="0"/>
              </a:stretch>
            </a:blipFill>
          </p:spPr>
        </p:sp>
        <p:sp>
          <p:nvSpPr>
            <p:cNvPr name="Freeform 15" id="15"/>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7"/>
              <a:stretch>
                <a:fillRect l="-12904" t="-12015" r="-11867" b="-12757"/>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594811" y="2763084"/>
            <a:ext cx="4818737" cy="2909312"/>
          </a:xfrm>
          <a:custGeom>
            <a:avLst/>
            <a:gdLst/>
            <a:ahLst/>
            <a:cxnLst/>
            <a:rect r="r" b="b" t="t" l="l"/>
            <a:pathLst>
              <a:path h="2909312" w="4818737">
                <a:moveTo>
                  <a:pt x="0" y="0"/>
                </a:moveTo>
                <a:lnTo>
                  <a:pt x="4818737" y="0"/>
                </a:lnTo>
                <a:lnTo>
                  <a:pt x="4818737" y="2909312"/>
                </a:lnTo>
                <a:lnTo>
                  <a:pt x="0" y="2909312"/>
                </a:lnTo>
                <a:lnTo>
                  <a:pt x="0" y="0"/>
                </a:lnTo>
                <a:close/>
              </a:path>
            </a:pathLst>
          </a:custGeom>
          <a:blipFill>
            <a:blip r:embed="rId2"/>
            <a:stretch>
              <a:fillRect l="0" t="0" r="0" b="0"/>
            </a:stretch>
          </a:blipFill>
        </p:spPr>
      </p:sp>
      <p:sp>
        <p:nvSpPr>
          <p:cNvPr name="TextBox 3" id="3"/>
          <p:cNvSpPr txBox="true"/>
          <p:nvPr/>
        </p:nvSpPr>
        <p:spPr>
          <a:xfrm rot="0">
            <a:off x="2132552" y="1963496"/>
            <a:ext cx="7400813" cy="1198120"/>
          </a:xfrm>
          <a:prstGeom prst="rect">
            <a:avLst/>
          </a:prstGeom>
        </p:spPr>
        <p:txBody>
          <a:bodyPr anchor="t" rtlCol="false" tIns="0" lIns="0" bIns="0" rIns="0">
            <a:spAutoFit/>
          </a:bodyPr>
          <a:lstStyle/>
          <a:p>
            <a:pPr algn="l" marL="0" indent="0" lvl="0">
              <a:lnSpc>
                <a:spcPts val="4606"/>
              </a:lnSpc>
              <a:spcBef>
                <a:spcPct val="0"/>
              </a:spcBef>
            </a:pPr>
            <a:r>
              <a:rPr lang="en-US" sz="4700">
                <a:solidFill>
                  <a:srgbClr val="FFFFFF"/>
                </a:solidFill>
                <a:latin typeface="Tex Gyre Termes"/>
                <a:ea typeface="Tex Gyre Termes"/>
                <a:cs typeface="Tex Gyre Termes"/>
                <a:sym typeface="Tex Gyre Termes"/>
              </a:rPr>
              <a:t>The Real-World Cost — Sleep,</a:t>
            </a:r>
            <a:r>
              <a:rPr lang="en-US" sz="4700" strike="noStrike" u="none">
                <a:solidFill>
                  <a:srgbClr val="FFFFFF"/>
                </a:solidFill>
                <a:latin typeface="Tex Gyre Termes"/>
                <a:ea typeface="Tex Gyre Termes"/>
                <a:cs typeface="Tex Gyre Termes"/>
                <a:sym typeface="Tex Gyre Termes"/>
              </a:rPr>
              <a:t> Body &amp; Performance</a:t>
            </a:r>
          </a:p>
        </p:txBody>
      </p:sp>
      <p:sp>
        <p:nvSpPr>
          <p:cNvPr name="TextBox 4" id="4"/>
          <p:cNvSpPr txBox="true"/>
          <p:nvPr/>
        </p:nvSpPr>
        <p:spPr>
          <a:xfrm rot="0">
            <a:off x="2132552" y="4149155"/>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P</a:t>
            </a:r>
            <a:r>
              <a:rPr lang="en-US" sz="2040">
                <a:solidFill>
                  <a:srgbClr val="FFFFFF"/>
                </a:solidFill>
                <a:latin typeface="Poppins"/>
                <a:ea typeface="Poppins"/>
                <a:cs typeface="Poppins"/>
                <a:sym typeface="Poppins"/>
              </a:rPr>
              <a:t>layers above "Low" gaming hours lose ~2 full hours of sleep (6.69 hrs → 4.5–4.8 hrs).</a:t>
            </a:r>
          </a:p>
        </p:txBody>
      </p:sp>
      <p:sp>
        <p:nvSpPr>
          <p:cNvPr name="TextBox 5" id="5"/>
          <p:cNvSpPr txBox="true"/>
          <p:nvPr/>
        </p:nvSpPr>
        <p:spPr>
          <a:xfrm rot="0">
            <a:off x="2132552" y="3596457"/>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1.</a:t>
            </a:r>
            <a:r>
              <a:rPr lang="en-US" b="true" sz="2240">
                <a:solidFill>
                  <a:srgbClr val="FFFFFF"/>
                </a:solidFill>
                <a:latin typeface="Poppins Bold"/>
                <a:ea typeface="Poppins Bold"/>
                <a:cs typeface="Poppins Bold"/>
                <a:sym typeface="Poppins Bold"/>
              </a:rPr>
              <a:t> How much sleep is lost?</a:t>
            </a:r>
          </a:p>
        </p:txBody>
      </p:sp>
      <p:sp>
        <p:nvSpPr>
          <p:cNvPr name="TextBox 6" id="6"/>
          <p:cNvSpPr txBox="true"/>
          <p:nvPr/>
        </p:nvSpPr>
        <p:spPr>
          <a:xfrm rot="0">
            <a:off x="2132552" y="5754760"/>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Hi</a:t>
            </a:r>
            <a:r>
              <a:rPr lang="en-US" sz="2040">
                <a:solidFill>
                  <a:srgbClr val="FFFFFF"/>
                </a:solidFill>
                <a:latin typeface="Poppins"/>
                <a:ea typeface="Poppins"/>
                <a:cs typeface="Poppins"/>
                <a:sym typeface="Poppins"/>
              </a:rPr>
              <a:t>gh-risk physical pain players game more than double the hours of pain-free players (8.3 vs 3.9 hrs/day).</a:t>
            </a:r>
          </a:p>
        </p:txBody>
      </p:sp>
      <p:sp>
        <p:nvSpPr>
          <p:cNvPr name="TextBox 7" id="7"/>
          <p:cNvSpPr txBox="true"/>
          <p:nvPr/>
        </p:nvSpPr>
        <p:spPr>
          <a:xfrm rot="0">
            <a:off x="2132552" y="5202062"/>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2.</a:t>
            </a:r>
            <a:r>
              <a:rPr lang="en-US" b="true" sz="2240">
                <a:solidFill>
                  <a:srgbClr val="FFFFFF"/>
                </a:solidFill>
                <a:latin typeface="Poppins Bold"/>
                <a:ea typeface="Poppins Bold"/>
                <a:cs typeface="Poppins Bold"/>
                <a:sym typeface="Poppins Bold"/>
              </a:rPr>
              <a:t> What about physical health?</a:t>
            </a:r>
          </a:p>
        </p:txBody>
      </p:sp>
      <p:sp>
        <p:nvSpPr>
          <p:cNvPr name="TextBox 8" id="8"/>
          <p:cNvSpPr txBox="true"/>
          <p:nvPr/>
        </p:nvSpPr>
        <p:spPr>
          <a:xfrm rot="0">
            <a:off x="2132552" y="7455787"/>
            <a:ext cx="9118216" cy="729228"/>
          </a:xfrm>
          <a:prstGeom prst="rect">
            <a:avLst/>
          </a:prstGeom>
        </p:spPr>
        <p:txBody>
          <a:bodyPr anchor="t" rtlCol="false" tIns="0" lIns="0" bIns="0" rIns="0">
            <a:spAutoFit/>
          </a:bodyPr>
          <a:lstStyle/>
          <a:p>
            <a:pPr algn="l" marL="0" indent="0" lvl="0">
              <a:lnSpc>
                <a:spcPts val="2856"/>
              </a:lnSpc>
            </a:pPr>
            <a:r>
              <a:rPr lang="en-US" sz="2040">
                <a:solidFill>
                  <a:srgbClr val="FFFFFF"/>
                </a:solidFill>
                <a:latin typeface="Poppins"/>
                <a:ea typeface="Poppins"/>
                <a:cs typeface="Poppins"/>
                <a:sym typeface="Poppins"/>
              </a:rPr>
              <a:t>A</a:t>
            </a:r>
            <a:r>
              <a:rPr lang="en-US" sz="2040">
                <a:solidFill>
                  <a:srgbClr val="FFFFFF"/>
                </a:solidFill>
                <a:latin typeface="Poppins"/>
                <a:ea typeface="Poppins"/>
                <a:cs typeface="Poppins"/>
                <a:sym typeface="Poppins"/>
              </a:rPr>
              <a:t> clear inverse relationship: "Failing" performers average 8.52 hrs/day, "Excellent" performers average just 3.94 hrs/day.</a:t>
            </a:r>
          </a:p>
        </p:txBody>
      </p:sp>
      <p:sp>
        <p:nvSpPr>
          <p:cNvPr name="TextBox 9" id="9"/>
          <p:cNvSpPr txBox="true"/>
          <p:nvPr/>
        </p:nvSpPr>
        <p:spPr>
          <a:xfrm rot="0">
            <a:off x="2132552" y="6903089"/>
            <a:ext cx="9118216" cy="400298"/>
          </a:xfrm>
          <a:prstGeom prst="rect">
            <a:avLst/>
          </a:prstGeom>
        </p:spPr>
        <p:txBody>
          <a:bodyPr anchor="t" rtlCol="false" tIns="0" lIns="0" bIns="0" rIns="0">
            <a:spAutoFit/>
          </a:bodyPr>
          <a:lstStyle/>
          <a:p>
            <a:pPr algn="l" marL="0" indent="0" lvl="0">
              <a:lnSpc>
                <a:spcPts val="3136"/>
              </a:lnSpc>
            </a:pPr>
            <a:r>
              <a:rPr lang="en-US" b="true" sz="2240">
                <a:solidFill>
                  <a:srgbClr val="FFFFFF"/>
                </a:solidFill>
                <a:latin typeface="Poppins Bold"/>
                <a:ea typeface="Poppins Bold"/>
                <a:cs typeface="Poppins Bold"/>
                <a:sym typeface="Poppins Bold"/>
              </a:rPr>
              <a:t>3.</a:t>
            </a:r>
            <a:r>
              <a:rPr lang="en-US" b="true" sz="2240">
                <a:solidFill>
                  <a:srgbClr val="FFFFFF"/>
                </a:solidFill>
                <a:latin typeface="Poppins Bold"/>
                <a:ea typeface="Poppins Bold"/>
                <a:cs typeface="Poppins Bold"/>
                <a:sym typeface="Poppins Bold"/>
              </a:rPr>
              <a:t> What's the impact on grades/work performance?</a:t>
            </a:r>
          </a:p>
        </p:txBody>
      </p:sp>
      <p:sp>
        <p:nvSpPr>
          <p:cNvPr name="TextBox 10" id="10"/>
          <p:cNvSpPr txBox="true"/>
          <p:nvPr/>
        </p:nvSpPr>
        <p:spPr>
          <a:xfrm rot="0">
            <a:off x="12594811" y="5851776"/>
            <a:ext cx="5003101" cy="2333238"/>
          </a:xfrm>
          <a:prstGeom prst="rect">
            <a:avLst/>
          </a:prstGeom>
        </p:spPr>
        <p:txBody>
          <a:bodyPr anchor="t" rtlCol="false" tIns="0" lIns="0" bIns="0" rIns="0">
            <a:spAutoFit/>
          </a:bodyPr>
          <a:lstStyle/>
          <a:p>
            <a:pPr algn="l" marL="0" indent="0" lvl="0">
              <a:lnSpc>
                <a:spcPts val="3696"/>
              </a:lnSpc>
            </a:pPr>
            <a:r>
              <a:rPr lang="en-US" b="true" sz="2640">
                <a:solidFill>
                  <a:srgbClr val="FFFFFF"/>
                </a:solidFill>
                <a:latin typeface="Poppins Bold"/>
                <a:ea typeface="Poppins Bold"/>
                <a:cs typeface="Poppins Bold"/>
                <a:sym typeface="Poppins Bold"/>
              </a:rPr>
              <a:t>Takeaway:</a:t>
            </a:r>
            <a:r>
              <a:rPr lang="en-US" b="true" sz="2640">
                <a:solidFill>
                  <a:srgbClr val="FFFFFF"/>
                </a:solidFill>
                <a:latin typeface="Poppins Bold"/>
                <a:ea typeface="Poppins Bold"/>
                <a:cs typeface="Poppins Bold"/>
                <a:sym typeface="Poppins Bold"/>
              </a:rPr>
              <a:t> More hours → less sleep → more physical pain → worse performance. One connected chain of cause and effect.</a:t>
            </a:r>
          </a:p>
        </p:txBody>
      </p:sp>
      <p:grpSp>
        <p:nvGrpSpPr>
          <p:cNvPr name="Group 11" id="11"/>
          <p:cNvGrpSpPr/>
          <p:nvPr/>
        </p:nvGrpSpPr>
        <p:grpSpPr>
          <a:xfrm rot="0">
            <a:off x="0" y="-25475"/>
            <a:ext cx="18288000" cy="2166846"/>
            <a:chOff x="0" y="0"/>
            <a:chExt cx="24384000" cy="2889128"/>
          </a:xfrm>
        </p:grpSpPr>
        <p:sp>
          <p:nvSpPr>
            <p:cNvPr name="Freeform 12" id="12"/>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13" id="13"/>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14" id="14"/>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166801" y="5675865"/>
            <a:ext cx="2090865" cy="923782"/>
          </a:xfrm>
          <a:custGeom>
            <a:avLst/>
            <a:gdLst/>
            <a:ahLst/>
            <a:cxnLst/>
            <a:rect r="r" b="b" t="t" l="l"/>
            <a:pathLst>
              <a:path h="923782" w="2090865">
                <a:moveTo>
                  <a:pt x="0" y="0"/>
                </a:moveTo>
                <a:lnTo>
                  <a:pt x="2090865" y="0"/>
                </a:lnTo>
                <a:lnTo>
                  <a:pt x="2090865" y="923782"/>
                </a:lnTo>
                <a:lnTo>
                  <a:pt x="0" y="923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0738" y="3338768"/>
            <a:ext cx="1162257" cy="1162257"/>
          </a:xfrm>
          <a:custGeom>
            <a:avLst/>
            <a:gdLst/>
            <a:ahLst/>
            <a:cxnLst/>
            <a:rect r="r" b="b" t="t" l="l"/>
            <a:pathLst>
              <a:path h="1162257" w="1162257">
                <a:moveTo>
                  <a:pt x="0" y="0"/>
                </a:moveTo>
                <a:lnTo>
                  <a:pt x="1162257" y="0"/>
                </a:lnTo>
                <a:lnTo>
                  <a:pt x="1162257" y="1162256"/>
                </a:lnTo>
                <a:lnTo>
                  <a:pt x="0" y="1162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24220" y="4009005"/>
            <a:ext cx="10733446"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Python</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6"/>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7"/>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8"/>
              <a:stretch>
                <a:fillRect l="-12904" t="-12015" r="-11867" b="-12757"/>
              </a:stretch>
            </a:blip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TextBox 2" id="2"/>
          <p:cNvSpPr txBox="true"/>
          <p:nvPr/>
        </p:nvSpPr>
        <p:spPr>
          <a:xfrm rot="0">
            <a:off x="2991033" y="3624506"/>
            <a:ext cx="6679101" cy="919342"/>
          </a:xfrm>
          <a:prstGeom prst="rect">
            <a:avLst/>
          </a:prstGeom>
        </p:spPr>
        <p:txBody>
          <a:bodyPr anchor="t" rtlCol="false" tIns="0" lIns="0" bIns="0" rIns="0">
            <a:spAutoFit/>
          </a:bodyPr>
          <a:lstStyle/>
          <a:p>
            <a:pPr algn="l" marL="0" indent="0" lvl="0">
              <a:lnSpc>
                <a:spcPts val="6855"/>
              </a:lnSpc>
              <a:spcBef>
                <a:spcPct val="0"/>
              </a:spcBef>
            </a:pPr>
            <a:r>
              <a:rPr lang="en-US" sz="6995" strike="noStrike" u="none">
                <a:solidFill>
                  <a:srgbClr val="FFFFFF"/>
                </a:solidFill>
                <a:latin typeface="Tex Gyre Termes"/>
                <a:ea typeface="Tex Gyre Termes"/>
                <a:cs typeface="Tex Gyre Termes"/>
                <a:sym typeface="Tex Gyre Termes"/>
              </a:rPr>
              <a:t>Python Work</a:t>
            </a:r>
          </a:p>
        </p:txBody>
      </p:sp>
      <p:sp>
        <p:nvSpPr>
          <p:cNvPr name="TextBox 3" id="3"/>
          <p:cNvSpPr txBox="true"/>
          <p:nvPr/>
        </p:nvSpPr>
        <p:spPr>
          <a:xfrm rot="0">
            <a:off x="2991033" y="4787281"/>
            <a:ext cx="6172556" cy="2743210"/>
          </a:xfrm>
          <a:prstGeom prst="rect">
            <a:avLst/>
          </a:prstGeom>
        </p:spPr>
        <p:txBody>
          <a:bodyPr anchor="t" rtlCol="false" tIns="0" lIns="0" bIns="0" rIns="0">
            <a:spAutoFit/>
          </a:bodyPr>
          <a:lstStyle/>
          <a:p>
            <a:pPr algn="l" marL="0" indent="0" lvl="0">
              <a:lnSpc>
                <a:spcPts val="3149"/>
              </a:lnSpc>
            </a:pPr>
            <a:r>
              <a:rPr lang="en-US" sz="2249">
                <a:solidFill>
                  <a:srgbClr val="FFFFFF"/>
                </a:solidFill>
                <a:latin typeface="Poppins"/>
                <a:ea typeface="Poppins"/>
                <a:cs typeface="Poppins"/>
                <a:sym typeface="Poppins"/>
              </a:rPr>
              <a:t>Data preprocessing with Pandas (cleaning, formatting)</a:t>
            </a:r>
          </a:p>
          <a:p>
            <a:pPr algn="l" marL="0" indent="0" lvl="0">
              <a:lnSpc>
                <a:spcPts val="3149"/>
              </a:lnSpc>
            </a:pPr>
            <a:r>
              <a:rPr lang="en-US" sz="2249">
                <a:solidFill>
                  <a:srgbClr val="FFFFFF"/>
                </a:solidFill>
                <a:latin typeface="Poppins"/>
                <a:ea typeface="Poppins"/>
                <a:cs typeface="Poppins"/>
                <a:sym typeface="Poppins"/>
              </a:rPr>
              <a:t>Feature engineering: Gaming_Hours_Category</a:t>
            </a:r>
          </a:p>
          <a:p>
            <a:pPr algn="l" marL="0" indent="0" lvl="0">
              <a:lnSpc>
                <a:spcPts val="3149"/>
              </a:lnSpc>
            </a:pPr>
            <a:r>
              <a:rPr lang="en-US" sz="2249">
                <a:solidFill>
                  <a:srgbClr val="FFFFFF"/>
                </a:solidFill>
                <a:latin typeface="Poppins"/>
                <a:ea typeface="Poppins"/>
                <a:cs typeface="Poppins"/>
                <a:sym typeface="Poppins"/>
              </a:rPr>
              <a:t>Feature engineering: Sleep_State &amp; Spend_Category</a:t>
            </a:r>
          </a:p>
          <a:p>
            <a:pPr algn="l" marL="0" indent="0" lvl="0">
              <a:lnSpc>
                <a:spcPts val="3149"/>
              </a:lnSpc>
            </a:pPr>
            <a:r>
              <a:rPr lang="en-US" sz="2249">
                <a:solidFill>
                  <a:srgbClr val="FFFFFF"/>
                </a:solidFill>
                <a:latin typeface="Poppins"/>
                <a:ea typeface="Poppins"/>
                <a:cs typeface="Poppins"/>
                <a:sym typeface="Poppins"/>
              </a:rPr>
              <a:t>Deriving Total_Spent for spending analysis</a:t>
            </a:r>
          </a:p>
        </p:txBody>
      </p:sp>
      <p:sp>
        <p:nvSpPr>
          <p:cNvPr name="Freeform 4" id="4"/>
          <p:cNvSpPr/>
          <p:nvPr/>
        </p:nvSpPr>
        <p:spPr>
          <a:xfrm flipH="false" flipV="false" rot="0">
            <a:off x="1081970" y="8074583"/>
            <a:ext cx="2162939" cy="1183717"/>
          </a:xfrm>
          <a:custGeom>
            <a:avLst/>
            <a:gdLst/>
            <a:ahLst/>
            <a:cxnLst/>
            <a:rect r="r" b="b" t="t" l="l"/>
            <a:pathLst>
              <a:path h="1183717" w="2162939">
                <a:moveTo>
                  <a:pt x="0" y="0"/>
                </a:moveTo>
                <a:lnTo>
                  <a:pt x="2162939" y="0"/>
                </a:lnTo>
                <a:lnTo>
                  <a:pt x="2162939" y="1183717"/>
                </a:lnTo>
                <a:lnTo>
                  <a:pt x="0" y="11837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48072" y="2381869"/>
            <a:ext cx="5049205" cy="5087399"/>
          </a:xfrm>
          <a:custGeom>
            <a:avLst/>
            <a:gdLst/>
            <a:ahLst/>
            <a:cxnLst/>
            <a:rect r="r" b="b" t="t" l="l"/>
            <a:pathLst>
              <a:path h="5087399" w="5049205">
                <a:moveTo>
                  <a:pt x="0" y="0"/>
                </a:moveTo>
                <a:lnTo>
                  <a:pt x="5049205" y="0"/>
                </a:lnTo>
                <a:lnTo>
                  <a:pt x="5049205" y="5087398"/>
                </a:lnTo>
                <a:lnTo>
                  <a:pt x="0" y="5087398"/>
                </a:lnTo>
                <a:lnTo>
                  <a:pt x="0" y="0"/>
                </a:lnTo>
                <a:close/>
              </a:path>
            </a:pathLst>
          </a:custGeom>
          <a:blipFill>
            <a:blip r:embed="rId4"/>
            <a:stretch>
              <a:fillRect l="0" t="0" r="0" b="0"/>
            </a:stretch>
          </a:blipFill>
        </p:spPr>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5"/>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6"/>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7"/>
              <a:stretch>
                <a:fillRect l="-12904" t="-12015" r="-11867" b="-12757"/>
              </a:stretch>
            </a:blipFill>
          </p:spPr>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350191" y="2141371"/>
            <a:ext cx="16230600" cy="8005291"/>
          </a:xfrm>
          <a:custGeom>
            <a:avLst/>
            <a:gdLst/>
            <a:ahLst/>
            <a:cxnLst/>
            <a:rect r="r" b="b" t="t" l="l"/>
            <a:pathLst>
              <a:path h="8005291" w="16230600">
                <a:moveTo>
                  <a:pt x="0" y="0"/>
                </a:moveTo>
                <a:lnTo>
                  <a:pt x="16230600" y="0"/>
                </a:lnTo>
                <a:lnTo>
                  <a:pt x="16230600" y="8005291"/>
                </a:lnTo>
                <a:lnTo>
                  <a:pt x="0" y="8005291"/>
                </a:lnTo>
                <a:lnTo>
                  <a:pt x="0" y="0"/>
                </a:lnTo>
                <a:close/>
              </a:path>
            </a:pathLst>
          </a:custGeom>
          <a:blipFill>
            <a:blip r:embed="rId2"/>
            <a:stretch>
              <a:fillRect l="0" t="0" r="0" b="0"/>
            </a:stretch>
          </a:blipFill>
        </p:spPr>
      </p:sp>
      <p:grpSp>
        <p:nvGrpSpPr>
          <p:cNvPr name="Group 3" id="3"/>
          <p:cNvGrpSpPr/>
          <p:nvPr/>
        </p:nvGrpSpPr>
        <p:grpSpPr>
          <a:xfrm rot="0">
            <a:off x="0" y="-25475"/>
            <a:ext cx="18288000" cy="2166846"/>
            <a:chOff x="0" y="0"/>
            <a:chExt cx="24384000" cy="2889128"/>
          </a:xfrm>
        </p:grpSpPr>
        <p:sp>
          <p:nvSpPr>
            <p:cNvPr name="Freeform 4" id="4"/>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5" id="5"/>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6" id="6"/>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TextBox 2" id="2"/>
          <p:cNvSpPr txBox="true"/>
          <p:nvPr/>
        </p:nvSpPr>
        <p:spPr>
          <a:xfrm rot="0">
            <a:off x="586060" y="3271534"/>
            <a:ext cx="17115881" cy="5123587"/>
          </a:xfrm>
          <a:prstGeom prst="rect">
            <a:avLst/>
          </a:prstGeom>
        </p:spPr>
        <p:txBody>
          <a:bodyPr anchor="t" rtlCol="false" tIns="0" lIns="0" bIns="0" rIns="0">
            <a:spAutoFit/>
          </a:bodyPr>
          <a:lstStyle/>
          <a:p>
            <a:pPr algn="l" marL="574076" indent="-287038" lvl="1">
              <a:lnSpc>
                <a:spcPts val="3722"/>
              </a:lnSpc>
              <a:buFont typeface="Arial"/>
              <a:buChar char="•"/>
            </a:pPr>
            <a:r>
              <a:rPr lang="en-US" b="true" sz="2658">
                <a:solidFill>
                  <a:srgbClr val="FFFFFF"/>
                </a:solidFill>
                <a:latin typeface="Canva Sans Bold"/>
                <a:ea typeface="Canva Sans Bold"/>
                <a:cs typeface="Canva Sans Bold"/>
                <a:sym typeface="Canva Sans Bold"/>
              </a:rPr>
              <a:t>Financials &amp; Academics: A community of 1.0k players generated a massive $7.2M i</a:t>
            </a:r>
            <a:r>
              <a:rPr lang="en-US" b="true" sz="2658">
                <a:solidFill>
                  <a:srgbClr val="FFFFFF"/>
                </a:solidFill>
                <a:latin typeface="Canva Sans Bold"/>
                <a:ea typeface="Canva Sans Bold"/>
                <a:cs typeface="Canva Sans Bold"/>
                <a:sym typeface="Canva Sans Bold"/>
              </a:rPr>
              <a:t>n total spending. Despite a high average of 6.2 daily gaming hours, the Average GPA remains stable at 3.</a:t>
            </a:r>
          </a:p>
          <a:p>
            <a:pPr algn="l">
              <a:lnSpc>
                <a:spcPts val="3722"/>
              </a:lnSpc>
            </a:pPr>
          </a:p>
          <a:p>
            <a:pPr algn="l" marL="574076" indent="-287038" lvl="1">
              <a:lnSpc>
                <a:spcPts val="3722"/>
              </a:lnSpc>
              <a:buFont typeface="Arial"/>
              <a:buChar char="•"/>
            </a:pPr>
            <a:r>
              <a:rPr lang="en-US" b="true" sz="2658">
                <a:solidFill>
                  <a:srgbClr val="FFFFFF"/>
                </a:solidFill>
                <a:latin typeface="Canva Sans Bold"/>
                <a:ea typeface="Canva Sans Bold"/>
                <a:cs typeface="Canva Sans Bold"/>
                <a:sym typeface="Canva Sans Bold"/>
              </a:rPr>
              <a:t>Demographics: The audience is heavily male-dominated (66%) compared to female (32%), with playtime almost equally split across age groups (Young Adults 35%, Teenagers 34%, Adults 31%).</a:t>
            </a:r>
          </a:p>
          <a:p>
            <a:pPr algn="l">
              <a:lnSpc>
                <a:spcPts val="3722"/>
              </a:lnSpc>
            </a:pPr>
          </a:p>
          <a:p>
            <a:pPr algn="l" marL="574076" indent="-287038" lvl="1">
              <a:lnSpc>
                <a:spcPts val="3722"/>
              </a:lnSpc>
              <a:buFont typeface="Arial"/>
              <a:buChar char="•"/>
            </a:pPr>
            <a:r>
              <a:rPr lang="en-US" b="true" sz="2658">
                <a:solidFill>
                  <a:srgbClr val="FFFFFF"/>
                </a:solidFill>
                <a:latin typeface="Canva Sans Bold"/>
                <a:ea typeface="Canva Sans Bold"/>
                <a:cs typeface="Canva Sans Bold"/>
                <a:sym typeface="Canva Sans Bold"/>
              </a:rPr>
              <a:t>Games &amp; Spending: Elden Ring leads in total playtime, while Strategy, MMO, and MOBA genres drive the highest revenue, each approaching the $1M spending mark.</a:t>
            </a:r>
          </a:p>
          <a:p>
            <a:pPr algn="l">
              <a:lnSpc>
                <a:spcPts val="3722"/>
              </a:lnSpc>
            </a:pPr>
          </a:p>
          <a:p>
            <a:pPr algn="l" marL="574076" indent="-287038" lvl="1">
              <a:lnSpc>
                <a:spcPts val="3722"/>
              </a:lnSpc>
              <a:buFont typeface="Arial"/>
              <a:buChar char="•"/>
            </a:pPr>
            <a:r>
              <a:rPr lang="en-US" b="true" sz="2658">
                <a:solidFill>
                  <a:srgbClr val="FFFFFF"/>
                </a:solidFill>
                <a:latin typeface="Canva Sans Bold"/>
                <a:ea typeface="Canva Sans Bold"/>
                <a:cs typeface="Canva Sans Bold"/>
                <a:sym typeface="Canva Sans Bold"/>
              </a:rPr>
              <a:t>Productivity Impact: The scatter plot indicates no direct negative correlation between long gaming hours and work productivity; many high-hour gamers still maintain peak productivity scores.</a:t>
            </a:r>
          </a:p>
        </p:txBody>
      </p:sp>
      <p:sp>
        <p:nvSpPr>
          <p:cNvPr name="TextBox 3" id="3"/>
          <p:cNvSpPr txBox="true"/>
          <p:nvPr/>
        </p:nvSpPr>
        <p:spPr>
          <a:xfrm rot="0">
            <a:off x="4600932" y="1452259"/>
            <a:ext cx="8783574" cy="1193925"/>
          </a:xfrm>
          <a:prstGeom prst="rect">
            <a:avLst/>
          </a:prstGeom>
        </p:spPr>
        <p:txBody>
          <a:bodyPr anchor="t" rtlCol="false" tIns="0" lIns="0" bIns="0" rIns="0">
            <a:spAutoFit/>
          </a:bodyPr>
          <a:lstStyle/>
          <a:p>
            <a:pPr algn="ctr"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Python Insights</a:t>
            </a:r>
          </a:p>
        </p:txBody>
      </p:sp>
      <p:grpSp>
        <p:nvGrpSpPr>
          <p:cNvPr name="Group 4" id="4"/>
          <p:cNvGrpSpPr/>
          <p:nvPr/>
        </p:nvGrpSpPr>
        <p:grpSpPr>
          <a:xfrm rot="0">
            <a:off x="0" y="-25475"/>
            <a:ext cx="18288000" cy="2166846"/>
            <a:chOff x="0" y="0"/>
            <a:chExt cx="24384000" cy="2889128"/>
          </a:xfrm>
        </p:grpSpPr>
        <p:sp>
          <p:nvSpPr>
            <p:cNvPr name="Freeform 5" id="5"/>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2"/>
              <a:stretch>
                <a:fillRect l="0" t="0" r="0" b="0"/>
              </a:stretch>
            </a:blipFill>
          </p:spPr>
        </p:sp>
        <p:sp>
          <p:nvSpPr>
            <p:cNvPr name="Freeform 6" id="6"/>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3"/>
              <a:stretch>
                <a:fillRect l="0" t="0" r="0" b="0"/>
              </a:stretch>
            </a:blipFill>
          </p:spPr>
        </p:sp>
        <p:sp>
          <p:nvSpPr>
            <p:cNvPr name="Freeform 7" id="7"/>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4"/>
              <a:stretch>
                <a:fillRect l="-12904" t="-12015" r="-11867" b="-12757"/>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96980" y="2003656"/>
            <a:ext cx="16230600" cy="8030677"/>
          </a:xfrm>
          <a:custGeom>
            <a:avLst/>
            <a:gdLst/>
            <a:ahLst/>
            <a:cxnLst/>
            <a:rect r="r" b="b" t="t" l="l"/>
            <a:pathLst>
              <a:path h="8030677" w="16230600">
                <a:moveTo>
                  <a:pt x="0" y="0"/>
                </a:moveTo>
                <a:lnTo>
                  <a:pt x="16230600" y="0"/>
                </a:lnTo>
                <a:lnTo>
                  <a:pt x="16230600" y="8030678"/>
                </a:lnTo>
                <a:lnTo>
                  <a:pt x="0" y="8030678"/>
                </a:lnTo>
                <a:lnTo>
                  <a:pt x="0" y="0"/>
                </a:lnTo>
                <a:close/>
              </a:path>
            </a:pathLst>
          </a:custGeom>
          <a:blipFill>
            <a:blip r:embed="rId2"/>
            <a:stretch>
              <a:fillRect l="0" t="0" r="0" b="0"/>
            </a:stretch>
          </a:blipFill>
        </p:spPr>
      </p:sp>
      <p:grpSp>
        <p:nvGrpSpPr>
          <p:cNvPr name="Group 3" id="3"/>
          <p:cNvGrpSpPr/>
          <p:nvPr/>
        </p:nvGrpSpPr>
        <p:grpSpPr>
          <a:xfrm rot="0">
            <a:off x="0" y="-25475"/>
            <a:ext cx="18288000" cy="2166846"/>
            <a:chOff x="0" y="0"/>
            <a:chExt cx="24384000" cy="2889128"/>
          </a:xfrm>
        </p:grpSpPr>
        <p:sp>
          <p:nvSpPr>
            <p:cNvPr name="Freeform 4" id="4"/>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5" id="5"/>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6" id="6"/>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TextBox 2" id="2"/>
          <p:cNvSpPr txBox="true"/>
          <p:nvPr/>
        </p:nvSpPr>
        <p:spPr>
          <a:xfrm rot="0">
            <a:off x="257175" y="3008753"/>
            <a:ext cx="18030825" cy="6250077"/>
          </a:xfrm>
          <a:prstGeom prst="rect">
            <a:avLst/>
          </a:prstGeom>
        </p:spPr>
        <p:txBody>
          <a:bodyPr anchor="t" rtlCol="false" tIns="0" lIns="0" bIns="0" rIns="0">
            <a:spAutoFit/>
          </a:bodyPr>
          <a:lstStyle/>
          <a:p>
            <a:pPr algn="l" marL="552486" indent="-276243" lvl="1">
              <a:lnSpc>
                <a:spcPts val="3582"/>
              </a:lnSpc>
              <a:buFont typeface="Arial"/>
              <a:buChar char="•"/>
            </a:pPr>
            <a:r>
              <a:rPr lang="en-US" b="true" sz="2558">
                <a:solidFill>
                  <a:srgbClr val="FFFFFF"/>
                </a:solidFill>
                <a:latin typeface="Canva Sans Bold"/>
                <a:ea typeface="Canva Sans Bold"/>
                <a:cs typeface="Canva Sans Bold"/>
                <a:sym typeface="Canva Sans Bold"/>
              </a:rPr>
              <a:t>Health Baselines: Tracked players average 6.9 hours of exercise and 6 hours</a:t>
            </a:r>
            <a:r>
              <a:rPr lang="en-US" b="true" sz="2558">
                <a:solidFill>
                  <a:srgbClr val="FFFFFF"/>
                </a:solidFill>
                <a:latin typeface="Canva Sans Bold"/>
                <a:ea typeface="Canva Sans Bold"/>
                <a:cs typeface="Canva Sans Bold"/>
                <a:sym typeface="Canva Sans Bold"/>
              </a:rPr>
              <a:t> of sleep against a high baseline of 6.15 daily gaming hours.</a:t>
            </a:r>
          </a:p>
          <a:p>
            <a:pPr algn="l">
              <a:lnSpc>
                <a:spcPts val="3582"/>
              </a:lnSpc>
            </a:pPr>
          </a:p>
          <a:p>
            <a:pPr algn="l" marL="552486" indent="-276243" lvl="1">
              <a:lnSpc>
                <a:spcPts val="3582"/>
              </a:lnSpc>
              <a:buFont typeface="Arial"/>
              <a:buChar char="•"/>
            </a:pPr>
            <a:r>
              <a:rPr lang="en-US" b="true" sz="2558">
                <a:solidFill>
                  <a:srgbClr val="FFFFFF"/>
                </a:solidFill>
                <a:latin typeface="Canva Sans Bold"/>
                <a:ea typeface="Canva Sans Bold"/>
                <a:cs typeface="Canva Sans Bold"/>
                <a:sym typeface="Canva Sans Bold"/>
              </a:rPr>
              <a:t>Physical Pain &amp; Platforms: A striking 43% of players are at "High Risk" for physical pain, with 37% at "Moderate Risk." Back and neck pain (TRUE status) is heavily prevalent across all platforms, peaking noticeably among Mobile and Multi-platform users.</a:t>
            </a:r>
          </a:p>
          <a:p>
            <a:pPr algn="l">
              <a:lnSpc>
                <a:spcPts val="3582"/>
              </a:lnSpc>
            </a:pPr>
          </a:p>
          <a:p>
            <a:pPr algn="l" marL="552486" indent="-276243" lvl="1">
              <a:lnSpc>
                <a:spcPts val="3582"/>
              </a:lnSpc>
              <a:buFont typeface="Arial"/>
              <a:buChar char="•"/>
            </a:pPr>
            <a:r>
              <a:rPr lang="en-US" b="true" sz="2558">
                <a:solidFill>
                  <a:srgbClr val="FFFFFF"/>
                </a:solidFill>
                <a:latin typeface="Canva Sans Bold"/>
                <a:ea typeface="Canva Sans Bold"/>
                <a:cs typeface="Canva Sans Bold"/>
                <a:sym typeface="Canva Sans Bold"/>
              </a:rPr>
              <a:t>Sle</a:t>
            </a:r>
            <a:r>
              <a:rPr lang="en-US" b="true" sz="2558">
                <a:solidFill>
                  <a:srgbClr val="FFFFFF"/>
                </a:solidFill>
                <a:latin typeface="Canva Sans Bold"/>
                <a:ea typeface="Canva Sans Bold"/>
                <a:cs typeface="Canva Sans Bold"/>
                <a:sym typeface="Canva Sans Bold"/>
              </a:rPr>
              <a:t>ep Quality Impact: Sleep duration directly correlates with quality; players reporting "Good" sleep get the most rest (6.35 hours), while those with "Insomnia" or "Very Poor" sleep drop significantly (~4.38 to 4.75 hours).</a:t>
            </a:r>
          </a:p>
          <a:p>
            <a:pPr algn="l">
              <a:lnSpc>
                <a:spcPts val="3582"/>
              </a:lnSpc>
            </a:pPr>
          </a:p>
          <a:p>
            <a:pPr algn="l" marL="552486" indent="-276243" lvl="1">
              <a:lnSpc>
                <a:spcPts val="3582"/>
              </a:lnSpc>
              <a:buFont typeface="Arial"/>
              <a:buChar char="•"/>
            </a:pPr>
            <a:r>
              <a:rPr lang="en-US" b="true" sz="2558">
                <a:solidFill>
                  <a:srgbClr val="FFFFFF"/>
                </a:solidFill>
                <a:latin typeface="Canva Sans Bold"/>
                <a:ea typeface="Canva Sans Bold"/>
                <a:cs typeface="Canva Sans Bold"/>
                <a:sym typeface="Canva Sans Bold"/>
              </a:rPr>
              <a:t>Mo</a:t>
            </a:r>
            <a:r>
              <a:rPr lang="en-US" b="true" sz="2558">
                <a:solidFill>
                  <a:srgbClr val="FFFFFF"/>
                </a:solidFill>
                <a:latin typeface="Canva Sans Bold"/>
                <a:ea typeface="Canva Sans Bold"/>
                <a:cs typeface="Canva Sans Bold"/>
                <a:sym typeface="Canva Sans Bold"/>
              </a:rPr>
              <a:t>od &amp; Well-being: While a stable "Normal" mood state has the highest overall count (~1.4k), negative emotional states like Anxious (~1.1k) and Irritable (~970) still represent very high volume segments among the surveyed players.</a:t>
            </a:r>
          </a:p>
        </p:txBody>
      </p:sp>
      <p:sp>
        <p:nvSpPr>
          <p:cNvPr name="TextBox 3" id="3"/>
          <p:cNvSpPr txBox="true"/>
          <p:nvPr/>
        </p:nvSpPr>
        <p:spPr>
          <a:xfrm rot="0">
            <a:off x="4600932" y="1452259"/>
            <a:ext cx="8783574" cy="1193925"/>
          </a:xfrm>
          <a:prstGeom prst="rect">
            <a:avLst/>
          </a:prstGeom>
        </p:spPr>
        <p:txBody>
          <a:bodyPr anchor="t" rtlCol="false" tIns="0" lIns="0" bIns="0" rIns="0">
            <a:spAutoFit/>
          </a:bodyPr>
          <a:lstStyle/>
          <a:p>
            <a:pPr algn="ctr"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Python Insights</a:t>
            </a:r>
          </a:p>
        </p:txBody>
      </p:sp>
      <p:grpSp>
        <p:nvGrpSpPr>
          <p:cNvPr name="Group 4" id="4"/>
          <p:cNvGrpSpPr/>
          <p:nvPr/>
        </p:nvGrpSpPr>
        <p:grpSpPr>
          <a:xfrm rot="0">
            <a:off x="0" y="-25475"/>
            <a:ext cx="18288000" cy="2166846"/>
            <a:chOff x="0" y="0"/>
            <a:chExt cx="24384000" cy="2889128"/>
          </a:xfrm>
        </p:grpSpPr>
        <p:sp>
          <p:nvSpPr>
            <p:cNvPr name="Freeform 5" id="5"/>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2"/>
              <a:stretch>
                <a:fillRect l="0" t="0" r="0" b="0"/>
              </a:stretch>
            </a:blipFill>
          </p:spPr>
        </p:sp>
        <p:sp>
          <p:nvSpPr>
            <p:cNvPr name="Freeform 6" id="6"/>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3"/>
              <a:stretch>
                <a:fillRect l="0" t="0" r="0" b="0"/>
              </a:stretch>
            </a:blipFill>
          </p:spPr>
        </p:sp>
        <p:sp>
          <p:nvSpPr>
            <p:cNvPr name="Freeform 7" id="7"/>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4"/>
              <a:stretch>
                <a:fillRect l="-12904" t="-12015" r="-11867" b="-12757"/>
              </a:stretch>
            </a:blipFill>
          </p:spPr>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218867" y="2016350"/>
            <a:ext cx="16230600" cy="8005291"/>
          </a:xfrm>
          <a:custGeom>
            <a:avLst/>
            <a:gdLst/>
            <a:ahLst/>
            <a:cxnLst/>
            <a:rect r="r" b="b" t="t" l="l"/>
            <a:pathLst>
              <a:path h="8005291" w="16230600">
                <a:moveTo>
                  <a:pt x="0" y="0"/>
                </a:moveTo>
                <a:lnTo>
                  <a:pt x="16230600" y="0"/>
                </a:lnTo>
                <a:lnTo>
                  <a:pt x="16230600" y="8005291"/>
                </a:lnTo>
                <a:lnTo>
                  <a:pt x="0" y="8005291"/>
                </a:lnTo>
                <a:lnTo>
                  <a:pt x="0" y="0"/>
                </a:lnTo>
                <a:close/>
              </a:path>
            </a:pathLst>
          </a:custGeom>
          <a:blipFill>
            <a:blip r:embed="rId2"/>
            <a:stretch>
              <a:fillRect l="0" t="0" r="0" b="0"/>
            </a:stretch>
          </a:blipFill>
        </p:spPr>
      </p:sp>
      <p:grpSp>
        <p:nvGrpSpPr>
          <p:cNvPr name="Group 3" id="3"/>
          <p:cNvGrpSpPr/>
          <p:nvPr/>
        </p:nvGrpSpPr>
        <p:grpSpPr>
          <a:xfrm rot="0">
            <a:off x="0" y="-25475"/>
            <a:ext cx="18288000" cy="2166846"/>
            <a:chOff x="0" y="0"/>
            <a:chExt cx="24384000" cy="2889128"/>
          </a:xfrm>
        </p:grpSpPr>
        <p:sp>
          <p:nvSpPr>
            <p:cNvPr name="Freeform 4" id="4"/>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5" id="5"/>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6" id="6"/>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TextBox 2" id="2"/>
          <p:cNvSpPr txBox="true"/>
          <p:nvPr/>
        </p:nvSpPr>
        <p:spPr>
          <a:xfrm rot="0">
            <a:off x="514350" y="2893331"/>
            <a:ext cx="17259300" cy="6990487"/>
          </a:xfrm>
          <a:prstGeom prst="rect">
            <a:avLst/>
          </a:prstGeom>
        </p:spPr>
        <p:txBody>
          <a:bodyPr anchor="t" rtlCol="false" tIns="0" lIns="0" bIns="0" rIns="0">
            <a:spAutoFit/>
          </a:bodyPr>
          <a:lstStyle/>
          <a:p>
            <a:pPr algn="l" marL="574076" indent="-287038" lvl="1">
              <a:lnSpc>
                <a:spcPts val="3722"/>
              </a:lnSpc>
              <a:buFont typeface="Arial"/>
              <a:buChar char="•"/>
            </a:pPr>
            <a:r>
              <a:rPr lang="en-US" b="true" sz="2658">
                <a:solidFill>
                  <a:srgbClr val="FFFFFF"/>
                </a:solidFill>
                <a:latin typeface="Canva Sans Bold"/>
                <a:ea typeface="Canva Sans Bold"/>
                <a:cs typeface="Canva Sans Bold"/>
                <a:sym typeface="Canva Sans Bold"/>
              </a:rPr>
              <a:t>Social &amp; Behavioral Baselines: Players average 7.7 weekly face-to-face (F2F) social hours a</a:t>
            </a:r>
            <a:r>
              <a:rPr lang="en-US" b="true" sz="2658">
                <a:solidFill>
                  <a:srgbClr val="FFFFFF"/>
                </a:solidFill>
                <a:latin typeface="Canva Sans Bold"/>
                <a:ea typeface="Canva Sans Bold"/>
                <a:cs typeface="Canva Sans Bold"/>
                <a:sym typeface="Canva Sans Bold"/>
              </a:rPr>
              <a:t>nd a 3.9 social score, alongside 5.4 work productivity against a high 6.2 daily gaming hours baseline.</a:t>
            </a:r>
          </a:p>
          <a:p>
            <a:pPr algn="l">
              <a:lnSpc>
                <a:spcPts val="3722"/>
              </a:lnSpc>
            </a:pPr>
          </a:p>
          <a:p>
            <a:pPr algn="l" marL="574076" indent="-287038" lvl="1">
              <a:lnSpc>
                <a:spcPts val="3722"/>
              </a:lnSpc>
              <a:buFont typeface="Arial"/>
              <a:buChar char="•"/>
            </a:pPr>
            <a:r>
              <a:rPr lang="en-US" b="true" sz="2658">
                <a:solidFill>
                  <a:srgbClr val="FFFFFF"/>
                </a:solidFill>
                <a:latin typeface="Canva Sans Bold"/>
                <a:ea typeface="Canva Sans Bold"/>
                <a:cs typeface="Canva Sans Bold"/>
                <a:sym typeface="Canva Sans Bold"/>
              </a:rPr>
              <a:t>Addiction vs. Social Life: There is a direct negative impact on socialization; High and Severe risk players suffer from elevated Social Isolation Scores and lower F2F social hours. In contrast, Low-risk individuals maintain peak weekly F2F social hours (~10 hours).</a:t>
            </a:r>
          </a:p>
          <a:p>
            <a:pPr algn="l">
              <a:lnSpc>
                <a:spcPts val="3722"/>
              </a:lnSpc>
            </a:pPr>
          </a:p>
          <a:p>
            <a:pPr algn="l" marL="574076" indent="-287038" lvl="1">
              <a:lnSpc>
                <a:spcPts val="3722"/>
              </a:lnSpc>
              <a:buFont typeface="Arial"/>
              <a:buChar char="•"/>
            </a:pPr>
            <a:r>
              <a:rPr lang="en-US" b="true" sz="2658">
                <a:solidFill>
                  <a:srgbClr val="FFFFFF"/>
                </a:solidFill>
                <a:latin typeface="Canva Sans Bold"/>
                <a:ea typeface="Canva Sans Bold"/>
                <a:cs typeface="Canva Sans Bold"/>
                <a:sym typeface="Canva Sans Bold"/>
              </a:rPr>
              <a:t>Demographic Vulnerability: Young Adults are significantly the most vulnerable group, dominating the risk distributions and peaking heavily in the "Low" to "Moderate" counts while holding a massive portion of the higher risk tiers.</a:t>
            </a:r>
          </a:p>
          <a:p>
            <a:pPr algn="l">
              <a:lnSpc>
                <a:spcPts val="3722"/>
              </a:lnSpc>
            </a:pPr>
          </a:p>
          <a:p>
            <a:pPr algn="l" marL="574076" indent="-287038" lvl="1">
              <a:lnSpc>
                <a:spcPts val="3722"/>
              </a:lnSpc>
              <a:buFont typeface="Arial"/>
              <a:buChar char="•"/>
            </a:pPr>
            <a:r>
              <a:rPr lang="en-US" b="true" sz="2658">
                <a:solidFill>
                  <a:srgbClr val="FFFFFF"/>
                </a:solidFill>
                <a:latin typeface="Canva Sans Bold"/>
                <a:ea typeface="Canva Sans Bold"/>
                <a:cs typeface="Canva Sans Bold"/>
                <a:sym typeface="Canva Sans Bold"/>
              </a:rPr>
              <a:t>Mood-Driven Spending &amp; Playtime: Negative emotional states trigger extreme behavioral changes. Total financial spending spikes dramatically for Anxious, Irritable, and Depressed players. Furthermore, players in negative mood states average 7 daily gaming hours, compared to just 4 hours for Excited or Normal players.</a:t>
            </a:r>
          </a:p>
        </p:txBody>
      </p:sp>
      <p:sp>
        <p:nvSpPr>
          <p:cNvPr name="TextBox 3" id="3"/>
          <p:cNvSpPr txBox="true"/>
          <p:nvPr/>
        </p:nvSpPr>
        <p:spPr>
          <a:xfrm rot="0">
            <a:off x="4570676" y="921971"/>
            <a:ext cx="8783574" cy="1193925"/>
          </a:xfrm>
          <a:prstGeom prst="rect">
            <a:avLst/>
          </a:prstGeom>
        </p:spPr>
        <p:txBody>
          <a:bodyPr anchor="t" rtlCol="false" tIns="0" lIns="0" bIns="0" rIns="0">
            <a:spAutoFit/>
          </a:bodyPr>
          <a:lstStyle/>
          <a:p>
            <a:pPr algn="ctr"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Python Insights</a:t>
            </a:r>
          </a:p>
        </p:txBody>
      </p:sp>
      <p:grpSp>
        <p:nvGrpSpPr>
          <p:cNvPr name="Group 4" id="4"/>
          <p:cNvGrpSpPr/>
          <p:nvPr/>
        </p:nvGrpSpPr>
        <p:grpSpPr>
          <a:xfrm rot="0">
            <a:off x="0" y="-25475"/>
            <a:ext cx="18288000" cy="2166846"/>
            <a:chOff x="0" y="0"/>
            <a:chExt cx="24384000" cy="2889128"/>
          </a:xfrm>
        </p:grpSpPr>
        <p:sp>
          <p:nvSpPr>
            <p:cNvPr name="Freeform 5" id="5"/>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2"/>
              <a:stretch>
                <a:fillRect l="0" t="0" r="0" b="0"/>
              </a:stretch>
            </a:blipFill>
          </p:spPr>
        </p:sp>
        <p:sp>
          <p:nvSpPr>
            <p:cNvPr name="Freeform 6" id="6"/>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3"/>
              <a:stretch>
                <a:fillRect l="0" t="0" r="0" b="0"/>
              </a:stretch>
            </a:blipFill>
          </p:spPr>
        </p:sp>
        <p:sp>
          <p:nvSpPr>
            <p:cNvPr name="Freeform 7" id="7"/>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4"/>
              <a:stretch>
                <a:fillRect l="-12904" t="-12015" r="-11867" b="-12757"/>
              </a:stretch>
            </a:blipFill>
          </p:spPr>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grpSp>
        <p:nvGrpSpPr>
          <p:cNvPr name="Group 2" id="2"/>
          <p:cNvGrpSpPr/>
          <p:nvPr/>
        </p:nvGrpSpPr>
        <p:grpSpPr>
          <a:xfrm rot="0">
            <a:off x="0" y="-25475"/>
            <a:ext cx="18288000" cy="2166846"/>
            <a:chOff x="0" y="0"/>
            <a:chExt cx="24384000" cy="2889128"/>
          </a:xfrm>
        </p:grpSpPr>
        <p:sp>
          <p:nvSpPr>
            <p:cNvPr name="Freeform 3" id="3"/>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2"/>
              <a:stretch>
                <a:fillRect l="0" t="0" r="0" b="0"/>
              </a:stretch>
            </a:blipFill>
          </p:spPr>
        </p:sp>
        <p:sp>
          <p:nvSpPr>
            <p:cNvPr name="Freeform 4" id="4"/>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3"/>
              <a:stretch>
                <a:fillRect l="0" t="0" r="0" b="0"/>
              </a:stretch>
            </a:blipFill>
          </p:spPr>
        </p:sp>
        <p:sp>
          <p:nvSpPr>
            <p:cNvPr name="Freeform 5" id="5"/>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4"/>
              <a:stretch>
                <a:fillRect l="-12904" t="-12015" r="-11867" b="-12757"/>
              </a:stretch>
            </a:blipFill>
          </p:spPr>
        </p:sp>
      </p:grpSp>
      <p:sp>
        <p:nvSpPr>
          <p:cNvPr name="Freeform 6" id="6"/>
          <p:cNvSpPr/>
          <p:nvPr/>
        </p:nvSpPr>
        <p:spPr>
          <a:xfrm flipH="false" flipV="false" rot="0">
            <a:off x="6633486" y="3130523"/>
            <a:ext cx="5021028" cy="5021028"/>
          </a:xfrm>
          <a:custGeom>
            <a:avLst/>
            <a:gdLst/>
            <a:ahLst/>
            <a:cxnLst/>
            <a:rect r="r" b="b" t="t" l="l"/>
            <a:pathLst>
              <a:path h="5021028" w="5021028">
                <a:moveTo>
                  <a:pt x="0" y="0"/>
                </a:moveTo>
                <a:lnTo>
                  <a:pt x="5021028" y="0"/>
                </a:lnTo>
                <a:lnTo>
                  <a:pt x="5021028" y="5021028"/>
                </a:lnTo>
                <a:lnTo>
                  <a:pt x="0" y="5021028"/>
                </a:lnTo>
                <a:lnTo>
                  <a:pt x="0" y="0"/>
                </a:lnTo>
                <a:close/>
              </a:path>
            </a:pathLst>
          </a:custGeom>
          <a:blipFill>
            <a:blip r:embed="rId5"/>
            <a:stretch>
              <a:fillRect l="0" t="0" r="0" b="0"/>
            </a:stretch>
          </a:blipFill>
        </p:spPr>
      </p:sp>
      <p:sp>
        <p:nvSpPr>
          <p:cNvPr name="TextBox 7" id="7"/>
          <p:cNvSpPr txBox="true"/>
          <p:nvPr/>
        </p:nvSpPr>
        <p:spPr>
          <a:xfrm rot="0">
            <a:off x="3777277" y="1657184"/>
            <a:ext cx="10733446"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Canva Sans Bold"/>
                <a:ea typeface="Canva Sans Bold"/>
                <a:cs typeface="Canva Sans Bold"/>
                <a:sym typeface="Canva Sans Bold"/>
              </a:rPr>
              <a:t>Try Our Python Dashboard</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166801" y="5675865"/>
            <a:ext cx="2090865" cy="923782"/>
          </a:xfrm>
          <a:custGeom>
            <a:avLst/>
            <a:gdLst/>
            <a:ahLst/>
            <a:cxnLst/>
            <a:rect r="r" b="b" t="t" l="l"/>
            <a:pathLst>
              <a:path h="923782" w="2090865">
                <a:moveTo>
                  <a:pt x="0" y="0"/>
                </a:moveTo>
                <a:lnTo>
                  <a:pt x="2090865" y="0"/>
                </a:lnTo>
                <a:lnTo>
                  <a:pt x="2090865" y="923782"/>
                </a:lnTo>
                <a:lnTo>
                  <a:pt x="0" y="923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0738" y="3338768"/>
            <a:ext cx="1162257" cy="1162257"/>
          </a:xfrm>
          <a:custGeom>
            <a:avLst/>
            <a:gdLst/>
            <a:ahLst/>
            <a:cxnLst/>
            <a:rect r="r" b="b" t="t" l="l"/>
            <a:pathLst>
              <a:path h="1162257" w="1162257">
                <a:moveTo>
                  <a:pt x="0" y="0"/>
                </a:moveTo>
                <a:lnTo>
                  <a:pt x="1162257" y="0"/>
                </a:lnTo>
                <a:lnTo>
                  <a:pt x="1162257" y="1162256"/>
                </a:lnTo>
                <a:lnTo>
                  <a:pt x="0" y="1162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24220" y="4009005"/>
            <a:ext cx="10733446"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Tableau</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6"/>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7"/>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8"/>
              <a:stretch>
                <a:fillRect l="-12904" t="-12015" r="-11867" b="-12757"/>
              </a:stretch>
            </a:blipFill>
          </p:spPr>
        </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8014946" y="3699578"/>
            <a:ext cx="9602083" cy="4333572"/>
          </a:xfrm>
          <a:custGeom>
            <a:avLst/>
            <a:gdLst/>
            <a:ahLst/>
            <a:cxnLst/>
            <a:rect r="r" b="b" t="t" l="l"/>
            <a:pathLst>
              <a:path h="4333572" w="9602083">
                <a:moveTo>
                  <a:pt x="0" y="0"/>
                </a:moveTo>
                <a:lnTo>
                  <a:pt x="9602083" y="0"/>
                </a:lnTo>
                <a:lnTo>
                  <a:pt x="9602083" y="4333572"/>
                </a:lnTo>
                <a:lnTo>
                  <a:pt x="0" y="4333572"/>
                </a:lnTo>
                <a:lnTo>
                  <a:pt x="0" y="0"/>
                </a:lnTo>
                <a:close/>
              </a:path>
            </a:pathLst>
          </a:custGeom>
          <a:blipFill>
            <a:blip r:embed="rId3"/>
            <a:stretch>
              <a:fillRect l="0" t="0" r="0" b="0"/>
            </a:stretch>
          </a:blipFill>
        </p:spPr>
      </p:sp>
      <p:sp>
        <p:nvSpPr>
          <p:cNvPr name="TextBox 4" id="4"/>
          <p:cNvSpPr txBox="true"/>
          <p:nvPr/>
        </p:nvSpPr>
        <p:spPr>
          <a:xfrm rot="0">
            <a:off x="1335845" y="2595800"/>
            <a:ext cx="6679101" cy="919342"/>
          </a:xfrm>
          <a:prstGeom prst="rect">
            <a:avLst/>
          </a:prstGeom>
        </p:spPr>
        <p:txBody>
          <a:bodyPr anchor="t" rtlCol="false" tIns="0" lIns="0" bIns="0" rIns="0">
            <a:spAutoFit/>
          </a:bodyPr>
          <a:lstStyle/>
          <a:p>
            <a:pPr algn="l" marL="0" indent="0" lvl="0">
              <a:lnSpc>
                <a:spcPts val="6855"/>
              </a:lnSpc>
              <a:spcBef>
                <a:spcPct val="0"/>
              </a:spcBef>
            </a:pPr>
            <a:r>
              <a:rPr lang="en-US" sz="6995">
                <a:solidFill>
                  <a:srgbClr val="FFFFFF"/>
                </a:solidFill>
                <a:latin typeface="Tex Gyre Termes"/>
                <a:ea typeface="Tex Gyre Termes"/>
                <a:cs typeface="Tex Gyre Termes"/>
                <a:sym typeface="Tex Gyre Termes"/>
              </a:rPr>
              <a:t>Tableau </a:t>
            </a:r>
            <a:r>
              <a:rPr lang="en-US" sz="6995" strike="noStrike" u="none">
                <a:solidFill>
                  <a:srgbClr val="FFFFFF"/>
                </a:solidFill>
                <a:latin typeface="Tex Gyre Termes"/>
                <a:ea typeface="Tex Gyre Termes"/>
                <a:cs typeface="Tex Gyre Termes"/>
                <a:sym typeface="Tex Gyre Termes"/>
              </a:rPr>
              <a:t>Work</a:t>
            </a:r>
          </a:p>
        </p:txBody>
      </p:sp>
      <p:sp>
        <p:nvSpPr>
          <p:cNvPr name="TextBox 5" id="5"/>
          <p:cNvSpPr txBox="true"/>
          <p:nvPr/>
        </p:nvSpPr>
        <p:spPr>
          <a:xfrm rot="0">
            <a:off x="572984" y="3948040"/>
            <a:ext cx="6802778" cy="3742851"/>
          </a:xfrm>
          <a:prstGeom prst="rect">
            <a:avLst/>
          </a:prstGeom>
        </p:spPr>
        <p:txBody>
          <a:bodyPr anchor="t" rtlCol="false" tIns="0" lIns="0" bIns="0" rIns="0">
            <a:spAutoFit/>
          </a:bodyPr>
          <a:lstStyle/>
          <a:p>
            <a:pPr algn="l">
              <a:lnSpc>
                <a:spcPts val="3701"/>
              </a:lnSpc>
            </a:pPr>
            <a:r>
              <a:rPr lang="en-US" sz="2643">
                <a:solidFill>
                  <a:srgbClr val="FFFFFF"/>
                </a:solidFill>
                <a:latin typeface="Poppins"/>
                <a:ea typeface="Poppins"/>
                <a:cs typeface="Poppins"/>
                <a:sym typeface="Poppins"/>
              </a:rPr>
              <a:t>c</a:t>
            </a:r>
            <a:r>
              <a:rPr lang="en-US" sz="2643">
                <a:solidFill>
                  <a:srgbClr val="FFFFFF"/>
                </a:solidFill>
                <a:latin typeface="Poppins"/>
                <a:ea typeface="Poppins"/>
                <a:cs typeface="Poppins"/>
                <a:sym typeface="Poppins"/>
              </a:rPr>
              <a:t>reated a </a:t>
            </a:r>
            <a:r>
              <a:rPr lang="en-US" sz="2643">
                <a:solidFill>
                  <a:srgbClr val="FFFFFF"/>
                </a:solidFill>
                <a:latin typeface="Poppins"/>
                <a:ea typeface="Poppins"/>
                <a:cs typeface="Poppins"/>
                <a:sym typeface="Poppins"/>
              </a:rPr>
              <a:t>T</a:t>
            </a:r>
            <a:r>
              <a:rPr lang="en-US" sz="2643">
                <a:solidFill>
                  <a:srgbClr val="FFFFFF"/>
                </a:solidFill>
                <a:latin typeface="Poppins"/>
                <a:ea typeface="Poppins"/>
                <a:cs typeface="Poppins"/>
                <a:sym typeface="Poppins"/>
              </a:rPr>
              <a:t>a</a:t>
            </a:r>
            <a:r>
              <a:rPr lang="en-US" sz="2643">
                <a:solidFill>
                  <a:srgbClr val="FFFFFF"/>
                </a:solidFill>
                <a:latin typeface="Poppins"/>
                <a:ea typeface="Poppins"/>
                <a:cs typeface="Poppins"/>
                <a:sym typeface="Poppins"/>
              </a:rPr>
              <a:t>b</a:t>
            </a:r>
            <a:r>
              <a:rPr lang="en-US" sz="2643">
                <a:solidFill>
                  <a:srgbClr val="FFFFFF"/>
                </a:solidFill>
                <a:latin typeface="Poppins"/>
                <a:ea typeface="Poppins"/>
                <a:cs typeface="Poppins"/>
                <a:sym typeface="Poppins"/>
              </a:rPr>
              <a:t>lea</a:t>
            </a:r>
            <a:r>
              <a:rPr lang="en-US" sz="2643">
                <a:solidFill>
                  <a:srgbClr val="FFFFFF"/>
                </a:solidFill>
                <a:latin typeface="Poppins"/>
                <a:ea typeface="Poppins"/>
                <a:cs typeface="Poppins"/>
                <a:sym typeface="Poppins"/>
              </a:rPr>
              <a:t>u</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c</a:t>
            </a:r>
            <a:r>
              <a:rPr lang="en-US" sz="2643">
                <a:solidFill>
                  <a:srgbClr val="FFFFFF"/>
                </a:solidFill>
                <a:latin typeface="Poppins"/>
                <a:ea typeface="Poppins"/>
                <a:cs typeface="Poppins"/>
                <a:sym typeface="Poppins"/>
              </a:rPr>
              <a:t>al</a:t>
            </a:r>
            <a:r>
              <a:rPr lang="en-US" sz="2643">
                <a:solidFill>
                  <a:srgbClr val="FFFFFF"/>
                </a:solidFill>
                <a:latin typeface="Poppins"/>
                <a:ea typeface="Poppins"/>
                <a:cs typeface="Poppins"/>
                <a:sym typeface="Poppins"/>
              </a:rPr>
              <a:t>cu</a:t>
            </a:r>
            <a:r>
              <a:rPr lang="en-US" sz="2643">
                <a:solidFill>
                  <a:srgbClr val="FFFFFF"/>
                </a:solidFill>
                <a:latin typeface="Poppins"/>
                <a:ea typeface="Poppins"/>
                <a:cs typeface="Poppins"/>
                <a:sym typeface="Poppins"/>
              </a:rPr>
              <a:t>l</a:t>
            </a:r>
            <a:r>
              <a:rPr lang="en-US" sz="2643">
                <a:solidFill>
                  <a:srgbClr val="FFFFFF"/>
                </a:solidFill>
                <a:latin typeface="Poppins"/>
                <a:ea typeface="Poppins"/>
                <a:cs typeface="Poppins"/>
                <a:sym typeface="Poppins"/>
              </a:rPr>
              <a:t>at</a:t>
            </a:r>
            <a:r>
              <a:rPr lang="en-US" sz="2643">
                <a:solidFill>
                  <a:srgbClr val="FFFFFF"/>
                </a:solidFill>
                <a:latin typeface="Poppins"/>
                <a:ea typeface="Poppins"/>
                <a:cs typeface="Poppins"/>
                <a:sym typeface="Poppins"/>
              </a:rPr>
              <a:t>e</a:t>
            </a:r>
            <a:r>
              <a:rPr lang="en-US" sz="2643">
                <a:solidFill>
                  <a:srgbClr val="FFFFFF"/>
                </a:solidFill>
                <a:latin typeface="Poppins"/>
                <a:ea typeface="Poppins"/>
                <a:cs typeface="Poppins"/>
                <a:sym typeface="Poppins"/>
              </a:rPr>
              <a:t>d</a:t>
            </a:r>
            <a:r>
              <a:rPr lang="en-US" sz="2643">
                <a:solidFill>
                  <a:srgbClr val="FFFFFF"/>
                </a:solidFill>
                <a:latin typeface="Poppins"/>
                <a:ea typeface="Poppins"/>
                <a:cs typeface="Poppins"/>
                <a:sym typeface="Poppins"/>
              </a:rPr>
              <a:t> field</a:t>
            </a:r>
            <a:r>
              <a:rPr lang="en-US" sz="2643">
                <a:solidFill>
                  <a:srgbClr val="FFFFFF"/>
                </a:solidFill>
                <a:latin typeface="Poppins"/>
                <a:ea typeface="Poppins"/>
                <a:cs typeface="Poppins"/>
                <a:sym typeface="Poppins"/>
              </a:rPr>
              <a:t> u</a:t>
            </a:r>
            <a:r>
              <a:rPr lang="en-US" sz="2643">
                <a:solidFill>
                  <a:srgbClr val="FFFFFF"/>
                </a:solidFill>
                <a:latin typeface="Poppins"/>
                <a:ea typeface="Poppins"/>
                <a:cs typeface="Poppins"/>
                <a:sym typeface="Poppins"/>
              </a:rPr>
              <a:t>s</a:t>
            </a:r>
            <a:r>
              <a:rPr lang="en-US" sz="2643">
                <a:solidFill>
                  <a:srgbClr val="FFFFFF"/>
                </a:solidFill>
                <a:latin typeface="Poppins"/>
                <a:ea typeface="Poppins"/>
                <a:cs typeface="Poppins"/>
                <a:sym typeface="Poppins"/>
              </a:rPr>
              <a:t>ing</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the av</a:t>
            </a:r>
            <a:r>
              <a:rPr lang="en-US" sz="2643">
                <a:solidFill>
                  <a:srgbClr val="FFFFFF"/>
                </a:solidFill>
                <a:latin typeface="Poppins"/>
                <a:ea typeface="Poppins"/>
                <a:cs typeface="Poppins"/>
                <a:sym typeface="Poppins"/>
              </a:rPr>
              <a:t>er</a:t>
            </a:r>
            <a:r>
              <a:rPr lang="en-US" sz="2643">
                <a:solidFill>
                  <a:srgbClr val="FFFFFF"/>
                </a:solidFill>
                <a:latin typeface="Poppins"/>
                <a:ea typeface="Poppins"/>
                <a:cs typeface="Poppins"/>
                <a:sym typeface="Poppins"/>
              </a:rPr>
              <a:t>ag</a:t>
            </a:r>
            <a:r>
              <a:rPr lang="en-US" sz="2643">
                <a:solidFill>
                  <a:srgbClr val="FFFFFF"/>
                </a:solidFill>
                <a:latin typeface="Poppins"/>
                <a:ea typeface="Poppins"/>
                <a:cs typeface="Poppins"/>
                <a:sym typeface="Poppins"/>
              </a:rPr>
              <a:t>e an</a:t>
            </a:r>
            <a:r>
              <a:rPr lang="en-US" sz="2643">
                <a:solidFill>
                  <a:srgbClr val="FFFFFF"/>
                </a:solidFill>
                <a:latin typeface="Poppins"/>
                <a:ea typeface="Poppins"/>
                <a:cs typeface="Poppins"/>
                <a:sym typeface="Poppins"/>
              </a:rPr>
              <a:t>d</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st</a:t>
            </a:r>
            <a:r>
              <a:rPr lang="en-US" sz="2643">
                <a:solidFill>
                  <a:srgbClr val="FFFFFF"/>
                </a:solidFill>
                <a:latin typeface="Poppins"/>
                <a:ea typeface="Poppins"/>
                <a:cs typeface="Poppins"/>
                <a:sym typeface="Poppins"/>
              </a:rPr>
              <a:t>an</a:t>
            </a:r>
            <a:r>
              <a:rPr lang="en-US" sz="2643">
                <a:solidFill>
                  <a:srgbClr val="FFFFFF"/>
                </a:solidFill>
                <a:latin typeface="Poppins"/>
                <a:ea typeface="Poppins"/>
                <a:cs typeface="Poppins"/>
                <a:sym typeface="Poppins"/>
              </a:rPr>
              <a:t>d</a:t>
            </a:r>
            <a:r>
              <a:rPr lang="en-US" sz="2643">
                <a:solidFill>
                  <a:srgbClr val="FFFFFF"/>
                </a:solidFill>
                <a:latin typeface="Poppins"/>
                <a:ea typeface="Poppins"/>
                <a:cs typeface="Poppins"/>
                <a:sym typeface="Poppins"/>
              </a:rPr>
              <a:t>ar</a:t>
            </a:r>
            <a:r>
              <a:rPr lang="en-US" sz="2643">
                <a:solidFill>
                  <a:srgbClr val="FFFFFF"/>
                </a:solidFill>
                <a:latin typeface="Poppins"/>
                <a:ea typeface="Poppins"/>
                <a:cs typeface="Poppins"/>
                <a:sym typeface="Poppins"/>
              </a:rPr>
              <a:t>d</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d</a:t>
            </a:r>
            <a:r>
              <a:rPr lang="en-US" sz="2643">
                <a:solidFill>
                  <a:srgbClr val="FFFFFF"/>
                </a:solidFill>
                <a:latin typeface="Poppins"/>
                <a:ea typeface="Poppins"/>
                <a:cs typeface="Poppins"/>
                <a:sym typeface="Poppins"/>
              </a:rPr>
              <a:t>e</a:t>
            </a:r>
            <a:r>
              <a:rPr lang="en-US" sz="2643">
                <a:solidFill>
                  <a:srgbClr val="FFFFFF"/>
                </a:solidFill>
                <a:latin typeface="Poppins"/>
                <a:ea typeface="Poppins"/>
                <a:cs typeface="Poppins"/>
                <a:sym typeface="Poppins"/>
              </a:rPr>
              <a:t>v</a:t>
            </a:r>
            <a:r>
              <a:rPr lang="en-US" sz="2643">
                <a:solidFill>
                  <a:srgbClr val="FFFFFF"/>
                </a:solidFill>
                <a:latin typeface="Poppins"/>
                <a:ea typeface="Poppins"/>
                <a:cs typeface="Poppins"/>
                <a:sym typeface="Poppins"/>
              </a:rPr>
              <a:t>i</a:t>
            </a:r>
            <a:r>
              <a:rPr lang="en-US" sz="2643">
                <a:solidFill>
                  <a:srgbClr val="FFFFFF"/>
                </a:solidFill>
                <a:latin typeface="Poppins"/>
                <a:ea typeface="Poppins"/>
                <a:cs typeface="Poppins"/>
                <a:sym typeface="Poppins"/>
              </a:rPr>
              <a:t>atio</a:t>
            </a:r>
            <a:r>
              <a:rPr lang="en-US" sz="2643">
                <a:solidFill>
                  <a:srgbClr val="FFFFFF"/>
                </a:solidFill>
                <a:latin typeface="Poppins"/>
                <a:ea typeface="Poppins"/>
                <a:cs typeface="Poppins"/>
                <a:sym typeface="Poppins"/>
              </a:rPr>
              <a:t>n t</a:t>
            </a:r>
            <a:r>
              <a:rPr lang="en-US" sz="2643">
                <a:solidFill>
                  <a:srgbClr val="FFFFFF"/>
                </a:solidFill>
                <a:latin typeface="Poppins"/>
                <a:ea typeface="Poppins"/>
                <a:cs typeface="Poppins"/>
                <a:sym typeface="Poppins"/>
              </a:rPr>
              <a:t>o</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cl</a:t>
            </a:r>
            <a:r>
              <a:rPr lang="en-US" sz="2643">
                <a:solidFill>
                  <a:srgbClr val="FFFFFF"/>
                </a:solidFill>
                <a:latin typeface="Poppins"/>
                <a:ea typeface="Poppins"/>
                <a:cs typeface="Poppins"/>
                <a:sym typeface="Poppins"/>
              </a:rPr>
              <a:t>as</a:t>
            </a:r>
            <a:r>
              <a:rPr lang="en-US" sz="2643">
                <a:solidFill>
                  <a:srgbClr val="FFFFFF"/>
                </a:solidFill>
                <a:latin typeface="Poppins"/>
                <a:ea typeface="Poppins"/>
                <a:cs typeface="Poppins"/>
                <a:sym typeface="Poppins"/>
              </a:rPr>
              <a:t>s</a:t>
            </a:r>
            <a:r>
              <a:rPr lang="en-US" sz="2643">
                <a:solidFill>
                  <a:srgbClr val="FFFFFF"/>
                </a:solidFill>
                <a:latin typeface="Poppins"/>
                <a:ea typeface="Poppins"/>
                <a:cs typeface="Poppins"/>
                <a:sym typeface="Poppins"/>
              </a:rPr>
              <a:t>i</a:t>
            </a:r>
            <a:r>
              <a:rPr lang="en-US" sz="2643">
                <a:solidFill>
                  <a:srgbClr val="FFFFFF"/>
                </a:solidFill>
                <a:latin typeface="Poppins"/>
                <a:ea typeface="Poppins"/>
                <a:cs typeface="Poppins"/>
                <a:sym typeface="Poppins"/>
              </a:rPr>
              <a:t>f</a:t>
            </a:r>
            <a:r>
              <a:rPr lang="en-US" sz="2643">
                <a:solidFill>
                  <a:srgbClr val="FFFFFF"/>
                </a:solidFill>
                <a:latin typeface="Poppins"/>
                <a:ea typeface="Poppins"/>
                <a:cs typeface="Poppins"/>
                <a:sym typeface="Poppins"/>
              </a:rPr>
              <a:t>y </a:t>
            </a:r>
            <a:r>
              <a:rPr lang="en-US" sz="2643">
                <a:solidFill>
                  <a:srgbClr val="FFFFFF"/>
                </a:solidFill>
                <a:latin typeface="Poppins"/>
                <a:ea typeface="Poppins"/>
                <a:cs typeface="Poppins"/>
                <a:sym typeface="Poppins"/>
              </a:rPr>
              <a:t>pl</a:t>
            </a:r>
            <a:r>
              <a:rPr lang="en-US" sz="2643">
                <a:solidFill>
                  <a:srgbClr val="FFFFFF"/>
                </a:solidFill>
                <a:latin typeface="Poppins"/>
                <a:ea typeface="Poppins"/>
                <a:cs typeface="Poppins"/>
                <a:sym typeface="Poppins"/>
              </a:rPr>
              <a:t>a</a:t>
            </a:r>
            <a:r>
              <a:rPr lang="en-US" sz="2643">
                <a:solidFill>
                  <a:srgbClr val="FFFFFF"/>
                </a:solidFill>
                <a:latin typeface="Poppins"/>
                <a:ea typeface="Poppins"/>
                <a:cs typeface="Poppins"/>
                <a:sym typeface="Poppins"/>
              </a:rPr>
              <a:t>y</a:t>
            </a:r>
            <a:r>
              <a:rPr lang="en-US" sz="2643">
                <a:solidFill>
                  <a:srgbClr val="FFFFFF"/>
                </a:solidFill>
                <a:latin typeface="Poppins"/>
                <a:ea typeface="Poppins"/>
                <a:cs typeface="Poppins"/>
                <a:sym typeface="Poppins"/>
              </a:rPr>
              <a:t>ers </a:t>
            </a:r>
            <a:r>
              <a:rPr lang="en-US" sz="2643">
                <a:solidFill>
                  <a:srgbClr val="FFFFFF"/>
                </a:solidFill>
                <a:latin typeface="Poppins"/>
                <a:ea typeface="Poppins"/>
                <a:cs typeface="Poppins"/>
                <a:sym typeface="Poppins"/>
              </a:rPr>
              <a:t>i</a:t>
            </a:r>
            <a:r>
              <a:rPr lang="en-US" sz="2643">
                <a:solidFill>
                  <a:srgbClr val="FFFFFF"/>
                </a:solidFill>
                <a:latin typeface="Poppins"/>
                <a:ea typeface="Poppins"/>
                <a:cs typeface="Poppins"/>
                <a:sym typeface="Poppins"/>
              </a:rPr>
              <a:t>nt</a:t>
            </a:r>
            <a:r>
              <a:rPr lang="en-US" sz="2643">
                <a:solidFill>
                  <a:srgbClr val="FFFFFF"/>
                </a:solidFill>
                <a:latin typeface="Poppins"/>
                <a:ea typeface="Poppins"/>
                <a:cs typeface="Poppins"/>
                <a:sym typeface="Poppins"/>
              </a:rPr>
              <a:t>o L</a:t>
            </a:r>
            <a:r>
              <a:rPr lang="en-US" sz="2643">
                <a:solidFill>
                  <a:srgbClr val="FFFFFF"/>
                </a:solidFill>
                <a:latin typeface="Poppins"/>
                <a:ea typeface="Poppins"/>
                <a:cs typeface="Poppins"/>
                <a:sym typeface="Poppins"/>
              </a:rPr>
              <a:t>o</a:t>
            </a:r>
            <a:r>
              <a:rPr lang="en-US" sz="2643">
                <a:solidFill>
                  <a:srgbClr val="FFFFFF"/>
                </a:solidFill>
                <a:latin typeface="Poppins"/>
                <a:ea typeface="Poppins"/>
                <a:cs typeface="Poppins"/>
                <a:sym typeface="Poppins"/>
              </a:rPr>
              <a:t>w</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M</a:t>
            </a:r>
            <a:r>
              <a:rPr lang="en-US" sz="2643">
                <a:solidFill>
                  <a:srgbClr val="FFFFFF"/>
                </a:solidFill>
                <a:latin typeface="Poppins"/>
                <a:ea typeface="Poppins"/>
                <a:cs typeface="Poppins"/>
                <a:sym typeface="Poppins"/>
              </a:rPr>
              <a:t>i</a:t>
            </a:r>
            <a:r>
              <a:rPr lang="en-US" sz="2643">
                <a:solidFill>
                  <a:srgbClr val="FFFFFF"/>
                </a:solidFill>
                <a:latin typeface="Poppins"/>
                <a:ea typeface="Poppins"/>
                <a:cs typeface="Poppins"/>
                <a:sym typeface="Poppins"/>
              </a:rPr>
              <a:t>d, </a:t>
            </a:r>
            <a:r>
              <a:rPr lang="en-US" sz="2643">
                <a:solidFill>
                  <a:srgbClr val="FFFFFF"/>
                </a:solidFill>
                <a:latin typeface="Poppins"/>
                <a:ea typeface="Poppins"/>
                <a:cs typeface="Poppins"/>
                <a:sym typeface="Poppins"/>
              </a:rPr>
              <a:t>H</a:t>
            </a:r>
            <a:r>
              <a:rPr lang="en-US" sz="2643">
                <a:solidFill>
                  <a:srgbClr val="FFFFFF"/>
                </a:solidFill>
                <a:latin typeface="Poppins"/>
                <a:ea typeface="Poppins"/>
                <a:cs typeface="Poppins"/>
                <a:sym typeface="Poppins"/>
              </a:rPr>
              <a:t>i</a:t>
            </a:r>
            <a:r>
              <a:rPr lang="en-US" sz="2643">
                <a:solidFill>
                  <a:srgbClr val="FFFFFF"/>
                </a:solidFill>
                <a:latin typeface="Poppins"/>
                <a:ea typeface="Poppins"/>
                <a:cs typeface="Poppins"/>
                <a:sym typeface="Poppins"/>
              </a:rPr>
              <a:t>g</a:t>
            </a:r>
            <a:r>
              <a:rPr lang="en-US" sz="2643">
                <a:solidFill>
                  <a:srgbClr val="FFFFFF"/>
                </a:solidFill>
                <a:latin typeface="Poppins"/>
                <a:ea typeface="Poppins"/>
                <a:cs typeface="Poppins"/>
                <a:sym typeface="Poppins"/>
              </a:rPr>
              <a:t>h,</a:t>
            </a:r>
            <a:r>
              <a:rPr lang="en-US" sz="2643">
                <a:solidFill>
                  <a:srgbClr val="FFFFFF"/>
                </a:solidFill>
                <a:latin typeface="Poppins"/>
                <a:ea typeface="Poppins"/>
                <a:cs typeface="Poppins"/>
                <a:sym typeface="Poppins"/>
              </a:rPr>
              <a:t> and </a:t>
            </a:r>
            <a:r>
              <a:rPr lang="en-US" sz="2643">
                <a:solidFill>
                  <a:srgbClr val="FFFFFF"/>
                </a:solidFill>
                <a:latin typeface="Poppins"/>
                <a:ea typeface="Poppins"/>
                <a:cs typeface="Poppins"/>
                <a:sym typeface="Poppins"/>
              </a:rPr>
              <a:t>V</a:t>
            </a:r>
            <a:r>
              <a:rPr lang="en-US" sz="2643">
                <a:solidFill>
                  <a:srgbClr val="FFFFFF"/>
                </a:solidFill>
                <a:latin typeface="Poppins"/>
                <a:ea typeface="Poppins"/>
                <a:cs typeface="Poppins"/>
                <a:sym typeface="Poppins"/>
              </a:rPr>
              <a:t>er</a:t>
            </a:r>
            <a:r>
              <a:rPr lang="en-US" sz="2643">
                <a:solidFill>
                  <a:srgbClr val="FFFFFF"/>
                </a:solidFill>
                <a:latin typeface="Poppins"/>
                <a:ea typeface="Poppins"/>
                <a:cs typeface="Poppins"/>
                <a:sym typeface="Poppins"/>
              </a:rPr>
              <a:t>y</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H</a:t>
            </a:r>
            <a:r>
              <a:rPr lang="en-US" sz="2643">
                <a:solidFill>
                  <a:srgbClr val="FFFFFF"/>
                </a:solidFill>
                <a:latin typeface="Poppins"/>
                <a:ea typeface="Poppins"/>
                <a:cs typeface="Poppins"/>
                <a:sym typeface="Poppins"/>
              </a:rPr>
              <a:t>i</a:t>
            </a:r>
            <a:r>
              <a:rPr lang="en-US" sz="2643">
                <a:solidFill>
                  <a:srgbClr val="FFFFFF"/>
                </a:solidFill>
                <a:latin typeface="Poppins"/>
                <a:ea typeface="Poppins"/>
                <a:cs typeface="Poppins"/>
                <a:sym typeface="Poppins"/>
              </a:rPr>
              <a:t>g</a:t>
            </a:r>
            <a:r>
              <a:rPr lang="en-US" sz="2643">
                <a:solidFill>
                  <a:srgbClr val="FFFFFF"/>
                </a:solidFill>
                <a:latin typeface="Poppins"/>
                <a:ea typeface="Poppins"/>
                <a:cs typeface="Poppins"/>
                <a:sym typeface="Poppins"/>
              </a:rPr>
              <a:t>h</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s</a:t>
            </a:r>
            <a:r>
              <a:rPr lang="en-US" sz="2643">
                <a:solidFill>
                  <a:srgbClr val="FFFFFF"/>
                </a:solidFill>
                <a:latin typeface="Poppins"/>
                <a:ea typeface="Poppins"/>
                <a:cs typeface="Poppins"/>
                <a:sym typeface="Poppins"/>
              </a:rPr>
              <a:t>pe</a:t>
            </a:r>
            <a:r>
              <a:rPr lang="en-US" sz="2643">
                <a:solidFill>
                  <a:srgbClr val="FFFFFF"/>
                </a:solidFill>
                <a:latin typeface="Poppins"/>
                <a:ea typeface="Poppins"/>
                <a:cs typeface="Poppins"/>
                <a:sym typeface="Poppins"/>
              </a:rPr>
              <a:t>n</a:t>
            </a:r>
            <a:r>
              <a:rPr lang="en-US" sz="2643">
                <a:solidFill>
                  <a:srgbClr val="FFFFFF"/>
                </a:solidFill>
                <a:latin typeface="Poppins"/>
                <a:ea typeface="Poppins"/>
                <a:cs typeface="Poppins"/>
                <a:sym typeface="Poppins"/>
              </a:rPr>
              <a:t>d</a:t>
            </a:r>
            <a:r>
              <a:rPr lang="en-US" sz="2643">
                <a:solidFill>
                  <a:srgbClr val="FFFFFF"/>
                </a:solidFill>
                <a:latin typeface="Poppins"/>
                <a:ea typeface="Poppins"/>
                <a:cs typeface="Poppins"/>
                <a:sym typeface="Poppins"/>
              </a:rPr>
              <a:t>ing </a:t>
            </a:r>
            <a:r>
              <a:rPr lang="en-US" sz="2643">
                <a:solidFill>
                  <a:srgbClr val="FFFFFF"/>
                </a:solidFill>
                <a:latin typeface="Poppins"/>
                <a:ea typeface="Poppins"/>
                <a:cs typeface="Poppins"/>
                <a:sym typeface="Poppins"/>
              </a:rPr>
              <a:t>c</a:t>
            </a:r>
            <a:r>
              <a:rPr lang="en-US" sz="2643">
                <a:solidFill>
                  <a:srgbClr val="FFFFFF"/>
                </a:solidFill>
                <a:latin typeface="Poppins"/>
                <a:ea typeface="Poppins"/>
                <a:cs typeface="Poppins"/>
                <a:sym typeface="Poppins"/>
              </a:rPr>
              <a:t>at</a:t>
            </a:r>
            <a:r>
              <a:rPr lang="en-US" sz="2643">
                <a:solidFill>
                  <a:srgbClr val="FFFFFF"/>
                </a:solidFill>
                <a:latin typeface="Poppins"/>
                <a:ea typeface="Poppins"/>
                <a:cs typeface="Poppins"/>
                <a:sym typeface="Poppins"/>
              </a:rPr>
              <a:t>eg</a:t>
            </a:r>
            <a:r>
              <a:rPr lang="en-US" sz="2643">
                <a:solidFill>
                  <a:srgbClr val="FFFFFF"/>
                </a:solidFill>
                <a:latin typeface="Poppins"/>
                <a:ea typeface="Poppins"/>
                <a:cs typeface="Poppins"/>
                <a:sym typeface="Poppins"/>
              </a:rPr>
              <a:t>o</a:t>
            </a:r>
            <a:r>
              <a:rPr lang="en-US" sz="2643">
                <a:solidFill>
                  <a:srgbClr val="FFFFFF"/>
                </a:solidFill>
                <a:latin typeface="Poppins"/>
                <a:ea typeface="Poppins"/>
                <a:cs typeface="Poppins"/>
                <a:sym typeface="Poppins"/>
              </a:rPr>
              <a:t>r</a:t>
            </a:r>
            <a:r>
              <a:rPr lang="en-US" sz="2643">
                <a:solidFill>
                  <a:srgbClr val="FFFFFF"/>
                </a:solidFill>
                <a:latin typeface="Poppins"/>
                <a:ea typeface="Poppins"/>
                <a:cs typeface="Poppins"/>
                <a:sym typeface="Poppins"/>
              </a:rPr>
              <a:t>i</a:t>
            </a:r>
            <a:r>
              <a:rPr lang="en-US" sz="2643">
                <a:solidFill>
                  <a:srgbClr val="FFFFFF"/>
                </a:solidFill>
                <a:latin typeface="Poppins"/>
                <a:ea typeface="Poppins"/>
                <a:cs typeface="Poppins"/>
                <a:sym typeface="Poppins"/>
              </a:rPr>
              <a:t>e</a:t>
            </a:r>
            <a:r>
              <a:rPr lang="en-US" sz="2643">
                <a:solidFill>
                  <a:srgbClr val="FFFFFF"/>
                </a:solidFill>
                <a:latin typeface="Poppins"/>
                <a:ea typeface="Poppins"/>
                <a:cs typeface="Poppins"/>
                <a:sym typeface="Poppins"/>
              </a:rPr>
              <a:t>s.</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T</a:t>
            </a:r>
            <a:r>
              <a:rPr lang="en-US" sz="2643">
                <a:solidFill>
                  <a:srgbClr val="FFFFFF"/>
                </a:solidFill>
                <a:latin typeface="Poppins"/>
                <a:ea typeface="Poppins"/>
                <a:cs typeface="Poppins"/>
                <a:sym typeface="Poppins"/>
              </a:rPr>
              <a:t>hi</a:t>
            </a:r>
            <a:r>
              <a:rPr lang="en-US" sz="2643">
                <a:solidFill>
                  <a:srgbClr val="FFFFFF"/>
                </a:solidFill>
                <a:latin typeface="Poppins"/>
                <a:ea typeface="Poppins"/>
                <a:cs typeface="Poppins"/>
                <a:sym typeface="Poppins"/>
              </a:rPr>
              <a:t>s</a:t>
            </a:r>
            <a:r>
              <a:rPr lang="en-US" sz="2643">
                <a:solidFill>
                  <a:srgbClr val="FFFFFF"/>
                </a:solidFill>
                <a:latin typeface="Poppins"/>
                <a:ea typeface="Poppins"/>
                <a:cs typeface="Poppins"/>
                <a:sym typeface="Poppins"/>
              </a:rPr>
              <a:t> </a:t>
            </a:r>
            <a:r>
              <a:rPr lang="en-US" sz="2643">
                <a:solidFill>
                  <a:srgbClr val="FFFFFF"/>
                </a:solidFill>
                <a:latin typeface="Poppins"/>
                <a:ea typeface="Poppins"/>
                <a:cs typeface="Poppins"/>
                <a:sym typeface="Poppins"/>
              </a:rPr>
              <a:t>h</a:t>
            </a:r>
            <a:r>
              <a:rPr lang="en-US" sz="2643">
                <a:solidFill>
                  <a:srgbClr val="FFFFFF"/>
                </a:solidFill>
                <a:latin typeface="Poppins"/>
                <a:ea typeface="Poppins"/>
                <a:cs typeface="Poppins"/>
                <a:sym typeface="Poppins"/>
              </a:rPr>
              <a:t>el</a:t>
            </a:r>
            <a:r>
              <a:rPr lang="en-US" sz="2643">
                <a:solidFill>
                  <a:srgbClr val="FFFFFF"/>
                </a:solidFill>
                <a:latin typeface="Poppins"/>
                <a:ea typeface="Poppins"/>
                <a:cs typeface="Poppins"/>
                <a:sym typeface="Poppins"/>
              </a:rPr>
              <a:t>p</a:t>
            </a:r>
            <a:r>
              <a:rPr lang="en-US" sz="2643">
                <a:solidFill>
                  <a:srgbClr val="FFFFFF"/>
                </a:solidFill>
                <a:latin typeface="Poppins"/>
                <a:ea typeface="Poppins"/>
                <a:cs typeface="Poppins"/>
                <a:sym typeface="Poppins"/>
              </a:rPr>
              <a:t>ed </a:t>
            </a:r>
            <a:r>
              <a:rPr lang="en-US" sz="2643">
                <a:solidFill>
                  <a:srgbClr val="FFFFFF"/>
                </a:solidFill>
                <a:latin typeface="Poppins"/>
                <a:ea typeface="Poppins"/>
                <a:cs typeface="Poppins"/>
                <a:sym typeface="Poppins"/>
              </a:rPr>
              <a:t>u</a:t>
            </a:r>
            <a:r>
              <a:rPr lang="en-US" sz="2643">
                <a:solidFill>
                  <a:srgbClr val="FFFFFF"/>
                </a:solidFill>
                <a:latin typeface="Poppins"/>
                <a:ea typeface="Poppins"/>
                <a:cs typeface="Poppins"/>
                <a:sym typeface="Poppins"/>
              </a:rPr>
              <a:t>s anal</a:t>
            </a:r>
            <a:r>
              <a:rPr lang="en-US" sz="2643">
                <a:solidFill>
                  <a:srgbClr val="FFFFFF"/>
                </a:solidFill>
                <a:latin typeface="Poppins"/>
                <a:ea typeface="Poppins"/>
                <a:cs typeface="Poppins"/>
                <a:sym typeface="Poppins"/>
              </a:rPr>
              <a:t>yz</a:t>
            </a:r>
            <a:r>
              <a:rPr lang="en-US" sz="2643">
                <a:solidFill>
                  <a:srgbClr val="FFFFFF"/>
                </a:solidFill>
                <a:latin typeface="Poppins"/>
                <a:ea typeface="Poppins"/>
                <a:cs typeface="Poppins"/>
                <a:sym typeface="Poppins"/>
              </a:rPr>
              <a:t>e s</a:t>
            </a:r>
            <a:r>
              <a:rPr lang="en-US" sz="2643">
                <a:solidFill>
                  <a:srgbClr val="FFFFFF"/>
                </a:solidFill>
                <a:latin typeface="Poppins"/>
                <a:ea typeface="Poppins"/>
                <a:cs typeface="Poppins"/>
                <a:sym typeface="Poppins"/>
              </a:rPr>
              <a:t>p</a:t>
            </a:r>
            <a:r>
              <a:rPr lang="en-US" sz="2643">
                <a:solidFill>
                  <a:srgbClr val="FFFFFF"/>
                </a:solidFill>
                <a:latin typeface="Poppins"/>
                <a:ea typeface="Poppins"/>
                <a:cs typeface="Poppins"/>
                <a:sym typeface="Poppins"/>
              </a:rPr>
              <a:t>en</a:t>
            </a:r>
            <a:r>
              <a:rPr lang="en-US" sz="2643">
                <a:solidFill>
                  <a:srgbClr val="FFFFFF"/>
                </a:solidFill>
                <a:latin typeface="Poppins"/>
                <a:ea typeface="Poppins"/>
                <a:cs typeface="Poppins"/>
                <a:sym typeface="Poppins"/>
              </a:rPr>
              <a:t>ding </a:t>
            </a:r>
            <a:r>
              <a:rPr lang="en-US" sz="2643">
                <a:solidFill>
                  <a:srgbClr val="FFFFFF"/>
                </a:solidFill>
                <a:latin typeface="Poppins"/>
                <a:ea typeface="Poppins"/>
                <a:cs typeface="Poppins"/>
                <a:sym typeface="Poppins"/>
              </a:rPr>
              <a:t>b</a:t>
            </a:r>
            <a:r>
              <a:rPr lang="en-US" sz="2643">
                <a:solidFill>
                  <a:srgbClr val="FFFFFF"/>
                </a:solidFill>
                <a:latin typeface="Poppins"/>
                <a:ea typeface="Poppins"/>
                <a:cs typeface="Poppins"/>
                <a:sym typeface="Poppins"/>
              </a:rPr>
              <a:t>ehav</a:t>
            </a:r>
            <a:r>
              <a:rPr lang="en-US" sz="2643">
                <a:solidFill>
                  <a:srgbClr val="FFFFFF"/>
                </a:solidFill>
                <a:latin typeface="Poppins"/>
                <a:ea typeface="Poppins"/>
                <a:cs typeface="Poppins"/>
                <a:sym typeface="Poppins"/>
              </a:rPr>
              <a:t>ior</a:t>
            </a:r>
            <a:r>
              <a:rPr lang="en-US" sz="2643">
                <a:solidFill>
                  <a:srgbClr val="FFFFFF"/>
                </a:solidFill>
                <a:latin typeface="Poppins"/>
                <a:ea typeface="Poppins"/>
                <a:cs typeface="Poppins"/>
                <a:sym typeface="Poppins"/>
              </a:rPr>
              <a:t> mo</a:t>
            </a:r>
            <a:r>
              <a:rPr lang="en-US" sz="2643">
                <a:solidFill>
                  <a:srgbClr val="FFFFFF"/>
                </a:solidFill>
                <a:latin typeface="Poppins"/>
                <a:ea typeface="Poppins"/>
                <a:cs typeface="Poppins"/>
                <a:sym typeface="Poppins"/>
              </a:rPr>
              <a:t>r</a:t>
            </a:r>
            <a:r>
              <a:rPr lang="en-US" sz="2643">
                <a:solidFill>
                  <a:srgbClr val="FFFFFF"/>
                </a:solidFill>
                <a:latin typeface="Poppins"/>
                <a:ea typeface="Poppins"/>
                <a:cs typeface="Poppins"/>
                <a:sym typeface="Poppins"/>
              </a:rPr>
              <a:t>e </a:t>
            </a:r>
            <a:r>
              <a:rPr lang="en-US" sz="2643">
                <a:solidFill>
                  <a:srgbClr val="FFFFFF"/>
                </a:solidFill>
                <a:latin typeface="Poppins"/>
                <a:ea typeface="Poppins"/>
                <a:cs typeface="Poppins"/>
                <a:sym typeface="Poppins"/>
              </a:rPr>
              <a:t>eff</a:t>
            </a:r>
            <a:r>
              <a:rPr lang="en-US" sz="2643">
                <a:solidFill>
                  <a:srgbClr val="FFFFFF"/>
                </a:solidFill>
                <a:latin typeface="Poppins"/>
                <a:ea typeface="Poppins"/>
                <a:cs typeface="Poppins"/>
                <a:sym typeface="Poppins"/>
              </a:rPr>
              <a:t>ecti</a:t>
            </a:r>
            <a:r>
              <a:rPr lang="en-US" sz="2643">
                <a:solidFill>
                  <a:srgbClr val="FFFFFF"/>
                </a:solidFill>
                <a:latin typeface="Poppins"/>
                <a:ea typeface="Poppins"/>
                <a:cs typeface="Poppins"/>
                <a:sym typeface="Poppins"/>
              </a:rPr>
              <a:t>v</a:t>
            </a:r>
            <a:r>
              <a:rPr lang="en-US" sz="2643">
                <a:solidFill>
                  <a:srgbClr val="FFFFFF"/>
                </a:solidFill>
                <a:latin typeface="Poppins"/>
                <a:ea typeface="Poppins"/>
                <a:cs typeface="Poppins"/>
                <a:sym typeface="Poppins"/>
              </a:rPr>
              <a:t>ely.</a:t>
            </a:r>
          </a:p>
          <a:p>
            <a:pPr algn="l">
              <a:lnSpc>
                <a:spcPts val="3701"/>
              </a:lnSpc>
            </a:pPr>
          </a:p>
          <a:p>
            <a:pPr algn="l" marL="0" indent="0" lvl="0">
              <a:lnSpc>
                <a:spcPts val="3701"/>
              </a:lnSpc>
            </a:pP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8014946" y="3699578"/>
            <a:ext cx="9602083" cy="4333572"/>
          </a:xfrm>
          <a:custGeom>
            <a:avLst/>
            <a:gdLst/>
            <a:ahLst/>
            <a:cxnLst/>
            <a:rect r="r" b="b" t="t" l="l"/>
            <a:pathLst>
              <a:path h="4333572" w="9602083">
                <a:moveTo>
                  <a:pt x="0" y="0"/>
                </a:moveTo>
                <a:lnTo>
                  <a:pt x="9602083" y="0"/>
                </a:lnTo>
                <a:lnTo>
                  <a:pt x="9602083" y="4333572"/>
                </a:lnTo>
                <a:lnTo>
                  <a:pt x="0" y="4333572"/>
                </a:lnTo>
                <a:lnTo>
                  <a:pt x="0" y="0"/>
                </a:lnTo>
                <a:close/>
              </a:path>
            </a:pathLst>
          </a:custGeom>
          <a:blipFill>
            <a:blip r:embed="rId3"/>
            <a:stretch>
              <a:fillRect l="0" t="-357" r="0" b="-357"/>
            </a:stretch>
          </a:blipFill>
        </p:spPr>
      </p:sp>
      <p:sp>
        <p:nvSpPr>
          <p:cNvPr name="TextBox 4" id="4"/>
          <p:cNvSpPr txBox="true"/>
          <p:nvPr/>
        </p:nvSpPr>
        <p:spPr>
          <a:xfrm rot="0">
            <a:off x="1335845" y="2595800"/>
            <a:ext cx="6679101" cy="919342"/>
          </a:xfrm>
          <a:prstGeom prst="rect">
            <a:avLst/>
          </a:prstGeom>
        </p:spPr>
        <p:txBody>
          <a:bodyPr anchor="t" rtlCol="false" tIns="0" lIns="0" bIns="0" rIns="0">
            <a:spAutoFit/>
          </a:bodyPr>
          <a:lstStyle/>
          <a:p>
            <a:pPr algn="l" marL="0" indent="0" lvl="0">
              <a:lnSpc>
                <a:spcPts val="6855"/>
              </a:lnSpc>
              <a:spcBef>
                <a:spcPct val="0"/>
              </a:spcBef>
            </a:pPr>
            <a:r>
              <a:rPr lang="en-US" sz="6995">
                <a:solidFill>
                  <a:srgbClr val="FFFFFF"/>
                </a:solidFill>
                <a:latin typeface="Tex Gyre Termes"/>
                <a:ea typeface="Tex Gyre Termes"/>
                <a:cs typeface="Tex Gyre Termes"/>
                <a:sym typeface="Tex Gyre Termes"/>
              </a:rPr>
              <a:t>Tab</a:t>
            </a:r>
            <a:r>
              <a:rPr lang="en-US" sz="6995" strike="noStrike" u="none">
                <a:solidFill>
                  <a:srgbClr val="FFFFFF"/>
                </a:solidFill>
                <a:latin typeface="Tex Gyre Termes"/>
                <a:ea typeface="Tex Gyre Termes"/>
                <a:cs typeface="Tex Gyre Termes"/>
                <a:sym typeface="Tex Gyre Termes"/>
              </a:rPr>
              <a:t>leau Work</a:t>
            </a:r>
          </a:p>
        </p:txBody>
      </p:sp>
      <p:sp>
        <p:nvSpPr>
          <p:cNvPr name="TextBox 5" id="5"/>
          <p:cNvSpPr txBox="true"/>
          <p:nvPr/>
        </p:nvSpPr>
        <p:spPr>
          <a:xfrm rot="0">
            <a:off x="572984" y="3957565"/>
            <a:ext cx="7086032" cy="3657928"/>
          </a:xfrm>
          <a:prstGeom prst="rect">
            <a:avLst/>
          </a:prstGeom>
        </p:spPr>
        <p:txBody>
          <a:bodyPr anchor="t" rtlCol="false" tIns="0" lIns="0" bIns="0" rIns="0">
            <a:spAutoFit/>
          </a:bodyPr>
          <a:lstStyle/>
          <a:p>
            <a:pPr algn="l">
              <a:lnSpc>
                <a:spcPts val="3656"/>
              </a:lnSpc>
            </a:pPr>
            <a:r>
              <a:rPr lang="en-US" sz="2612">
                <a:solidFill>
                  <a:srgbClr val="FFFFFF"/>
                </a:solidFill>
                <a:latin typeface="Poppins"/>
                <a:ea typeface="Poppins"/>
                <a:cs typeface="Poppins"/>
                <a:sym typeface="Poppins"/>
              </a:rPr>
              <a:t>cre</a:t>
            </a:r>
            <a:r>
              <a:rPr lang="en-US" sz="2612">
                <a:solidFill>
                  <a:srgbClr val="FFFFFF"/>
                </a:solidFill>
                <a:latin typeface="Poppins"/>
                <a:ea typeface="Poppins"/>
                <a:cs typeface="Poppins"/>
                <a:sym typeface="Poppins"/>
              </a:rPr>
              <a:t>at</a:t>
            </a:r>
            <a:r>
              <a:rPr lang="en-US" sz="2612">
                <a:solidFill>
                  <a:srgbClr val="FFFFFF"/>
                </a:solidFill>
                <a:latin typeface="Poppins"/>
                <a:ea typeface="Poppins"/>
                <a:cs typeface="Poppins"/>
                <a:sym typeface="Poppins"/>
              </a:rPr>
              <a:t>ed</a:t>
            </a:r>
            <a:r>
              <a:rPr lang="en-US" sz="2612">
                <a:solidFill>
                  <a:srgbClr val="FFFFFF"/>
                </a:solidFill>
                <a:latin typeface="Poppins"/>
                <a:ea typeface="Poppins"/>
                <a:cs typeface="Poppins"/>
                <a:sym typeface="Poppins"/>
              </a:rPr>
              <a:t> an </a:t>
            </a:r>
            <a:r>
              <a:rPr lang="en-US" sz="2612">
                <a:solidFill>
                  <a:srgbClr val="FFFFFF"/>
                </a:solidFill>
                <a:latin typeface="Poppins"/>
                <a:ea typeface="Poppins"/>
                <a:cs typeface="Poppins"/>
                <a:sym typeface="Poppins"/>
              </a:rPr>
              <a:t>Educ</a:t>
            </a:r>
            <a:r>
              <a:rPr lang="en-US" sz="2612">
                <a:solidFill>
                  <a:srgbClr val="FFFFFF"/>
                </a:solidFill>
                <a:latin typeface="Poppins"/>
                <a:ea typeface="Poppins"/>
                <a:cs typeface="Poppins"/>
                <a:sym typeface="Poppins"/>
              </a:rPr>
              <a:t>ationa</a:t>
            </a:r>
            <a:r>
              <a:rPr lang="en-US" sz="2612">
                <a:solidFill>
                  <a:srgbClr val="FFFFFF"/>
                </a:solidFill>
                <a:latin typeface="Poppins"/>
                <a:ea typeface="Poppins"/>
                <a:cs typeface="Poppins"/>
                <a:sym typeface="Poppins"/>
              </a:rPr>
              <a:t>l</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S</a:t>
            </a:r>
            <a:r>
              <a:rPr lang="en-US" sz="2612">
                <a:solidFill>
                  <a:srgbClr val="FFFFFF"/>
                </a:solidFill>
                <a:latin typeface="Poppins"/>
                <a:ea typeface="Poppins"/>
                <a:cs typeface="Poppins"/>
                <a:sym typeface="Poppins"/>
              </a:rPr>
              <a:t>ta</a:t>
            </a:r>
            <a:r>
              <a:rPr lang="en-US" sz="2612">
                <a:solidFill>
                  <a:srgbClr val="FFFFFF"/>
                </a:solidFill>
                <a:latin typeface="Poppins"/>
                <a:ea typeface="Poppins"/>
                <a:cs typeface="Poppins"/>
                <a:sym typeface="Poppins"/>
              </a:rPr>
              <a:t>t</a:t>
            </a:r>
            <a:r>
              <a:rPr lang="en-US" sz="2612">
                <a:solidFill>
                  <a:srgbClr val="FFFFFF"/>
                </a:solidFill>
                <a:latin typeface="Poppins"/>
                <a:ea typeface="Poppins"/>
                <a:cs typeface="Poppins"/>
                <a:sym typeface="Poppins"/>
              </a:rPr>
              <a:t>e cal</a:t>
            </a:r>
            <a:r>
              <a:rPr lang="en-US" sz="2612">
                <a:solidFill>
                  <a:srgbClr val="FFFFFF"/>
                </a:solidFill>
                <a:latin typeface="Poppins"/>
                <a:ea typeface="Poppins"/>
                <a:cs typeface="Poppins"/>
                <a:sym typeface="Poppins"/>
              </a:rPr>
              <a:t>cu</a:t>
            </a:r>
            <a:r>
              <a:rPr lang="en-US" sz="2612">
                <a:solidFill>
                  <a:srgbClr val="FFFFFF"/>
                </a:solidFill>
                <a:latin typeface="Poppins"/>
                <a:ea typeface="Poppins"/>
                <a:cs typeface="Poppins"/>
                <a:sym typeface="Poppins"/>
              </a:rPr>
              <a:t>l</a:t>
            </a:r>
            <a:r>
              <a:rPr lang="en-US" sz="2612">
                <a:solidFill>
                  <a:srgbClr val="FFFFFF"/>
                </a:solidFill>
                <a:latin typeface="Poppins"/>
                <a:ea typeface="Poppins"/>
                <a:cs typeface="Poppins"/>
                <a:sym typeface="Poppins"/>
              </a:rPr>
              <a:t>at</a:t>
            </a:r>
            <a:r>
              <a:rPr lang="en-US" sz="2612">
                <a:solidFill>
                  <a:srgbClr val="FFFFFF"/>
                </a:solidFill>
                <a:latin typeface="Poppins"/>
                <a:ea typeface="Poppins"/>
                <a:cs typeface="Poppins"/>
                <a:sym typeface="Poppins"/>
              </a:rPr>
              <a:t>e</a:t>
            </a:r>
            <a:r>
              <a:rPr lang="en-US" sz="2612">
                <a:solidFill>
                  <a:srgbClr val="FFFFFF"/>
                </a:solidFill>
                <a:latin typeface="Poppins"/>
                <a:ea typeface="Poppins"/>
                <a:cs typeface="Poppins"/>
                <a:sym typeface="Poppins"/>
              </a:rPr>
              <a:t>d</a:t>
            </a:r>
            <a:r>
              <a:rPr lang="en-US" sz="2612">
                <a:solidFill>
                  <a:srgbClr val="FFFFFF"/>
                </a:solidFill>
                <a:latin typeface="Poppins"/>
                <a:ea typeface="Poppins"/>
                <a:cs typeface="Poppins"/>
                <a:sym typeface="Poppins"/>
              </a:rPr>
              <a:t> field </a:t>
            </a:r>
            <a:r>
              <a:rPr lang="en-US" sz="2612">
                <a:solidFill>
                  <a:srgbClr val="FFFFFF"/>
                </a:solidFill>
                <a:latin typeface="Poppins"/>
                <a:ea typeface="Poppins"/>
                <a:cs typeface="Poppins"/>
                <a:sym typeface="Poppins"/>
              </a:rPr>
              <a:t>in</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T</a:t>
            </a:r>
            <a:r>
              <a:rPr lang="en-US" sz="2612">
                <a:solidFill>
                  <a:srgbClr val="FFFFFF"/>
                </a:solidFill>
                <a:latin typeface="Poppins"/>
                <a:ea typeface="Poppins"/>
                <a:cs typeface="Poppins"/>
                <a:sym typeface="Poppins"/>
              </a:rPr>
              <a:t>a</a:t>
            </a:r>
            <a:r>
              <a:rPr lang="en-US" sz="2612">
                <a:solidFill>
                  <a:srgbClr val="FFFFFF"/>
                </a:solidFill>
                <a:latin typeface="Poppins"/>
                <a:ea typeface="Poppins"/>
                <a:cs typeface="Poppins"/>
                <a:sym typeface="Poppins"/>
              </a:rPr>
              <a:t>b</a:t>
            </a:r>
            <a:r>
              <a:rPr lang="en-US" sz="2612">
                <a:solidFill>
                  <a:srgbClr val="FFFFFF"/>
                </a:solidFill>
                <a:latin typeface="Poppins"/>
                <a:ea typeface="Poppins"/>
                <a:cs typeface="Poppins"/>
                <a:sym typeface="Poppins"/>
              </a:rPr>
              <a:t>lea</a:t>
            </a:r>
            <a:r>
              <a:rPr lang="en-US" sz="2612">
                <a:solidFill>
                  <a:srgbClr val="FFFFFF"/>
                </a:solidFill>
                <a:latin typeface="Poppins"/>
                <a:ea typeface="Poppins"/>
                <a:cs typeface="Poppins"/>
                <a:sym typeface="Poppins"/>
              </a:rPr>
              <a:t>u t</a:t>
            </a:r>
            <a:r>
              <a:rPr lang="en-US" sz="2612">
                <a:solidFill>
                  <a:srgbClr val="FFFFFF"/>
                </a:solidFill>
                <a:latin typeface="Poppins"/>
                <a:ea typeface="Poppins"/>
                <a:cs typeface="Poppins"/>
                <a:sym typeface="Poppins"/>
              </a:rPr>
              <a:t>o</a:t>
            </a:r>
            <a:r>
              <a:rPr lang="en-US" sz="2612">
                <a:solidFill>
                  <a:srgbClr val="FFFFFF"/>
                </a:solidFill>
                <a:latin typeface="Poppins"/>
                <a:ea typeface="Poppins"/>
                <a:cs typeface="Poppins"/>
                <a:sym typeface="Poppins"/>
              </a:rPr>
              <a:t> categori</a:t>
            </a:r>
            <a:r>
              <a:rPr lang="en-US" sz="2612">
                <a:solidFill>
                  <a:srgbClr val="FFFFFF"/>
                </a:solidFill>
                <a:latin typeface="Poppins"/>
                <a:ea typeface="Poppins"/>
                <a:cs typeface="Poppins"/>
                <a:sym typeface="Poppins"/>
              </a:rPr>
              <a:t>z</a:t>
            </a:r>
            <a:r>
              <a:rPr lang="en-US" sz="2612">
                <a:solidFill>
                  <a:srgbClr val="FFFFFF"/>
                </a:solidFill>
                <a:latin typeface="Poppins"/>
                <a:ea typeface="Poppins"/>
                <a:cs typeface="Poppins"/>
                <a:sym typeface="Poppins"/>
              </a:rPr>
              <a:t>e p</a:t>
            </a:r>
            <a:r>
              <a:rPr lang="en-US" sz="2612">
                <a:solidFill>
                  <a:srgbClr val="FFFFFF"/>
                </a:solidFill>
                <a:latin typeface="Poppins"/>
                <a:ea typeface="Poppins"/>
                <a:cs typeface="Poppins"/>
                <a:sym typeface="Poppins"/>
              </a:rPr>
              <a:t>l</a:t>
            </a:r>
            <a:r>
              <a:rPr lang="en-US" sz="2612">
                <a:solidFill>
                  <a:srgbClr val="FFFFFF"/>
                </a:solidFill>
                <a:latin typeface="Poppins"/>
                <a:ea typeface="Poppins"/>
                <a:cs typeface="Poppins"/>
                <a:sym typeface="Poppins"/>
              </a:rPr>
              <a:t>ayers into </a:t>
            </a:r>
            <a:r>
              <a:rPr lang="en-US" sz="2612">
                <a:solidFill>
                  <a:srgbClr val="FFFFFF"/>
                </a:solidFill>
                <a:latin typeface="Poppins"/>
                <a:ea typeface="Poppins"/>
                <a:cs typeface="Poppins"/>
                <a:sym typeface="Poppins"/>
              </a:rPr>
              <a:t>St</a:t>
            </a:r>
            <a:r>
              <a:rPr lang="en-US" sz="2612">
                <a:solidFill>
                  <a:srgbClr val="FFFFFF"/>
                </a:solidFill>
                <a:latin typeface="Poppins"/>
                <a:ea typeface="Poppins"/>
                <a:cs typeface="Poppins"/>
                <a:sym typeface="Poppins"/>
              </a:rPr>
              <a:t>u</a:t>
            </a:r>
            <a:r>
              <a:rPr lang="en-US" sz="2612">
                <a:solidFill>
                  <a:srgbClr val="FFFFFF"/>
                </a:solidFill>
                <a:latin typeface="Poppins"/>
                <a:ea typeface="Poppins"/>
                <a:cs typeface="Poppins"/>
                <a:sym typeface="Poppins"/>
              </a:rPr>
              <a:t>de</a:t>
            </a:r>
            <a:r>
              <a:rPr lang="en-US" sz="2612">
                <a:solidFill>
                  <a:srgbClr val="FFFFFF"/>
                </a:solidFill>
                <a:latin typeface="Poppins"/>
                <a:ea typeface="Poppins"/>
                <a:cs typeface="Poppins"/>
                <a:sym typeface="Poppins"/>
              </a:rPr>
              <a:t>n</a:t>
            </a:r>
            <a:r>
              <a:rPr lang="en-US" sz="2612">
                <a:solidFill>
                  <a:srgbClr val="FFFFFF"/>
                </a:solidFill>
                <a:latin typeface="Poppins"/>
                <a:ea typeface="Poppins"/>
                <a:cs typeface="Poppins"/>
                <a:sym typeface="Poppins"/>
              </a:rPr>
              <a:t>t,</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W</a:t>
            </a:r>
            <a:r>
              <a:rPr lang="en-US" sz="2612">
                <a:solidFill>
                  <a:srgbClr val="FFFFFF"/>
                </a:solidFill>
                <a:latin typeface="Poppins"/>
                <a:ea typeface="Poppins"/>
                <a:cs typeface="Poppins"/>
                <a:sym typeface="Poppins"/>
              </a:rPr>
              <a:t>o</a:t>
            </a:r>
            <a:r>
              <a:rPr lang="en-US" sz="2612">
                <a:solidFill>
                  <a:srgbClr val="FFFFFF"/>
                </a:solidFill>
                <a:latin typeface="Poppins"/>
                <a:ea typeface="Poppins"/>
                <a:cs typeface="Poppins"/>
                <a:sym typeface="Poppins"/>
              </a:rPr>
              <a:t>rk</a:t>
            </a:r>
            <a:r>
              <a:rPr lang="en-US" sz="2612">
                <a:solidFill>
                  <a:srgbClr val="FFFFFF"/>
                </a:solidFill>
                <a:latin typeface="Poppins"/>
                <a:ea typeface="Poppins"/>
                <a:cs typeface="Poppins"/>
                <a:sym typeface="Poppins"/>
              </a:rPr>
              <a:t>er</a:t>
            </a:r>
            <a:r>
              <a:rPr lang="en-US" sz="2612">
                <a:solidFill>
                  <a:srgbClr val="FFFFFF"/>
                </a:solidFill>
                <a:latin typeface="Poppins"/>
                <a:ea typeface="Poppins"/>
                <a:cs typeface="Poppins"/>
                <a:sym typeface="Poppins"/>
              </a:rPr>
              <a:t>,</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o</a:t>
            </a:r>
            <a:r>
              <a:rPr lang="en-US" sz="2612">
                <a:solidFill>
                  <a:srgbClr val="FFFFFF"/>
                </a:solidFill>
                <a:latin typeface="Poppins"/>
                <a:ea typeface="Poppins"/>
                <a:cs typeface="Poppins"/>
                <a:sym typeface="Poppins"/>
              </a:rPr>
              <a:t>r</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W</a:t>
            </a:r>
            <a:r>
              <a:rPr lang="en-US" sz="2612">
                <a:solidFill>
                  <a:srgbClr val="FFFFFF"/>
                </a:solidFill>
                <a:latin typeface="Poppins"/>
                <a:ea typeface="Poppins"/>
                <a:cs typeface="Poppins"/>
                <a:sym typeface="Poppins"/>
              </a:rPr>
              <a:t>o</a:t>
            </a:r>
            <a:r>
              <a:rPr lang="en-US" sz="2612">
                <a:solidFill>
                  <a:srgbClr val="FFFFFF"/>
                </a:solidFill>
                <a:latin typeface="Poppins"/>
                <a:ea typeface="Poppins"/>
                <a:cs typeface="Poppins"/>
                <a:sym typeface="Poppins"/>
              </a:rPr>
              <a:t>rk</a:t>
            </a:r>
            <a:r>
              <a:rPr lang="en-US" sz="2612">
                <a:solidFill>
                  <a:srgbClr val="FFFFFF"/>
                </a:solidFill>
                <a:latin typeface="Poppins"/>
                <a:ea typeface="Poppins"/>
                <a:cs typeface="Poppins"/>
                <a:sym typeface="Poppins"/>
              </a:rPr>
              <a:t>ing Student base</a:t>
            </a:r>
            <a:r>
              <a:rPr lang="en-US" sz="2612">
                <a:solidFill>
                  <a:srgbClr val="FFFFFF"/>
                </a:solidFill>
                <a:latin typeface="Poppins"/>
                <a:ea typeface="Poppins"/>
                <a:cs typeface="Poppins"/>
                <a:sym typeface="Poppins"/>
              </a:rPr>
              <a:t>d </a:t>
            </a:r>
            <a:r>
              <a:rPr lang="en-US" sz="2612">
                <a:solidFill>
                  <a:srgbClr val="FFFFFF"/>
                </a:solidFill>
                <a:latin typeface="Poppins"/>
                <a:ea typeface="Poppins"/>
                <a:cs typeface="Poppins"/>
                <a:sym typeface="Poppins"/>
              </a:rPr>
              <a:t>on </a:t>
            </a:r>
            <a:r>
              <a:rPr lang="en-US" sz="2612">
                <a:solidFill>
                  <a:srgbClr val="FFFFFF"/>
                </a:solidFill>
                <a:latin typeface="Poppins"/>
                <a:ea typeface="Poppins"/>
                <a:cs typeface="Poppins"/>
                <a:sym typeface="Poppins"/>
              </a:rPr>
              <a:t>GPA</a:t>
            </a:r>
            <a:r>
              <a:rPr lang="en-US" sz="2612">
                <a:solidFill>
                  <a:srgbClr val="FFFFFF"/>
                </a:solidFill>
                <a:latin typeface="Poppins"/>
                <a:ea typeface="Poppins"/>
                <a:cs typeface="Poppins"/>
                <a:sym typeface="Poppins"/>
              </a:rPr>
              <a:t> and </a:t>
            </a:r>
            <a:r>
              <a:rPr lang="en-US" sz="2612">
                <a:solidFill>
                  <a:srgbClr val="FFFFFF"/>
                </a:solidFill>
                <a:latin typeface="Poppins"/>
                <a:ea typeface="Poppins"/>
                <a:cs typeface="Poppins"/>
                <a:sym typeface="Poppins"/>
              </a:rPr>
              <a:t>p</a:t>
            </a:r>
            <a:r>
              <a:rPr lang="en-US" sz="2612">
                <a:solidFill>
                  <a:srgbClr val="FFFFFF"/>
                </a:solidFill>
                <a:latin typeface="Poppins"/>
                <a:ea typeface="Poppins"/>
                <a:cs typeface="Poppins"/>
                <a:sym typeface="Poppins"/>
              </a:rPr>
              <a:t>r</a:t>
            </a:r>
            <a:r>
              <a:rPr lang="en-US" sz="2612">
                <a:solidFill>
                  <a:srgbClr val="FFFFFF"/>
                </a:solidFill>
                <a:latin typeface="Poppins"/>
                <a:ea typeface="Poppins"/>
                <a:cs typeface="Poppins"/>
                <a:sym typeface="Poppins"/>
              </a:rPr>
              <a:t>od</a:t>
            </a:r>
            <a:r>
              <a:rPr lang="en-US" sz="2612">
                <a:solidFill>
                  <a:srgbClr val="FFFFFF"/>
                </a:solidFill>
                <a:latin typeface="Poppins"/>
                <a:ea typeface="Poppins"/>
                <a:cs typeface="Poppins"/>
                <a:sym typeface="Poppins"/>
              </a:rPr>
              <a:t>uct</a:t>
            </a:r>
            <a:r>
              <a:rPr lang="en-US" sz="2612">
                <a:solidFill>
                  <a:srgbClr val="FFFFFF"/>
                </a:solidFill>
                <a:latin typeface="Poppins"/>
                <a:ea typeface="Poppins"/>
                <a:cs typeface="Poppins"/>
                <a:sym typeface="Poppins"/>
              </a:rPr>
              <a:t>iv</a:t>
            </a:r>
            <a:r>
              <a:rPr lang="en-US" sz="2612">
                <a:solidFill>
                  <a:srgbClr val="FFFFFF"/>
                </a:solidFill>
                <a:latin typeface="Poppins"/>
                <a:ea typeface="Poppins"/>
                <a:cs typeface="Poppins"/>
                <a:sym typeface="Poppins"/>
              </a:rPr>
              <a:t>i</a:t>
            </a:r>
            <a:r>
              <a:rPr lang="en-US" sz="2612">
                <a:solidFill>
                  <a:srgbClr val="FFFFFF"/>
                </a:solidFill>
                <a:latin typeface="Poppins"/>
                <a:ea typeface="Poppins"/>
                <a:cs typeface="Poppins"/>
                <a:sym typeface="Poppins"/>
              </a:rPr>
              <a:t>t</a:t>
            </a:r>
            <a:r>
              <a:rPr lang="en-US" sz="2612">
                <a:solidFill>
                  <a:srgbClr val="FFFFFF"/>
                </a:solidFill>
                <a:latin typeface="Poppins"/>
                <a:ea typeface="Poppins"/>
                <a:cs typeface="Poppins"/>
                <a:sym typeface="Poppins"/>
              </a:rPr>
              <a:t>y</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da</a:t>
            </a:r>
            <a:r>
              <a:rPr lang="en-US" sz="2612">
                <a:solidFill>
                  <a:srgbClr val="FFFFFF"/>
                </a:solidFill>
                <a:latin typeface="Poppins"/>
                <a:ea typeface="Poppins"/>
                <a:cs typeface="Poppins"/>
                <a:sym typeface="Poppins"/>
              </a:rPr>
              <a:t>ta</a:t>
            </a:r>
            <a:r>
              <a:rPr lang="en-US" sz="2612">
                <a:solidFill>
                  <a:srgbClr val="FFFFFF"/>
                </a:solidFill>
                <a:latin typeface="Poppins"/>
                <a:ea typeface="Poppins"/>
                <a:cs typeface="Poppins"/>
                <a:sym typeface="Poppins"/>
              </a:rPr>
              <a:t>. Th</a:t>
            </a:r>
            <a:r>
              <a:rPr lang="en-US" sz="2612">
                <a:solidFill>
                  <a:srgbClr val="FFFFFF"/>
                </a:solidFill>
                <a:latin typeface="Poppins"/>
                <a:ea typeface="Poppins"/>
                <a:cs typeface="Poppins"/>
                <a:sym typeface="Poppins"/>
              </a:rPr>
              <a:t>i</a:t>
            </a:r>
            <a:r>
              <a:rPr lang="en-US" sz="2612">
                <a:solidFill>
                  <a:srgbClr val="FFFFFF"/>
                </a:solidFill>
                <a:latin typeface="Poppins"/>
                <a:ea typeface="Poppins"/>
                <a:cs typeface="Poppins"/>
                <a:sym typeface="Poppins"/>
              </a:rPr>
              <a:t>s</a:t>
            </a:r>
            <a:r>
              <a:rPr lang="en-US" sz="2612">
                <a:solidFill>
                  <a:srgbClr val="FFFFFF"/>
                </a:solidFill>
                <a:latin typeface="Poppins"/>
                <a:ea typeface="Poppins"/>
                <a:cs typeface="Poppins"/>
                <a:sym typeface="Poppins"/>
              </a:rPr>
              <a:t> m</a:t>
            </a:r>
            <a:r>
              <a:rPr lang="en-US" sz="2612">
                <a:solidFill>
                  <a:srgbClr val="FFFFFF"/>
                </a:solidFill>
                <a:latin typeface="Poppins"/>
                <a:ea typeface="Poppins"/>
                <a:cs typeface="Poppins"/>
                <a:sym typeface="Poppins"/>
              </a:rPr>
              <a:t>a</a:t>
            </a:r>
            <a:r>
              <a:rPr lang="en-US" sz="2612">
                <a:solidFill>
                  <a:srgbClr val="FFFFFF"/>
                </a:solidFill>
                <a:latin typeface="Poppins"/>
                <a:ea typeface="Poppins"/>
                <a:cs typeface="Poppins"/>
                <a:sym typeface="Poppins"/>
              </a:rPr>
              <a:t>de </a:t>
            </a:r>
            <a:r>
              <a:rPr lang="en-US" sz="2612">
                <a:solidFill>
                  <a:srgbClr val="FFFFFF"/>
                </a:solidFill>
                <a:latin typeface="Poppins"/>
                <a:ea typeface="Poppins"/>
                <a:cs typeface="Poppins"/>
                <a:sym typeface="Poppins"/>
              </a:rPr>
              <a:t>it</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e</a:t>
            </a:r>
            <a:r>
              <a:rPr lang="en-US" sz="2612">
                <a:solidFill>
                  <a:srgbClr val="FFFFFF"/>
                </a:solidFill>
                <a:latin typeface="Poppins"/>
                <a:ea typeface="Poppins"/>
                <a:cs typeface="Poppins"/>
                <a:sym typeface="Poppins"/>
              </a:rPr>
              <a:t>a</a:t>
            </a:r>
            <a:r>
              <a:rPr lang="en-US" sz="2612">
                <a:solidFill>
                  <a:srgbClr val="FFFFFF"/>
                </a:solidFill>
                <a:latin typeface="Poppins"/>
                <a:ea typeface="Poppins"/>
                <a:cs typeface="Poppins"/>
                <a:sym typeface="Poppins"/>
              </a:rPr>
              <a:t>si</a:t>
            </a:r>
            <a:r>
              <a:rPr lang="en-US" sz="2612">
                <a:solidFill>
                  <a:srgbClr val="FFFFFF"/>
                </a:solidFill>
                <a:latin typeface="Poppins"/>
                <a:ea typeface="Poppins"/>
                <a:cs typeface="Poppins"/>
                <a:sym typeface="Poppins"/>
              </a:rPr>
              <a:t>er to an</a:t>
            </a:r>
            <a:r>
              <a:rPr lang="en-US" sz="2612">
                <a:solidFill>
                  <a:srgbClr val="FFFFFF"/>
                </a:solidFill>
                <a:latin typeface="Poppins"/>
                <a:ea typeface="Poppins"/>
                <a:cs typeface="Poppins"/>
                <a:sym typeface="Poppins"/>
              </a:rPr>
              <a:t>alyze</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b</a:t>
            </a:r>
            <a:r>
              <a:rPr lang="en-US" sz="2612">
                <a:solidFill>
                  <a:srgbClr val="FFFFFF"/>
                </a:solidFill>
                <a:latin typeface="Poppins"/>
                <a:ea typeface="Poppins"/>
                <a:cs typeface="Poppins"/>
                <a:sym typeface="Poppins"/>
              </a:rPr>
              <a:t>eha</a:t>
            </a:r>
            <a:r>
              <a:rPr lang="en-US" sz="2612">
                <a:solidFill>
                  <a:srgbClr val="FFFFFF"/>
                </a:solidFill>
                <a:latin typeface="Poppins"/>
                <a:ea typeface="Poppins"/>
                <a:cs typeface="Poppins"/>
                <a:sym typeface="Poppins"/>
              </a:rPr>
              <a:t>vio</a:t>
            </a:r>
            <a:r>
              <a:rPr lang="en-US" sz="2612">
                <a:solidFill>
                  <a:srgbClr val="FFFFFF"/>
                </a:solidFill>
                <a:latin typeface="Poppins"/>
                <a:ea typeface="Poppins"/>
                <a:cs typeface="Poppins"/>
                <a:sym typeface="Poppins"/>
              </a:rPr>
              <a:t>r </a:t>
            </a:r>
            <a:r>
              <a:rPr lang="en-US" sz="2612">
                <a:solidFill>
                  <a:srgbClr val="FFFFFF"/>
                </a:solidFill>
                <a:latin typeface="Poppins"/>
                <a:ea typeface="Poppins"/>
                <a:cs typeface="Poppins"/>
                <a:sym typeface="Poppins"/>
              </a:rPr>
              <a:t>a</a:t>
            </a:r>
            <a:r>
              <a:rPr lang="en-US" sz="2612">
                <a:solidFill>
                  <a:srgbClr val="FFFFFF"/>
                </a:solidFill>
                <a:latin typeface="Poppins"/>
                <a:ea typeface="Poppins"/>
                <a:cs typeface="Poppins"/>
                <a:sym typeface="Poppins"/>
              </a:rPr>
              <a:t>cro</a:t>
            </a:r>
            <a:r>
              <a:rPr lang="en-US" sz="2612">
                <a:solidFill>
                  <a:srgbClr val="FFFFFF"/>
                </a:solidFill>
                <a:latin typeface="Poppins"/>
                <a:ea typeface="Poppins"/>
                <a:cs typeface="Poppins"/>
                <a:sym typeface="Poppins"/>
              </a:rPr>
              <a:t>ss d</a:t>
            </a:r>
            <a:r>
              <a:rPr lang="en-US" sz="2612">
                <a:solidFill>
                  <a:srgbClr val="FFFFFF"/>
                </a:solidFill>
                <a:latin typeface="Poppins"/>
                <a:ea typeface="Poppins"/>
                <a:cs typeface="Poppins"/>
                <a:sym typeface="Poppins"/>
              </a:rPr>
              <a:t>i</a:t>
            </a:r>
            <a:r>
              <a:rPr lang="en-US" sz="2612">
                <a:solidFill>
                  <a:srgbClr val="FFFFFF"/>
                </a:solidFill>
                <a:latin typeface="Poppins"/>
                <a:ea typeface="Poppins"/>
                <a:cs typeface="Poppins"/>
                <a:sym typeface="Poppins"/>
              </a:rPr>
              <a:t>ffer</a:t>
            </a:r>
            <a:r>
              <a:rPr lang="en-US" sz="2612">
                <a:solidFill>
                  <a:srgbClr val="FFFFFF"/>
                </a:solidFill>
                <a:latin typeface="Poppins"/>
                <a:ea typeface="Poppins"/>
                <a:cs typeface="Poppins"/>
                <a:sym typeface="Poppins"/>
              </a:rPr>
              <a:t>e</a:t>
            </a:r>
            <a:r>
              <a:rPr lang="en-US" sz="2612">
                <a:solidFill>
                  <a:srgbClr val="FFFFFF"/>
                </a:solidFill>
                <a:latin typeface="Poppins"/>
                <a:ea typeface="Poppins"/>
                <a:cs typeface="Poppins"/>
                <a:sym typeface="Poppins"/>
              </a:rPr>
              <a:t>nt</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g</a:t>
            </a:r>
            <a:r>
              <a:rPr lang="en-US" sz="2612">
                <a:solidFill>
                  <a:srgbClr val="FFFFFF"/>
                </a:solidFill>
                <a:latin typeface="Poppins"/>
                <a:ea typeface="Poppins"/>
                <a:cs typeface="Poppins"/>
                <a:sym typeface="Poppins"/>
              </a:rPr>
              <a:t>r</a:t>
            </a:r>
            <a:r>
              <a:rPr lang="en-US" sz="2612">
                <a:solidFill>
                  <a:srgbClr val="FFFFFF"/>
                </a:solidFill>
                <a:latin typeface="Poppins"/>
                <a:ea typeface="Poppins"/>
                <a:cs typeface="Poppins"/>
                <a:sym typeface="Poppins"/>
              </a:rPr>
              <a:t>oup</a:t>
            </a:r>
            <a:r>
              <a:rPr lang="en-US" sz="2612">
                <a:solidFill>
                  <a:srgbClr val="FFFFFF"/>
                </a:solidFill>
                <a:latin typeface="Poppins"/>
                <a:ea typeface="Poppins"/>
                <a:cs typeface="Poppins"/>
                <a:sym typeface="Poppins"/>
              </a:rPr>
              <a:t>s.</a:t>
            </a:r>
          </a:p>
          <a:p>
            <a:pPr algn="l">
              <a:lnSpc>
                <a:spcPts val="3656"/>
              </a:lnSpc>
            </a:pPr>
          </a:p>
          <a:p>
            <a:pPr algn="l" marL="0" indent="0" lvl="0">
              <a:lnSpc>
                <a:spcPts val="3656"/>
              </a:lnSpc>
            </a:pP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962575" y="8033150"/>
            <a:ext cx="2447169" cy="1342884"/>
          </a:xfrm>
          <a:custGeom>
            <a:avLst/>
            <a:gdLst/>
            <a:ahLst/>
            <a:cxnLst/>
            <a:rect r="r" b="b" t="t" l="l"/>
            <a:pathLst>
              <a:path h="1342884" w="2447169">
                <a:moveTo>
                  <a:pt x="0" y="0"/>
                </a:moveTo>
                <a:lnTo>
                  <a:pt x="2447169" y="0"/>
                </a:lnTo>
                <a:lnTo>
                  <a:pt x="2447169" y="1342884"/>
                </a:lnTo>
                <a:lnTo>
                  <a:pt x="0" y="1342884"/>
                </a:lnTo>
                <a:lnTo>
                  <a:pt x="0" y="0"/>
                </a:lnTo>
                <a:close/>
              </a:path>
            </a:pathLst>
          </a:custGeom>
          <a:blipFill>
            <a:blip r:embed="rId2"/>
            <a:stretch>
              <a:fillRect l="0" t="0" r="0" b="0"/>
            </a:stretch>
          </a:blipFill>
        </p:spPr>
      </p:sp>
      <p:sp>
        <p:nvSpPr>
          <p:cNvPr name="Freeform 3" id="3"/>
          <p:cNvSpPr/>
          <p:nvPr/>
        </p:nvSpPr>
        <p:spPr>
          <a:xfrm flipH="false" flipV="false" rot="0">
            <a:off x="8014946" y="3699578"/>
            <a:ext cx="9602083" cy="4333572"/>
          </a:xfrm>
          <a:custGeom>
            <a:avLst/>
            <a:gdLst/>
            <a:ahLst/>
            <a:cxnLst/>
            <a:rect r="r" b="b" t="t" l="l"/>
            <a:pathLst>
              <a:path h="4333572" w="9602083">
                <a:moveTo>
                  <a:pt x="0" y="0"/>
                </a:moveTo>
                <a:lnTo>
                  <a:pt x="9602083" y="0"/>
                </a:lnTo>
                <a:lnTo>
                  <a:pt x="9602083" y="4333572"/>
                </a:lnTo>
                <a:lnTo>
                  <a:pt x="0" y="4333572"/>
                </a:lnTo>
                <a:lnTo>
                  <a:pt x="0" y="0"/>
                </a:lnTo>
                <a:close/>
              </a:path>
            </a:pathLst>
          </a:custGeom>
          <a:blipFill>
            <a:blip r:embed="rId3"/>
            <a:stretch>
              <a:fillRect l="0" t="-357" r="0" b="-357"/>
            </a:stretch>
          </a:blipFill>
        </p:spPr>
      </p:sp>
      <p:sp>
        <p:nvSpPr>
          <p:cNvPr name="TextBox 4" id="4"/>
          <p:cNvSpPr txBox="true"/>
          <p:nvPr/>
        </p:nvSpPr>
        <p:spPr>
          <a:xfrm rot="0">
            <a:off x="1335845" y="2595800"/>
            <a:ext cx="6679101" cy="919342"/>
          </a:xfrm>
          <a:prstGeom prst="rect">
            <a:avLst/>
          </a:prstGeom>
        </p:spPr>
        <p:txBody>
          <a:bodyPr anchor="t" rtlCol="false" tIns="0" lIns="0" bIns="0" rIns="0">
            <a:spAutoFit/>
          </a:bodyPr>
          <a:lstStyle/>
          <a:p>
            <a:pPr algn="l" marL="0" indent="0" lvl="0">
              <a:lnSpc>
                <a:spcPts val="6855"/>
              </a:lnSpc>
              <a:spcBef>
                <a:spcPct val="0"/>
              </a:spcBef>
            </a:pPr>
            <a:r>
              <a:rPr lang="en-US" sz="6995">
                <a:solidFill>
                  <a:srgbClr val="FFFFFF"/>
                </a:solidFill>
                <a:latin typeface="Tex Gyre Termes"/>
                <a:ea typeface="Tex Gyre Termes"/>
                <a:cs typeface="Tex Gyre Termes"/>
                <a:sym typeface="Tex Gyre Termes"/>
              </a:rPr>
              <a:t>Tab</a:t>
            </a:r>
            <a:r>
              <a:rPr lang="en-US" sz="6995" strike="noStrike" u="none">
                <a:solidFill>
                  <a:srgbClr val="FFFFFF"/>
                </a:solidFill>
                <a:latin typeface="Tex Gyre Termes"/>
                <a:ea typeface="Tex Gyre Termes"/>
                <a:cs typeface="Tex Gyre Termes"/>
                <a:sym typeface="Tex Gyre Termes"/>
              </a:rPr>
              <a:t>leau Work</a:t>
            </a:r>
          </a:p>
        </p:txBody>
      </p:sp>
      <p:sp>
        <p:nvSpPr>
          <p:cNvPr name="TextBox 5" id="5"/>
          <p:cNvSpPr txBox="true"/>
          <p:nvPr/>
        </p:nvSpPr>
        <p:spPr>
          <a:xfrm rot="0">
            <a:off x="572984" y="3957565"/>
            <a:ext cx="7086032" cy="2743528"/>
          </a:xfrm>
          <a:prstGeom prst="rect">
            <a:avLst/>
          </a:prstGeom>
        </p:spPr>
        <p:txBody>
          <a:bodyPr anchor="t" rtlCol="false" tIns="0" lIns="0" bIns="0" rIns="0">
            <a:spAutoFit/>
          </a:bodyPr>
          <a:lstStyle/>
          <a:p>
            <a:pPr algn="l">
              <a:lnSpc>
                <a:spcPts val="3656"/>
              </a:lnSpc>
            </a:pPr>
            <a:r>
              <a:rPr lang="en-US" sz="2612">
                <a:solidFill>
                  <a:srgbClr val="FFFFFF"/>
                </a:solidFill>
                <a:latin typeface="Poppins"/>
                <a:ea typeface="Poppins"/>
                <a:cs typeface="Poppins"/>
                <a:sym typeface="Poppins"/>
              </a:rPr>
              <a:t>c</a:t>
            </a:r>
            <a:r>
              <a:rPr lang="en-US" sz="2612">
                <a:solidFill>
                  <a:srgbClr val="FFFFFF"/>
                </a:solidFill>
                <a:latin typeface="Poppins"/>
                <a:ea typeface="Poppins"/>
                <a:cs typeface="Poppins"/>
                <a:sym typeface="Poppins"/>
              </a:rPr>
              <a:t>reated a </a:t>
            </a:r>
            <a:r>
              <a:rPr lang="en-US" sz="2612">
                <a:solidFill>
                  <a:srgbClr val="FFFFFF"/>
                </a:solidFill>
                <a:latin typeface="Poppins"/>
                <a:ea typeface="Poppins"/>
                <a:cs typeface="Poppins"/>
                <a:sym typeface="Poppins"/>
              </a:rPr>
              <a:t>Ph</a:t>
            </a:r>
            <a:r>
              <a:rPr lang="en-US" sz="2612">
                <a:solidFill>
                  <a:srgbClr val="FFFFFF"/>
                </a:solidFill>
                <a:latin typeface="Poppins"/>
                <a:ea typeface="Poppins"/>
                <a:cs typeface="Poppins"/>
                <a:sym typeface="Poppins"/>
              </a:rPr>
              <a:t>ys</a:t>
            </a:r>
            <a:r>
              <a:rPr lang="en-US" sz="2612">
                <a:solidFill>
                  <a:srgbClr val="FFFFFF"/>
                </a:solidFill>
                <a:latin typeface="Poppins"/>
                <a:ea typeface="Poppins"/>
                <a:cs typeface="Poppins"/>
                <a:sym typeface="Poppins"/>
              </a:rPr>
              <a:t>i</a:t>
            </a:r>
            <a:r>
              <a:rPr lang="en-US" sz="2612">
                <a:solidFill>
                  <a:srgbClr val="FFFFFF"/>
                </a:solidFill>
                <a:latin typeface="Poppins"/>
                <a:ea typeface="Poppins"/>
                <a:cs typeface="Poppins"/>
                <a:sym typeface="Poppins"/>
              </a:rPr>
              <a:t>cal </a:t>
            </a:r>
            <a:r>
              <a:rPr lang="en-US" sz="2612">
                <a:solidFill>
                  <a:srgbClr val="FFFFFF"/>
                </a:solidFill>
                <a:latin typeface="Poppins"/>
                <a:ea typeface="Poppins"/>
                <a:cs typeface="Poppins"/>
                <a:sym typeface="Poppins"/>
              </a:rPr>
              <a:t>Pa</a:t>
            </a:r>
            <a:r>
              <a:rPr lang="en-US" sz="2612">
                <a:solidFill>
                  <a:srgbClr val="FFFFFF"/>
                </a:solidFill>
                <a:latin typeface="Poppins"/>
                <a:ea typeface="Poppins"/>
                <a:cs typeface="Poppins"/>
                <a:sym typeface="Poppins"/>
              </a:rPr>
              <a:t>i</a:t>
            </a:r>
            <a:r>
              <a:rPr lang="en-US" sz="2612">
                <a:solidFill>
                  <a:srgbClr val="FFFFFF"/>
                </a:solidFill>
                <a:latin typeface="Poppins"/>
                <a:ea typeface="Poppins"/>
                <a:cs typeface="Poppins"/>
                <a:sym typeface="Poppins"/>
              </a:rPr>
              <a:t>n</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c</a:t>
            </a:r>
            <a:r>
              <a:rPr lang="en-US" sz="2612">
                <a:solidFill>
                  <a:srgbClr val="FFFFFF"/>
                </a:solidFill>
                <a:latin typeface="Poppins"/>
                <a:ea typeface="Poppins"/>
                <a:cs typeface="Poppins"/>
                <a:sym typeface="Poppins"/>
              </a:rPr>
              <a:t>a</a:t>
            </a:r>
            <a:r>
              <a:rPr lang="en-US" sz="2612">
                <a:solidFill>
                  <a:srgbClr val="FFFFFF"/>
                </a:solidFill>
                <a:latin typeface="Poppins"/>
                <a:ea typeface="Poppins"/>
                <a:cs typeface="Poppins"/>
                <a:sym typeface="Poppins"/>
              </a:rPr>
              <a:t>lcu</a:t>
            </a:r>
            <a:r>
              <a:rPr lang="en-US" sz="2612">
                <a:solidFill>
                  <a:srgbClr val="FFFFFF"/>
                </a:solidFill>
                <a:latin typeface="Poppins"/>
                <a:ea typeface="Poppins"/>
                <a:cs typeface="Poppins"/>
                <a:sym typeface="Poppins"/>
              </a:rPr>
              <a:t>l</a:t>
            </a:r>
            <a:r>
              <a:rPr lang="en-US" sz="2612">
                <a:solidFill>
                  <a:srgbClr val="FFFFFF"/>
                </a:solidFill>
                <a:latin typeface="Poppins"/>
                <a:ea typeface="Poppins"/>
                <a:cs typeface="Poppins"/>
                <a:sym typeface="Poppins"/>
              </a:rPr>
              <a:t>ate</a:t>
            </a:r>
            <a:r>
              <a:rPr lang="en-US" sz="2612">
                <a:solidFill>
                  <a:srgbClr val="FFFFFF"/>
                </a:solidFill>
                <a:latin typeface="Poppins"/>
                <a:ea typeface="Poppins"/>
                <a:cs typeface="Poppins"/>
                <a:sym typeface="Poppins"/>
              </a:rPr>
              <a:t>d</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f</a:t>
            </a:r>
            <a:r>
              <a:rPr lang="en-US" sz="2612">
                <a:solidFill>
                  <a:srgbClr val="FFFFFF"/>
                </a:solidFill>
                <a:latin typeface="Poppins"/>
                <a:ea typeface="Poppins"/>
                <a:cs typeface="Poppins"/>
                <a:sym typeface="Poppins"/>
              </a:rPr>
              <a:t>iel</a:t>
            </a:r>
            <a:r>
              <a:rPr lang="en-US" sz="2612">
                <a:solidFill>
                  <a:srgbClr val="FFFFFF"/>
                </a:solidFill>
                <a:latin typeface="Poppins"/>
                <a:ea typeface="Poppins"/>
                <a:cs typeface="Poppins"/>
                <a:sym typeface="Poppins"/>
              </a:rPr>
              <a:t>d</a:t>
            </a:r>
            <a:r>
              <a:rPr lang="en-US" sz="2612">
                <a:solidFill>
                  <a:srgbClr val="FFFFFF"/>
                </a:solidFill>
                <a:latin typeface="Poppins"/>
                <a:ea typeface="Poppins"/>
                <a:cs typeface="Poppins"/>
                <a:sym typeface="Poppins"/>
              </a:rPr>
              <a:t> t</a:t>
            </a:r>
            <a:r>
              <a:rPr lang="en-US" sz="2612">
                <a:solidFill>
                  <a:srgbClr val="FFFFFF"/>
                </a:solidFill>
                <a:latin typeface="Poppins"/>
                <a:ea typeface="Poppins"/>
                <a:cs typeface="Poppins"/>
                <a:sym typeface="Poppins"/>
              </a:rPr>
              <a:t>h</a:t>
            </a:r>
            <a:r>
              <a:rPr lang="en-US" sz="2612">
                <a:solidFill>
                  <a:srgbClr val="FFFFFF"/>
                </a:solidFill>
                <a:latin typeface="Poppins"/>
                <a:ea typeface="Poppins"/>
                <a:cs typeface="Poppins"/>
                <a:sym typeface="Poppins"/>
              </a:rPr>
              <a:t>at co</a:t>
            </a:r>
            <a:r>
              <a:rPr lang="en-US" sz="2612">
                <a:solidFill>
                  <a:srgbClr val="FFFFFF"/>
                </a:solidFill>
                <a:latin typeface="Poppins"/>
                <a:ea typeface="Poppins"/>
                <a:cs typeface="Poppins"/>
                <a:sym typeface="Poppins"/>
              </a:rPr>
              <a:t>mb</a:t>
            </a:r>
            <a:r>
              <a:rPr lang="en-US" sz="2612">
                <a:solidFill>
                  <a:srgbClr val="FFFFFF"/>
                </a:solidFill>
                <a:latin typeface="Poppins"/>
                <a:ea typeface="Poppins"/>
                <a:cs typeface="Poppins"/>
                <a:sym typeface="Poppins"/>
              </a:rPr>
              <a:t>i</a:t>
            </a:r>
            <a:r>
              <a:rPr lang="en-US" sz="2612">
                <a:solidFill>
                  <a:srgbClr val="FFFFFF"/>
                </a:solidFill>
                <a:latin typeface="Poppins"/>
                <a:ea typeface="Poppins"/>
                <a:cs typeface="Poppins"/>
                <a:sym typeface="Poppins"/>
              </a:rPr>
              <a:t>n</a:t>
            </a:r>
            <a:r>
              <a:rPr lang="en-US" sz="2612">
                <a:solidFill>
                  <a:srgbClr val="FFFFFF"/>
                </a:solidFill>
                <a:latin typeface="Poppins"/>
                <a:ea typeface="Poppins"/>
                <a:cs typeface="Poppins"/>
                <a:sym typeface="Poppins"/>
              </a:rPr>
              <a:t>es </a:t>
            </a:r>
            <a:r>
              <a:rPr lang="en-US" sz="2612">
                <a:solidFill>
                  <a:srgbClr val="FFFFFF"/>
                </a:solidFill>
                <a:latin typeface="Poppins"/>
                <a:ea typeface="Poppins"/>
                <a:cs typeface="Poppins"/>
                <a:sym typeface="Poppins"/>
              </a:rPr>
              <a:t>ey</a:t>
            </a:r>
            <a:r>
              <a:rPr lang="en-US" sz="2612">
                <a:solidFill>
                  <a:srgbClr val="FFFFFF"/>
                </a:solidFill>
                <a:latin typeface="Poppins"/>
                <a:ea typeface="Poppins"/>
                <a:cs typeface="Poppins"/>
                <a:sym typeface="Poppins"/>
              </a:rPr>
              <a:t>e</a:t>
            </a:r>
            <a:r>
              <a:rPr lang="en-US" sz="2612">
                <a:solidFill>
                  <a:srgbClr val="FFFFFF"/>
                </a:solidFill>
                <a:latin typeface="Poppins"/>
                <a:ea typeface="Poppins"/>
                <a:cs typeface="Poppins"/>
                <a:sym typeface="Poppins"/>
              </a:rPr>
              <a:t> s</a:t>
            </a:r>
            <a:r>
              <a:rPr lang="en-US" sz="2612">
                <a:solidFill>
                  <a:srgbClr val="FFFFFF"/>
                </a:solidFill>
                <a:latin typeface="Poppins"/>
                <a:ea typeface="Poppins"/>
                <a:cs typeface="Poppins"/>
                <a:sym typeface="Poppins"/>
              </a:rPr>
              <a:t>train and </a:t>
            </a:r>
            <a:r>
              <a:rPr lang="en-US" sz="2612">
                <a:solidFill>
                  <a:srgbClr val="FFFFFF"/>
                </a:solidFill>
                <a:latin typeface="Poppins"/>
                <a:ea typeface="Poppins"/>
                <a:cs typeface="Poppins"/>
                <a:sym typeface="Poppins"/>
              </a:rPr>
              <a:t>ba</a:t>
            </a:r>
            <a:r>
              <a:rPr lang="en-US" sz="2612">
                <a:solidFill>
                  <a:srgbClr val="FFFFFF"/>
                </a:solidFill>
                <a:latin typeface="Poppins"/>
                <a:ea typeface="Poppins"/>
                <a:cs typeface="Poppins"/>
                <a:sym typeface="Poppins"/>
              </a:rPr>
              <a:t>ck or ne</a:t>
            </a:r>
            <a:r>
              <a:rPr lang="en-US" sz="2612">
                <a:solidFill>
                  <a:srgbClr val="FFFFFF"/>
                </a:solidFill>
                <a:latin typeface="Poppins"/>
                <a:ea typeface="Poppins"/>
                <a:cs typeface="Poppins"/>
                <a:sym typeface="Poppins"/>
              </a:rPr>
              <a:t>ck</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p</a:t>
            </a:r>
            <a:r>
              <a:rPr lang="en-US" sz="2612">
                <a:solidFill>
                  <a:srgbClr val="FFFFFF"/>
                </a:solidFill>
                <a:latin typeface="Poppins"/>
                <a:ea typeface="Poppins"/>
                <a:cs typeface="Poppins"/>
                <a:sym typeface="Poppins"/>
              </a:rPr>
              <a:t>a</a:t>
            </a:r>
            <a:r>
              <a:rPr lang="en-US" sz="2612">
                <a:solidFill>
                  <a:srgbClr val="FFFFFF"/>
                </a:solidFill>
                <a:latin typeface="Poppins"/>
                <a:ea typeface="Poppins"/>
                <a:cs typeface="Poppins"/>
                <a:sym typeface="Poppins"/>
              </a:rPr>
              <a:t>in to classi</a:t>
            </a:r>
            <a:r>
              <a:rPr lang="en-US" sz="2612">
                <a:solidFill>
                  <a:srgbClr val="FFFFFF"/>
                </a:solidFill>
                <a:latin typeface="Poppins"/>
                <a:ea typeface="Poppins"/>
                <a:cs typeface="Poppins"/>
                <a:sym typeface="Poppins"/>
              </a:rPr>
              <a:t>fy</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p</a:t>
            </a:r>
            <a:r>
              <a:rPr lang="en-US" sz="2612">
                <a:solidFill>
                  <a:srgbClr val="FFFFFF"/>
                </a:solidFill>
                <a:latin typeface="Poppins"/>
                <a:ea typeface="Poppins"/>
                <a:cs typeface="Poppins"/>
                <a:sym typeface="Poppins"/>
              </a:rPr>
              <a:t>la</a:t>
            </a:r>
            <a:r>
              <a:rPr lang="en-US" sz="2612">
                <a:solidFill>
                  <a:srgbClr val="FFFFFF"/>
                </a:solidFill>
                <a:latin typeface="Poppins"/>
                <a:ea typeface="Poppins"/>
                <a:cs typeface="Poppins"/>
                <a:sym typeface="Poppins"/>
              </a:rPr>
              <a:t>y</a:t>
            </a:r>
            <a:r>
              <a:rPr lang="en-US" sz="2612">
                <a:solidFill>
                  <a:srgbClr val="FFFFFF"/>
                </a:solidFill>
                <a:latin typeface="Poppins"/>
                <a:ea typeface="Poppins"/>
                <a:cs typeface="Poppins"/>
                <a:sym typeface="Poppins"/>
              </a:rPr>
              <a:t>e</a:t>
            </a:r>
            <a:r>
              <a:rPr lang="en-US" sz="2612">
                <a:solidFill>
                  <a:srgbClr val="FFFFFF"/>
                </a:solidFill>
                <a:latin typeface="Poppins"/>
                <a:ea typeface="Poppins"/>
                <a:cs typeface="Poppins"/>
                <a:sym typeface="Poppins"/>
              </a:rPr>
              <a:t>r</a:t>
            </a:r>
            <a:r>
              <a:rPr lang="en-US" sz="2612">
                <a:solidFill>
                  <a:srgbClr val="FFFFFF"/>
                </a:solidFill>
                <a:latin typeface="Poppins"/>
                <a:ea typeface="Poppins"/>
                <a:cs typeface="Poppins"/>
                <a:sym typeface="Poppins"/>
              </a:rPr>
              <a:t>s </a:t>
            </a:r>
            <a:r>
              <a:rPr lang="en-US" sz="2612">
                <a:solidFill>
                  <a:srgbClr val="FFFFFF"/>
                </a:solidFill>
                <a:latin typeface="Poppins"/>
                <a:ea typeface="Poppins"/>
                <a:cs typeface="Poppins"/>
                <a:sym typeface="Poppins"/>
              </a:rPr>
              <a:t>i</a:t>
            </a:r>
            <a:r>
              <a:rPr lang="en-US" sz="2612">
                <a:solidFill>
                  <a:srgbClr val="FFFFFF"/>
                </a:solidFill>
                <a:latin typeface="Poppins"/>
                <a:ea typeface="Poppins"/>
                <a:cs typeface="Poppins"/>
                <a:sym typeface="Poppins"/>
              </a:rPr>
              <a:t>nt</a:t>
            </a:r>
            <a:r>
              <a:rPr lang="en-US" sz="2612">
                <a:solidFill>
                  <a:srgbClr val="FFFFFF"/>
                </a:solidFill>
                <a:latin typeface="Poppins"/>
                <a:ea typeface="Poppins"/>
                <a:cs typeface="Poppins"/>
                <a:sym typeface="Poppins"/>
              </a:rPr>
              <a:t>o</a:t>
            </a:r>
            <a:r>
              <a:rPr lang="en-US" sz="2612">
                <a:solidFill>
                  <a:srgbClr val="FFFFFF"/>
                </a:solidFill>
                <a:latin typeface="Poppins"/>
                <a:ea typeface="Poppins"/>
                <a:cs typeface="Poppins"/>
                <a:sym typeface="Poppins"/>
              </a:rPr>
              <a:t> </a:t>
            </a:r>
            <a:r>
              <a:rPr lang="en-US" sz="2612">
                <a:solidFill>
                  <a:srgbClr val="FFFFFF"/>
                </a:solidFill>
                <a:latin typeface="Poppins"/>
                <a:ea typeface="Poppins"/>
                <a:cs typeface="Poppins"/>
                <a:sym typeface="Poppins"/>
              </a:rPr>
              <a:t>H</a:t>
            </a:r>
            <a:r>
              <a:rPr lang="en-US" sz="2612">
                <a:solidFill>
                  <a:srgbClr val="FFFFFF"/>
                </a:solidFill>
                <a:latin typeface="Poppins"/>
                <a:ea typeface="Poppins"/>
                <a:cs typeface="Poppins"/>
                <a:sym typeface="Poppins"/>
              </a:rPr>
              <a:t>ig</a:t>
            </a:r>
            <a:r>
              <a:rPr lang="en-US" sz="2612">
                <a:solidFill>
                  <a:srgbClr val="FFFFFF"/>
                </a:solidFill>
                <a:latin typeface="Poppins"/>
                <a:ea typeface="Poppins"/>
                <a:cs typeface="Poppins"/>
                <a:sym typeface="Poppins"/>
              </a:rPr>
              <a:t>h </a:t>
            </a:r>
            <a:r>
              <a:rPr lang="en-US" sz="2612">
                <a:solidFill>
                  <a:srgbClr val="FFFFFF"/>
                </a:solidFill>
                <a:latin typeface="Poppins"/>
                <a:ea typeface="Poppins"/>
                <a:cs typeface="Poppins"/>
                <a:sym typeface="Poppins"/>
              </a:rPr>
              <a:t>R</a:t>
            </a:r>
            <a:r>
              <a:rPr lang="en-US" sz="2612">
                <a:solidFill>
                  <a:srgbClr val="FFFFFF"/>
                </a:solidFill>
                <a:latin typeface="Poppins"/>
                <a:ea typeface="Poppins"/>
                <a:cs typeface="Poppins"/>
                <a:sym typeface="Poppins"/>
              </a:rPr>
              <a:t>i</a:t>
            </a:r>
            <a:r>
              <a:rPr lang="en-US" sz="2612">
                <a:solidFill>
                  <a:srgbClr val="FFFFFF"/>
                </a:solidFill>
                <a:latin typeface="Poppins"/>
                <a:ea typeface="Poppins"/>
                <a:cs typeface="Poppins"/>
                <a:sym typeface="Poppins"/>
              </a:rPr>
              <a:t>sk, Mo</a:t>
            </a:r>
            <a:r>
              <a:rPr lang="en-US" sz="2612">
                <a:solidFill>
                  <a:srgbClr val="FFFFFF"/>
                </a:solidFill>
                <a:latin typeface="Poppins"/>
                <a:ea typeface="Poppins"/>
                <a:cs typeface="Poppins"/>
                <a:sym typeface="Poppins"/>
              </a:rPr>
              <a:t>derate </a:t>
            </a:r>
            <a:r>
              <a:rPr lang="en-US" sz="2612">
                <a:solidFill>
                  <a:srgbClr val="FFFFFF"/>
                </a:solidFill>
                <a:latin typeface="Poppins"/>
                <a:ea typeface="Poppins"/>
                <a:cs typeface="Poppins"/>
                <a:sym typeface="Poppins"/>
              </a:rPr>
              <a:t>Ri</a:t>
            </a:r>
            <a:r>
              <a:rPr lang="en-US" sz="2612">
                <a:solidFill>
                  <a:srgbClr val="FFFFFF"/>
                </a:solidFill>
                <a:latin typeface="Poppins"/>
                <a:ea typeface="Poppins"/>
                <a:cs typeface="Poppins"/>
                <a:sym typeface="Poppins"/>
              </a:rPr>
              <a:t>s</a:t>
            </a:r>
            <a:r>
              <a:rPr lang="en-US" sz="2612">
                <a:solidFill>
                  <a:srgbClr val="FFFFFF"/>
                </a:solidFill>
                <a:latin typeface="Poppins"/>
                <a:ea typeface="Poppins"/>
                <a:cs typeface="Poppins"/>
                <a:sym typeface="Poppins"/>
              </a:rPr>
              <a:t>k</a:t>
            </a:r>
            <a:r>
              <a:rPr lang="en-US" sz="2612">
                <a:solidFill>
                  <a:srgbClr val="FFFFFF"/>
                </a:solidFill>
                <a:latin typeface="Poppins"/>
                <a:ea typeface="Poppins"/>
                <a:cs typeface="Poppins"/>
                <a:sym typeface="Poppins"/>
              </a:rPr>
              <a:t>, or </a:t>
            </a:r>
            <a:r>
              <a:rPr lang="en-US" sz="2612">
                <a:solidFill>
                  <a:srgbClr val="FFFFFF"/>
                </a:solidFill>
                <a:latin typeface="Poppins"/>
                <a:ea typeface="Poppins"/>
                <a:cs typeface="Poppins"/>
                <a:sym typeface="Poppins"/>
              </a:rPr>
              <a:t>N</a:t>
            </a:r>
            <a:r>
              <a:rPr lang="en-US" sz="2612">
                <a:solidFill>
                  <a:srgbClr val="FFFFFF"/>
                </a:solidFill>
                <a:latin typeface="Poppins"/>
                <a:ea typeface="Poppins"/>
                <a:cs typeface="Poppins"/>
                <a:sym typeface="Poppins"/>
              </a:rPr>
              <a:t>o </a:t>
            </a:r>
            <a:r>
              <a:rPr lang="en-US" sz="2612">
                <a:solidFill>
                  <a:srgbClr val="FFFFFF"/>
                </a:solidFill>
                <a:latin typeface="Poppins"/>
                <a:ea typeface="Poppins"/>
                <a:cs typeface="Poppins"/>
                <a:sym typeface="Poppins"/>
              </a:rPr>
              <a:t>R</a:t>
            </a:r>
            <a:r>
              <a:rPr lang="en-US" sz="2612">
                <a:solidFill>
                  <a:srgbClr val="FFFFFF"/>
                </a:solidFill>
                <a:latin typeface="Poppins"/>
                <a:ea typeface="Poppins"/>
                <a:cs typeface="Poppins"/>
                <a:sym typeface="Poppins"/>
              </a:rPr>
              <a:t>is</a:t>
            </a:r>
            <a:r>
              <a:rPr lang="en-US" sz="2612">
                <a:solidFill>
                  <a:srgbClr val="FFFFFF"/>
                </a:solidFill>
                <a:latin typeface="Poppins"/>
                <a:ea typeface="Poppins"/>
                <a:cs typeface="Poppins"/>
                <a:sym typeface="Poppins"/>
              </a:rPr>
              <a:t>k g</a:t>
            </a:r>
            <a:r>
              <a:rPr lang="en-US" sz="2612">
                <a:solidFill>
                  <a:srgbClr val="FFFFFF"/>
                </a:solidFill>
                <a:latin typeface="Poppins"/>
                <a:ea typeface="Poppins"/>
                <a:cs typeface="Poppins"/>
                <a:sym typeface="Poppins"/>
              </a:rPr>
              <a:t>r</a:t>
            </a:r>
            <a:r>
              <a:rPr lang="en-US" sz="2612">
                <a:solidFill>
                  <a:srgbClr val="FFFFFF"/>
                </a:solidFill>
                <a:latin typeface="Poppins"/>
                <a:ea typeface="Poppins"/>
                <a:cs typeface="Poppins"/>
                <a:sym typeface="Poppins"/>
              </a:rPr>
              <a:t>oup</a:t>
            </a:r>
            <a:r>
              <a:rPr lang="en-US" sz="2612">
                <a:solidFill>
                  <a:srgbClr val="FFFFFF"/>
                </a:solidFill>
                <a:latin typeface="Poppins"/>
                <a:ea typeface="Poppins"/>
                <a:cs typeface="Poppins"/>
                <a:sym typeface="Poppins"/>
              </a:rPr>
              <a:t>s.</a:t>
            </a:r>
          </a:p>
          <a:p>
            <a:pPr algn="l">
              <a:lnSpc>
                <a:spcPts val="3656"/>
              </a:lnSpc>
            </a:pPr>
          </a:p>
          <a:p>
            <a:pPr algn="l" marL="0" indent="0" lvl="0">
              <a:lnSpc>
                <a:spcPts val="3656"/>
              </a:lnSpc>
            </a:pP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350039" y="7169723"/>
            <a:ext cx="2170209" cy="2242743"/>
          </a:xfrm>
          <a:custGeom>
            <a:avLst/>
            <a:gdLst/>
            <a:ahLst/>
            <a:cxnLst/>
            <a:rect r="r" b="b" t="t" l="l"/>
            <a:pathLst>
              <a:path h="2242743" w="2170209">
                <a:moveTo>
                  <a:pt x="0" y="0"/>
                </a:moveTo>
                <a:lnTo>
                  <a:pt x="2170209" y="0"/>
                </a:lnTo>
                <a:lnTo>
                  <a:pt x="2170209" y="2242743"/>
                </a:lnTo>
                <a:lnTo>
                  <a:pt x="0" y="2242743"/>
                </a:lnTo>
                <a:lnTo>
                  <a:pt x="0" y="0"/>
                </a:lnTo>
                <a:close/>
              </a:path>
            </a:pathLst>
          </a:custGeom>
          <a:blipFill>
            <a:blip r:embed="rId2"/>
            <a:stretch>
              <a:fillRect l="0" t="0" r="0" b="0"/>
            </a:stretch>
          </a:blipFill>
        </p:spPr>
      </p:sp>
      <p:sp>
        <p:nvSpPr>
          <p:cNvPr name="Freeform 3" id="3"/>
          <p:cNvSpPr/>
          <p:nvPr/>
        </p:nvSpPr>
        <p:spPr>
          <a:xfrm flipH="false" flipV="false" rot="0">
            <a:off x="2739915" y="3436035"/>
            <a:ext cx="13418556" cy="6791332"/>
          </a:xfrm>
          <a:custGeom>
            <a:avLst/>
            <a:gdLst/>
            <a:ahLst/>
            <a:cxnLst/>
            <a:rect r="r" b="b" t="t" l="l"/>
            <a:pathLst>
              <a:path h="6791332" w="13418556">
                <a:moveTo>
                  <a:pt x="0" y="0"/>
                </a:moveTo>
                <a:lnTo>
                  <a:pt x="13418556" y="0"/>
                </a:lnTo>
                <a:lnTo>
                  <a:pt x="13418556" y="6791332"/>
                </a:lnTo>
                <a:lnTo>
                  <a:pt x="0" y="6791332"/>
                </a:lnTo>
                <a:lnTo>
                  <a:pt x="0" y="0"/>
                </a:lnTo>
                <a:close/>
              </a:path>
            </a:pathLst>
          </a:custGeom>
          <a:blipFill>
            <a:blip r:embed="rId3"/>
            <a:stretch>
              <a:fillRect l="0" t="-1077" r="0" b="-4539"/>
            </a:stretch>
          </a:blipFill>
        </p:spPr>
      </p:sp>
      <p:sp>
        <p:nvSpPr>
          <p:cNvPr name="TextBox 4" id="4"/>
          <p:cNvSpPr txBox="true"/>
          <p:nvPr/>
        </p:nvSpPr>
        <p:spPr>
          <a:xfrm rot="0">
            <a:off x="3292855" y="-133350"/>
            <a:ext cx="9416369" cy="1193925"/>
          </a:xfrm>
          <a:prstGeom prst="rect">
            <a:avLst/>
          </a:prstGeom>
        </p:spPr>
        <p:txBody>
          <a:bodyPr anchor="t" rtlCol="false" tIns="0" lIns="0" bIns="0" rIns="0">
            <a:spAutoFit/>
          </a:bodyPr>
          <a:lstStyle/>
          <a:p>
            <a:pPr algn="l"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Tableau Dashboard</a:t>
            </a:r>
          </a:p>
        </p:txBody>
      </p:sp>
      <p:sp>
        <p:nvSpPr>
          <p:cNvPr name="TextBox 5" id="5"/>
          <p:cNvSpPr txBox="true"/>
          <p:nvPr/>
        </p:nvSpPr>
        <p:spPr>
          <a:xfrm rot="0">
            <a:off x="2739915" y="1505658"/>
            <a:ext cx="12487776" cy="1930377"/>
          </a:xfrm>
          <a:prstGeom prst="rect">
            <a:avLst/>
          </a:prstGeom>
        </p:spPr>
        <p:txBody>
          <a:bodyPr anchor="t" rtlCol="false" tIns="0" lIns="0" bIns="0" rIns="0">
            <a:spAutoFit/>
          </a:bodyPr>
          <a:lstStyle/>
          <a:p>
            <a:pPr algn="just" marL="0" indent="0" lvl="0">
              <a:lnSpc>
                <a:spcPts val="3060"/>
              </a:lnSpc>
              <a:spcBef>
                <a:spcPct val="0"/>
              </a:spcBef>
            </a:pPr>
            <a:r>
              <a:rPr lang="en-US" sz="2185">
                <a:solidFill>
                  <a:srgbClr val="FFFFFF"/>
                </a:solidFill>
                <a:latin typeface="Poppins"/>
                <a:ea typeface="Poppins"/>
                <a:cs typeface="Poppins"/>
                <a:sym typeface="Poppins"/>
              </a:rPr>
              <a:t>Th</a:t>
            </a:r>
            <a:r>
              <a:rPr lang="en-US" sz="2185">
                <a:solidFill>
                  <a:srgbClr val="FFFFFF"/>
                </a:solidFill>
                <a:latin typeface="Poppins"/>
                <a:ea typeface="Poppins"/>
                <a:cs typeface="Poppins"/>
                <a:sym typeface="Poppins"/>
              </a:rPr>
              <a:t>is dashboard provides an overview of player demographics, gaming behavior, and spending patterns. It analyzes player distribution by age and gender, identifies the most played games and genres, and examines the relationship between gaming hours and productivity.</a:t>
            </a:r>
          </a:p>
          <a:p>
            <a:pPr algn="just" marL="0" indent="0" lvl="0">
              <a:lnSpc>
                <a:spcPts val="3060"/>
              </a:lnSpc>
              <a:spcBef>
                <a:spcPct val="0"/>
              </a:spcBef>
            </a:pP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350039" y="7169723"/>
            <a:ext cx="2170209" cy="2242743"/>
          </a:xfrm>
          <a:custGeom>
            <a:avLst/>
            <a:gdLst/>
            <a:ahLst/>
            <a:cxnLst/>
            <a:rect r="r" b="b" t="t" l="l"/>
            <a:pathLst>
              <a:path h="2242743" w="2170209">
                <a:moveTo>
                  <a:pt x="0" y="0"/>
                </a:moveTo>
                <a:lnTo>
                  <a:pt x="2170209" y="0"/>
                </a:lnTo>
                <a:lnTo>
                  <a:pt x="2170209" y="2242743"/>
                </a:lnTo>
                <a:lnTo>
                  <a:pt x="0" y="2242743"/>
                </a:lnTo>
                <a:lnTo>
                  <a:pt x="0" y="0"/>
                </a:lnTo>
                <a:close/>
              </a:path>
            </a:pathLst>
          </a:custGeom>
          <a:blipFill>
            <a:blip r:embed="rId2"/>
            <a:stretch>
              <a:fillRect l="0" t="0" r="0" b="0"/>
            </a:stretch>
          </a:blipFill>
        </p:spPr>
      </p:sp>
      <p:sp>
        <p:nvSpPr>
          <p:cNvPr name="Freeform 3" id="3"/>
          <p:cNvSpPr/>
          <p:nvPr/>
        </p:nvSpPr>
        <p:spPr>
          <a:xfrm flipH="false" flipV="false" rot="0">
            <a:off x="1413796" y="3415172"/>
            <a:ext cx="13140345" cy="6846385"/>
          </a:xfrm>
          <a:custGeom>
            <a:avLst/>
            <a:gdLst/>
            <a:ahLst/>
            <a:cxnLst/>
            <a:rect r="r" b="b" t="t" l="l"/>
            <a:pathLst>
              <a:path h="6846385" w="13140345">
                <a:moveTo>
                  <a:pt x="0" y="0"/>
                </a:moveTo>
                <a:lnTo>
                  <a:pt x="13140345" y="0"/>
                </a:lnTo>
                <a:lnTo>
                  <a:pt x="13140345" y="6846385"/>
                </a:lnTo>
                <a:lnTo>
                  <a:pt x="0" y="6846385"/>
                </a:lnTo>
                <a:lnTo>
                  <a:pt x="0" y="0"/>
                </a:lnTo>
                <a:close/>
              </a:path>
            </a:pathLst>
          </a:custGeom>
          <a:blipFill>
            <a:blip r:embed="rId3"/>
            <a:stretch>
              <a:fillRect l="-8" t="0" r="-8" b="-2263"/>
            </a:stretch>
          </a:blipFill>
        </p:spPr>
      </p:sp>
      <p:sp>
        <p:nvSpPr>
          <p:cNvPr name="TextBox 4" id="4"/>
          <p:cNvSpPr txBox="true"/>
          <p:nvPr/>
        </p:nvSpPr>
        <p:spPr>
          <a:xfrm rot="0">
            <a:off x="2407605" y="122983"/>
            <a:ext cx="9416369" cy="1193925"/>
          </a:xfrm>
          <a:prstGeom prst="rect">
            <a:avLst/>
          </a:prstGeom>
        </p:spPr>
        <p:txBody>
          <a:bodyPr anchor="t" rtlCol="false" tIns="0" lIns="0" bIns="0" rIns="0">
            <a:spAutoFit/>
          </a:bodyPr>
          <a:lstStyle/>
          <a:p>
            <a:pPr algn="l"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Tableau Dashboard</a:t>
            </a:r>
          </a:p>
        </p:txBody>
      </p:sp>
      <p:sp>
        <p:nvSpPr>
          <p:cNvPr name="TextBox 5" id="5"/>
          <p:cNvSpPr txBox="true"/>
          <p:nvPr/>
        </p:nvSpPr>
        <p:spPr>
          <a:xfrm rot="0">
            <a:off x="1740081" y="1868639"/>
            <a:ext cx="12487776" cy="1546533"/>
          </a:xfrm>
          <a:prstGeom prst="rect">
            <a:avLst/>
          </a:prstGeom>
        </p:spPr>
        <p:txBody>
          <a:bodyPr anchor="t" rtlCol="false" tIns="0" lIns="0" bIns="0" rIns="0">
            <a:spAutoFit/>
          </a:bodyPr>
          <a:lstStyle/>
          <a:p>
            <a:pPr algn="just" marL="0" indent="0" lvl="0">
              <a:lnSpc>
                <a:spcPts val="3060"/>
              </a:lnSpc>
              <a:spcBef>
                <a:spcPct val="0"/>
              </a:spcBef>
            </a:pPr>
            <a:r>
              <a:rPr lang="en-US" sz="2185">
                <a:solidFill>
                  <a:srgbClr val="FFFFFF"/>
                </a:solidFill>
                <a:latin typeface="Poppins"/>
                <a:ea typeface="Poppins"/>
                <a:cs typeface="Poppins"/>
                <a:sym typeface="Poppins"/>
              </a:rPr>
              <a:t>This d</a:t>
            </a:r>
            <a:r>
              <a:rPr lang="en-US" sz="2185">
                <a:solidFill>
                  <a:srgbClr val="FFFFFF"/>
                </a:solidFill>
                <a:latin typeface="Poppins"/>
                <a:ea typeface="Poppins"/>
                <a:cs typeface="Poppins"/>
                <a:sym typeface="Poppins"/>
              </a:rPr>
              <a:t>ashboard focuses on gaming addiction and its impact on players' behavior. It measures addiction risk levels, social interaction, spending habits, and shows how increased addiction is associated with more gaming hours and less physical activity.</a:t>
            </a:r>
          </a:p>
          <a:p>
            <a:pPr algn="just" marL="0" indent="0" lvl="0">
              <a:lnSpc>
                <a:spcPts val="3060"/>
              </a:lnSpc>
              <a:spcBef>
                <a:spcPct val="0"/>
              </a:spcBef>
            </a:pPr>
          </a:p>
        </p:txBody>
      </p:sp>
      <p:grpSp>
        <p:nvGrpSpPr>
          <p:cNvPr name="Group 6" id="6"/>
          <p:cNvGrpSpPr/>
          <p:nvPr/>
        </p:nvGrpSpPr>
        <p:grpSpPr>
          <a:xfrm rot="0">
            <a:off x="0" y="0"/>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540206" y="7519921"/>
            <a:ext cx="2170209" cy="2242743"/>
          </a:xfrm>
          <a:custGeom>
            <a:avLst/>
            <a:gdLst/>
            <a:ahLst/>
            <a:cxnLst/>
            <a:rect r="r" b="b" t="t" l="l"/>
            <a:pathLst>
              <a:path h="2242743" w="2170209">
                <a:moveTo>
                  <a:pt x="0" y="0"/>
                </a:moveTo>
                <a:lnTo>
                  <a:pt x="2170209" y="0"/>
                </a:lnTo>
                <a:lnTo>
                  <a:pt x="2170209" y="2242743"/>
                </a:lnTo>
                <a:lnTo>
                  <a:pt x="0" y="2242743"/>
                </a:lnTo>
                <a:lnTo>
                  <a:pt x="0" y="0"/>
                </a:lnTo>
                <a:close/>
              </a:path>
            </a:pathLst>
          </a:custGeom>
          <a:blipFill>
            <a:blip r:embed="rId2"/>
            <a:stretch>
              <a:fillRect l="0" t="0" r="0" b="0"/>
            </a:stretch>
          </a:blipFill>
        </p:spPr>
      </p:sp>
      <p:sp>
        <p:nvSpPr>
          <p:cNvPr name="Freeform 3" id="3"/>
          <p:cNvSpPr/>
          <p:nvPr/>
        </p:nvSpPr>
        <p:spPr>
          <a:xfrm flipH="false" flipV="false" rot="0">
            <a:off x="2010926" y="3257091"/>
            <a:ext cx="13084230" cy="6922831"/>
          </a:xfrm>
          <a:custGeom>
            <a:avLst/>
            <a:gdLst/>
            <a:ahLst/>
            <a:cxnLst/>
            <a:rect r="r" b="b" t="t" l="l"/>
            <a:pathLst>
              <a:path h="6922831" w="13084230">
                <a:moveTo>
                  <a:pt x="0" y="0"/>
                </a:moveTo>
                <a:lnTo>
                  <a:pt x="13084230" y="0"/>
                </a:lnTo>
                <a:lnTo>
                  <a:pt x="13084230" y="6922831"/>
                </a:lnTo>
                <a:lnTo>
                  <a:pt x="0" y="6922831"/>
                </a:lnTo>
                <a:lnTo>
                  <a:pt x="0" y="0"/>
                </a:lnTo>
                <a:close/>
              </a:path>
            </a:pathLst>
          </a:custGeom>
          <a:blipFill>
            <a:blip r:embed="rId3"/>
            <a:stretch>
              <a:fillRect l="-744" t="0" r="-744" b="-2533"/>
            </a:stretch>
          </a:blipFill>
        </p:spPr>
      </p:sp>
      <p:sp>
        <p:nvSpPr>
          <p:cNvPr name="TextBox 4" id="4"/>
          <p:cNvSpPr txBox="true"/>
          <p:nvPr/>
        </p:nvSpPr>
        <p:spPr>
          <a:xfrm rot="0">
            <a:off x="2035560" y="473181"/>
            <a:ext cx="9416369" cy="1193925"/>
          </a:xfrm>
          <a:prstGeom prst="rect">
            <a:avLst/>
          </a:prstGeom>
        </p:spPr>
        <p:txBody>
          <a:bodyPr anchor="t" rtlCol="false" tIns="0" lIns="0" bIns="0" rIns="0">
            <a:spAutoFit/>
          </a:bodyPr>
          <a:lstStyle/>
          <a:p>
            <a:pPr algn="l"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Tableau Dashboard</a:t>
            </a:r>
          </a:p>
        </p:txBody>
      </p:sp>
      <p:sp>
        <p:nvSpPr>
          <p:cNvPr name="TextBox 5" id="5"/>
          <p:cNvSpPr txBox="true"/>
          <p:nvPr/>
        </p:nvSpPr>
        <p:spPr>
          <a:xfrm rot="0">
            <a:off x="2144997" y="1846752"/>
            <a:ext cx="12487776" cy="1162689"/>
          </a:xfrm>
          <a:prstGeom prst="rect">
            <a:avLst/>
          </a:prstGeom>
        </p:spPr>
        <p:txBody>
          <a:bodyPr anchor="t" rtlCol="false" tIns="0" lIns="0" bIns="0" rIns="0">
            <a:spAutoFit/>
          </a:bodyPr>
          <a:lstStyle/>
          <a:p>
            <a:pPr algn="just" marL="0" indent="0" lvl="0">
              <a:lnSpc>
                <a:spcPts val="3060"/>
              </a:lnSpc>
              <a:spcBef>
                <a:spcPct val="0"/>
              </a:spcBef>
            </a:pPr>
            <a:r>
              <a:rPr lang="en-US" sz="2185">
                <a:solidFill>
                  <a:srgbClr val="FFFFFF"/>
                </a:solidFill>
                <a:latin typeface="Poppins"/>
                <a:ea typeface="Poppins"/>
                <a:cs typeface="Poppins"/>
                <a:sym typeface="Poppins"/>
              </a:rPr>
              <a:t>Th</a:t>
            </a:r>
            <a:r>
              <a:rPr lang="en-US" sz="2185">
                <a:solidFill>
                  <a:srgbClr val="FFFFFF"/>
                </a:solidFill>
                <a:latin typeface="Poppins"/>
                <a:ea typeface="Poppins"/>
                <a:cs typeface="Poppins"/>
                <a:sym typeface="Poppins"/>
              </a:rPr>
              <a:t>is dashboard analyzes the physical and mental health effects of gaming. It examines sleep quality, exercise habits, mood states, physical pain, and highlights the health risks associated with excessive gaming and prolonged playing sessions.</a:t>
            </a: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350039" y="7169723"/>
            <a:ext cx="2170209" cy="2242743"/>
          </a:xfrm>
          <a:custGeom>
            <a:avLst/>
            <a:gdLst/>
            <a:ahLst/>
            <a:cxnLst/>
            <a:rect r="r" b="b" t="t" l="l"/>
            <a:pathLst>
              <a:path h="2242743" w="2170209">
                <a:moveTo>
                  <a:pt x="0" y="0"/>
                </a:moveTo>
                <a:lnTo>
                  <a:pt x="2170209" y="0"/>
                </a:lnTo>
                <a:lnTo>
                  <a:pt x="2170209" y="2242743"/>
                </a:lnTo>
                <a:lnTo>
                  <a:pt x="0" y="2242743"/>
                </a:lnTo>
                <a:lnTo>
                  <a:pt x="0" y="0"/>
                </a:lnTo>
                <a:close/>
              </a:path>
            </a:pathLst>
          </a:custGeom>
          <a:blipFill>
            <a:blip r:embed="rId2"/>
            <a:stretch>
              <a:fillRect l="0" t="0" r="0" b="0"/>
            </a:stretch>
          </a:blipFill>
        </p:spPr>
      </p:sp>
      <p:sp>
        <p:nvSpPr>
          <p:cNvPr name="Freeform 3" id="3"/>
          <p:cNvSpPr/>
          <p:nvPr/>
        </p:nvSpPr>
        <p:spPr>
          <a:xfrm flipH="false" flipV="false" rot="0">
            <a:off x="2604632" y="3164392"/>
            <a:ext cx="12597213" cy="6795259"/>
          </a:xfrm>
          <a:custGeom>
            <a:avLst/>
            <a:gdLst/>
            <a:ahLst/>
            <a:cxnLst/>
            <a:rect r="r" b="b" t="t" l="l"/>
            <a:pathLst>
              <a:path h="6795259" w="12597213">
                <a:moveTo>
                  <a:pt x="0" y="0"/>
                </a:moveTo>
                <a:lnTo>
                  <a:pt x="12597213" y="0"/>
                </a:lnTo>
                <a:lnTo>
                  <a:pt x="12597213" y="6795259"/>
                </a:lnTo>
                <a:lnTo>
                  <a:pt x="0" y="6795259"/>
                </a:lnTo>
                <a:lnTo>
                  <a:pt x="0" y="0"/>
                </a:lnTo>
                <a:close/>
              </a:path>
            </a:pathLst>
          </a:custGeom>
          <a:blipFill>
            <a:blip r:embed="rId3"/>
            <a:stretch>
              <a:fillRect l="0" t="0" r="0" b="0"/>
            </a:stretch>
          </a:blipFill>
        </p:spPr>
      </p:sp>
      <p:sp>
        <p:nvSpPr>
          <p:cNvPr name="TextBox 4" id="4"/>
          <p:cNvSpPr txBox="true"/>
          <p:nvPr/>
        </p:nvSpPr>
        <p:spPr>
          <a:xfrm rot="0">
            <a:off x="2801619" y="166758"/>
            <a:ext cx="9416369" cy="1193925"/>
          </a:xfrm>
          <a:prstGeom prst="rect">
            <a:avLst/>
          </a:prstGeom>
        </p:spPr>
        <p:txBody>
          <a:bodyPr anchor="t" rtlCol="false" tIns="0" lIns="0" bIns="0" rIns="0">
            <a:spAutoFit/>
          </a:bodyPr>
          <a:lstStyle/>
          <a:p>
            <a:pPr algn="l"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Tableau Story</a:t>
            </a:r>
          </a:p>
        </p:txBody>
      </p:sp>
      <p:sp>
        <p:nvSpPr>
          <p:cNvPr name="TextBox 5" id="5"/>
          <p:cNvSpPr txBox="true"/>
          <p:nvPr/>
        </p:nvSpPr>
        <p:spPr>
          <a:xfrm rot="0">
            <a:off x="2714069" y="1839777"/>
            <a:ext cx="12487776" cy="778845"/>
          </a:xfrm>
          <a:prstGeom prst="rect">
            <a:avLst/>
          </a:prstGeom>
        </p:spPr>
        <p:txBody>
          <a:bodyPr anchor="t" rtlCol="false" tIns="0" lIns="0" bIns="0" rIns="0">
            <a:spAutoFit/>
          </a:bodyPr>
          <a:lstStyle/>
          <a:p>
            <a:pPr algn="just" marL="0" indent="0" lvl="0">
              <a:lnSpc>
                <a:spcPts val="3060"/>
              </a:lnSpc>
              <a:spcBef>
                <a:spcPct val="0"/>
              </a:spcBef>
            </a:pPr>
            <a:r>
              <a:rPr lang="en-US" sz="2185">
                <a:solidFill>
                  <a:srgbClr val="FFFFFF"/>
                </a:solidFill>
                <a:latin typeface="Poppins"/>
                <a:ea typeface="Poppins"/>
                <a:cs typeface="Poppins"/>
                <a:sym typeface="Poppins"/>
              </a:rPr>
              <a:t>We start by meeting the players. Who they are, how old, and how many hours they give to gaming every day</a:t>
            </a:r>
          </a:p>
        </p:txBody>
      </p:sp>
      <p:grpSp>
        <p:nvGrpSpPr>
          <p:cNvPr name="Group 6" id="6"/>
          <p:cNvGrpSpPr/>
          <p:nvPr/>
        </p:nvGrpSpPr>
        <p:grpSpPr>
          <a:xfrm rot="0">
            <a:off x="-43775" y="18300"/>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350039" y="7169723"/>
            <a:ext cx="2170209" cy="2242743"/>
          </a:xfrm>
          <a:custGeom>
            <a:avLst/>
            <a:gdLst/>
            <a:ahLst/>
            <a:cxnLst/>
            <a:rect r="r" b="b" t="t" l="l"/>
            <a:pathLst>
              <a:path h="2242743" w="2170209">
                <a:moveTo>
                  <a:pt x="0" y="0"/>
                </a:moveTo>
                <a:lnTo>
                  <a:pt x="2170209" y="0"/>
                </a:lnTo>
                <a:lnTo>
                  <a:pt x="2170209" y="2242743"/>
                </a:lnTo>
                <a:lnTo>
                  <a:pt x="0" y="2242743"/>
                </a:lnTo>
                <a:lnTo>
                  <a:pt x="0" y="0"/>
                </a:lnTo>
                <a:close/>
              </a:path>
            </a:pathLst>
          </a:custGeom>
          <a:blipFill>
            <a:blip r:embed="rId2"/>
            <a:stretch>
              <a:fillRect l="0" t="0" r="0" b="0"/>
            </a:stretch>
          </a:blipFill>
        </p:spPr>
      </p:sp>
      <p:sp>
        <p:nvSpPr>
          <p:cNvPr name="Freeform 3" id="3"/>
          <p:cNvSpPr/>
          <p:nvPr/>
        </p:nvSpPr>
        <p:spPr>
          <a:xfrm flipH="false" flipV="false" rot="0">
            <a:off x="2435144" y="3186279"/>
            <a:ext cx="12597213" cy="6795259"/>
          </a:xfrm>
          <a:custGeom>
            <a:avLst/>
            <a:gdLst/>
            <a:ahLst/>
            <a:cxnLst/>
            <a:rect r="r" b="b" t="t" l="l"/>
            <a:pathLst>
              <a:path h="6795259" w="12597213">
                <a:moveTo>
                  <a:pt x="0" y="0"/>
                </a:moveTo>
                <a:lnTo>
                  <a:pt x="12597213" y="0"/>
                </a:lnTo>
                <a:lnTo>
                  <a:pt x="12597213" y="6795259"/>
                </a:lnTo>
                <a:lnTo>
                  <a:pt x="0" y="6795259"/>
                </a:lnTo>
                <a:lnTo>
                  <a:pt x="0" y="0"/>
                </a:lnTo>
                <a:close/>
              </a:path>
            </a:pathLst>
          </a:custGeom>
          <a:blipFill>
            <a:blip r:embed="rId3"/>
            <a:stretch>
              <a:fillRect l="-115" t="0" r="-115" b="0"/>
            </a:stretch>
          </a:blipFill>
        </p:spPr>
      </p:sp>
      <p:sp>
        <p:nvSpPr>
          <p:cNvPr name="TextBox 4" id="4"/>
          <p:cNvSpPr txBox="true"/>
          <p:nvPr/>
        </p:nvSpPr>
        <p:spPr>
          <a:xfrm rot="0">
            <a:off x="2435144" y="604506"/>
            <a:ext cx="9416369" cy="1193925"/>
          </a:xfrm>
          <a:prstGeom prst="rect">
            <a:avLst/>
          </a:prstGeom>
        </p:spPr>
        <p:txBody>
          <a:bodyPr anchor="t" rtlCol="false" tIns="0" lIns="0" bIns="0" rIns="0">
            <a:spAutoFit/>
          </a:bodyPr>
          <a:lstStyle/>
          <a:p>
            <a:pPr algn="l"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Tableau Story</a:t>
            </a:r>
          </a:p>
        </p:txBody>
      </p:sp>
      <p:sp>
        <p:nvSpPr>
          <p:cNvPr name="TextBox 5" id="5"/>
          <p:cNvSpPr txBox="true"/>
          <p:nvPr/>
        </p:nvSpPr>
        <p:spPr>
          <a:xfrm rot="0">
            <a:off x="2544581" y="1978076"/>
            <a:ext cx="12487776" cy="778845"/>
          </a:xfrm>
          <a:prstGeom prst="rect">
            <a:avLst/>
          </a:prstGeom>
        </p:spPr>
        <p:txBody>
          <a:bodyPr anchor="t" rtlCol="false" tIns="0" lIns="0" bIns="0" rIns="0">
            <a:spAutoFit/>
          </a:bodyPr>
          <a:lstStyle/>
          <a:p>
            <a:pPr algn="just" marL="0" indent="0" lvl="0">
              <a:lnSpc>
                <a:spcPts val="3060"/>
              </a:lnSpc>
              <a:spcBef>
                <a:spcPct val="0"/>
              </a:spcBef>
            </a:pPr>
            <a:r>
              <a:rPr lang="en-US" sz="2185">
                <a:solidFill>
                  <a:srgbClr val="FFFFFF"/>
                </a:solidFill>
                <a:latin typeface="Poppins"/>
                <a:ea typeface="Poppins"/>
                <a:cs typeface="Poppins"/>
                <a:sym typeface="Poppins"/>
              </a:rPr>
              <a:t>We follow the money. Every extra hour spent gaming comes with a financial price — and your mood decides how high that price gets.</a:t>
            </a: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350039" y="7169723"/>
            <a:ext cx="2170209" cy="2242743"/>
          </a:xfrm>
          <a:custGeom>
            <a:avLst/>
            <a:gdLst/>
            <a:ahLst/>
            <a:cxnLst/>
            <a:rect r="r" b="b" t="t" l="l"/>
            <a:pathLst>
              <a:path h="2242743" w="2170209">
                <a:moveTo>
                  <a:pt x="0" y="0"/>
                </a:moveTo>
                <a:lnTo>
                  <a:pt x="2170209" y="0"/>
                </a:lnTo>
                <a:lnTo>
                  <a:pt x="2170209" y="2242743"/>
                </a:lnTo>
                <a:lnTo>
                  <a:pt x="0" y="2242743"/>
                </a:lnTo>
                <a:lnTo>
                  <a:pt x="0" y="0"/>
                </a:lnTo>
                <a:close/>
              </a:path>
            </a:pathLst>
          </a:custGeom>
          <a:blipFill>
            <a:blip r:embed="rId2"/>
            <a:stretch>
              <a:fillRect l="0" t="0" r="0" b="0"/>
            </a:stretch>
          </a:blipFill>
        </p:spPr>
      </p:sp>
      <p:sp>
        <p:nvSpPr>
          <p:cNvPr name="Freeform 3" id="3"/>
          <p:cNvSpPr/>
          <p:nvPr/>
        </p:nvSpPr>
        <p:spPr>
          <a:xfrm flipH="false" flipV="false" rot="0">
            <a:off x="2276322" y="3491741"/>
            <a:ext cx="12597213" cy="6795259"/>
          </a:xfrm>
          <a:custGeom>
            <a:avLst/>
            <a:gdLst/>
            <a:ahLst/>
            <a:cxnLst/>
            <a:rect r="r" b="b" t="t" l="l"/>
            <a:pathLst>
              <a:path h="6795259" w="12597213">
                <a:moveTo>
                  <a:pt x="0" y="0"/>
                </a:moveTo>
                <a:lnTo>
                  <a:pt x="12597213" y="0"/>
                </a:lnTo>
                <a:lnTo>
                  <a:pt x="12597213" y="6795259"/>
                </a:lnTo>
                <a:lnTo>
                  <a:pt x="0" y="6795259"/>
                </a:lnTo>
                <a:lnTo>
                  <a:pt x="0" y="0"/>
                </a:lnTo>
                <a:close/>
              </a:path>
            </a:pathLst>
          </a:custGeom>
          <a:blipFill>
            <a:blip r:embed="rId3"/>
            <a:stretch>
              <a:fillRect l="-285" t="0" r="-285" b="0"/>
            </a:stretch>
          </a:blipFill>
        </p:spPr>
      </p:sp>
      <p:sp>
        <p:nvSpPr>
          <p:cNvPr name="TextBox 4" id="4"/>
          <p:cNvSpPr txBox="true"/>
          <p:nvPr/>
        </p:nvSpPr>
        <p:spPr>
          <a:xfrm rot="0">
            <a:off x="2276322" y="895350"/>
            <a:ext cx="9416369" cy="1193925"/>
          </a:xfrm>
          <a:prstGeom prst="rect">
            <a:avLst/>
          </a:prstGeom>
        </p:spPr>
        <p:txBody>
          <a:bodyPr anchor="t" rtlCol="false" tIns="0" lIns="0" bIns="0" rIns="0">
            <a:spAutoFit/>
          </a:bodyPr>
          <a:lstStyle/>
          <a:p>
            <a:pPr algn="l"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Tableau Story</a:t>
            </a:r>
          </a:p>
        </p:txBody>
      </p:sp>
      <p:sp>
        <p:nvSpPr>
          <p:cNvPr name="TextBox 5" id="5"/>
          <p:cNvSpPr txBox="true"/>
          <p:nvPr/>
        </p:nvSpPr>
        <p:spPr>
          <a:xfrm rot="0">
            <a:off x="2385758" y="2268920"/>
            <a:ext cx="12487776" cy="778845"/>
          </a:xfrm>
          <a:prstGeom prst="rect">
            <a:avLst/>
          </a:prstGeom>
        </p:spPr>
        <p:txBody>
          <a:bodyPr anchor="t" rtlCol="false" tIns="0" lIns="0" bIns="0" rIns="0">
            <a:spAutoFit/>
          </a:bodyPr>
          <a:lstStyle/>
          <a:p>
            <a:pPr algn="just" marL="0" indent="0" lvl="0">
              <a:lnSpc>
                <a:spcPts val="3060"/>
              </a:lnSpc>
              <a:spcBef>
                <a:spcPct val="0"/>
              </a:spcBef>
            </a:pPr>
            <a:r>
              <a:rPr lang="en-US" sz="2185">
                <a:solidFill>
                  <a:srgbClr val="FFFFFF"/>
                </a:solidFill>
                <a:latin typeface="Poppins"/>
                <a:ea typeface="Poppins"/>
                <a:cs typeface="Poppins"/>
                <a:sym typeface="Poppins"/>
              </a:rPr>
              <a:t>We look at the body. Gaming doesn't just cost time and money — it takes sleep, physical health, and academic performance with it.</a:t>
            </a: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350039" y="7169723"/>
            <a:ext cx="2170209" cy="2242743"/>
          </a:xfrm>
          <a:custGeom>
            <a:avLst/>
            <a:gdLst/>
            <a:ahLst/>
            <a:cxnLst/>
            <a:rect r="r" b="b" t="t" l="l"/>
            <a:pathLst>
              <a:path h="2242743" w="2170209">
                <a:moveTo>
                  <a:pt x="0" y="0"/>
                </a:moveTo>
                <a:lnTo>
                  <a:pt x="2170209" y="0"/>
                </a:lnTo>
                <a:lnTo>
                  <a:pt x="2170209" y="2242743"/>
                </a:lnTo>
                <a:lnTo>
                  <a:pt x="0" y="2242743"/>
                </a:lnTo>
                <a:lnTo>
                  <a:pt x="0" y="0"/>
                </a:lnTo>
                <a:close/>
              </a:path>
            </a:pathLst>
          </a:custGeom>
          <a:blipFill>
            <a:blip r:embed="rId2"/>
            <a:stretch>
              <a:fillRect l="0" t="0" r="0" b="0"/>
            </a:stretch>
          </a:blipFill>
        </p:spPr>
      </p:sp>
      <p:sp>
        <p:nvSpPr>
          <p:cNvPr name="Freeform 3" id="3"/>
          <p:cNvSpPr/>
          <p:nvPr/>
        </p:nvSpPr>
        <p:spPr>
          <a:xfrm flipH="false" flipV="false" rot="0">
            <a:off x="2123110" y="3389574"/>
            <a:ext cx="12597213" cy="6795259"/>
          </a:xfrm>
          <a:custGeom>
            <a:avLst/>
            <a:gdLst/>
            <a:ahLst/>
            <a:cxnLst/>
            <a:rect r="r" b="b" t="t" l="l"/>
            <a:pathLst>
              <a:path h="6795259" w="12597213">
                <a:moveTo>
                  <a:pt x="0" y="0"/>
                </a:moveTo>
                <a:lnTo>
                  <a:pt x="12597213" y="0"/>
                </a:lnTo>
                <a:lnTo>
                  <a:pt x="12597213" y="6795259"/>
                </a:lnTo>
                <a:lnTo>
                  <a:pt x="0" y="6795259"/>
                </a:lnTo>
                <a:lnTo>
                  <a:pt x="0" y="0"/>
                </a:lnTo>
                <a:close/>
              </a:path>
            </a:pathLst>
          </a:custGeom>
          <a:blipFill>
            <a:blip r:embed="rId3"/>
            <a:stretch>
              <a:fillRect l="-115" t="0" r="-115" b="0"/>
            </a:stretch>
          </a:blipFill>
        </p:spPr>
      </p:sp>
      <p:sp>
        <p:nvSpPr>
          <p:cNvPr name="TextBox 4" id="4"/>
          <p:cNvSpPr txBox="true"/>
          <p:nvPr/>
        </p:nvSpPr>
        <p:spPr>
          <a:xfrm rot="0">
            <a:off x="2123110" y="895350"/>
            <a:ext cx="9416369" cy="1193925"/>
          </a:xfrm>
          <a:prstGeom prst="rect">
            <a:avLst/>
          </a:prstGeom>
        </p:spPr>
        <p:txBody>
          <a:bodyPr anchor="t" rtlCol="false" tIns="0" lIns="0" bIns="0" rIns="0">
            <a:spAutoFit/>
          </a:bodyPr>
          <a:lstStyle/>
          <a:p>
            <a:pPr algn="l"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Tableau Story</a:t>
            </a:r>
          </a:p>
        </p:txBody>
      </p:sp>
      <p:sp>
        <p:nvSpPr>
          <p:cNvPr name="TextBox 5" id="5"/>
          <p:cNvSpPr txBox="true"/>
          <p:nvPr/>
        </p:nvSpPr>
        <p:spPr>
          <a:xfrm rot="0">
            <a:off x="2232547" y="2268920"/>
            <a:ext cx="12487776" cy="778845"/>
          </a:xfrm>
          <a:prstGeom prst="rect">
            <a:avLst/>
          </a:prstGeom>
        </p:spPr>
        <p:txBody>
          <a:bodyPr anchor="t" rtlCol="false" tIns="0" lIns="0" bIns="0" rIns="0">
            <a:spAutoFit/>
          </a:bodyPr>
          <a:lstStyle/>
          <a:p>
            <a:pPr algn="just" marL="0" indent="0" lvl="0">
              <a:lnSpc>
                <a:spcPts val="3060"/>
              </a:lnSpc>
              <a:spcBef>
                <a:spcPct val="0"/>
              </a:spcBef>
            </a:pPr>
            <a:r>
              <a:rPr lang="en-US" sz="2185">
                <a:solidFill>
                  <a:srgbClr val="FFFFFF"/>
                </a:solidFill>
                <a:latin typeface="Poppins"/>
                <a:ea typeface="Poppins"/>
                <a:cs typeface="Poppins"/>
                <a:sym typeface="Poppins"/>
              </a:rPr>
              <a:t>We reach the breaking point. For 1 in 7 players, gaming is no longer a choice — and the data shows exactly what that looks like.</a:t>
            </a: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350039" y="7169723"/>
            <a:ext cx="2170209" cy="2242743"/>
          </a:xfrm>
          <a:custGeom>
            <a:avLst/>
            <a:gdLst/>
            <a:ahLst/>
            <a:cxnLst/>
            <a:rect r="r" b="b" t="t" l="l"/>
            <a:pathLst>
              <a:path h="2242743" w="2170209">
                <a:moveTo>
                  <a:pt x="0" y="0"/>
                </a:moveTo>
                <a:lnTo>
                  <a:pt x="2170209" y="0"/>
                </a:lnTo>
                <a:lnTo>
                  <a:pt x="2170209" y="2242743"/>
                </a:lnTo>
                <a:lnTo>
                  <a:pt x="0" y="2242743"/>
                </a:lnTo>
                <a:lnTo>
                  <a:pt x="0" y="0"/>
                </a:lnTo>
                <a:close/>
              </a:path>
            </a:pathLst>
          </a:custGeom>
          <a:blipFill>
            <a:blip r:embed="rId2"/>
            <a:stretch>
              <a:fillRect l="0" t="0" r="0" b="0"/>
            </a:stretch>
          </a:blipFill>
        </p:spPr>
      </p:sp>
      <p:sp>
        <p:nvSpPr>
          <p:cNvPr name="Freeform 3" id="3"/>
          <p:cNvSpPr/>
          <p:nvPr/>
        </p:nvSpPr>
        <p:spPr>
          <a:xfrm flipH="false" flipV="false" rot="0">
            <a:off x="2435144" y="3295716"/>
            <a:ext cx="12597213" cy="6795259"/>
          </a:xfrm>
          <a:custGeom>
            <a:avLst/>
            <a:gdLst/>
            <a:ahLst/>
            <a:cxnLst/>
            <a:rect r="r" b="b" t="t" l="l"/>
            <a:pathLst>
              <a:path h="6795259" w="12597213">
                <a:moveTo>
                  <a:pt x="0" y="0"/>
                </a:moveTo>
                <a:lnTo>
                  <a:pt x="12597213" y="0"/>
                </a:lnTo>
                <a:lnTo>
                  <a:pt x="12597213" y="6795259"/>
                </a:lnTo>
                <a:lnTo>
                  <a:pt x="0" y="6795259"/>
                </a:lnTo>
                <a:lnTo>
                  <a:pt x="0" y="0"/>
                </a:lnTo>
                <a:close/>
              </a:path>
            </a:pathLst>
          </a:custGeom>
          <a:blipFill>
            <a:blip r:embed="rId3"/>
            <a:stretch>
              <a:fillRect l="-115" t="0" r="-115" b="0"/>
            </a:stretch>
          </a:blipFill>
        </p:spPr>
      </p:sp>
      <p:sp>
        <p:nvSpPr>
          <p:cNvPr name="TextBox 4" id="4"/>
          <p:cNvSpPr txBox="true"/>
          <p:nvPr/>
        </p:nvSpPr>
        <p:spPr>
          <a:xfrm rot="0">
            <a:off x="2435144" y="713943"/>
            <a:ext cx="9416369" cy="1193925"/>
          </a:xfrm>
          <a:prstGeom prst="rect">
            <a:avLst/>
          </a:prstGeom>
        </p:spPr>
        <p:txBody>
          <a:bodyPr anchor="t" rtlCol="false" tIns="0" lIns="0" bIns="0" rIns="0">
            <a:spAutoFit/>
          </a:bodyPr>
          <a:lstStyle/>
          <a:p>
            <a:pPr algn="l" marL="0" indent="0" lvl="0">
              <a:lnSpc>
                <a:spcPts val="9793"/>
              </a:lnSpc>
              <a:spcBef>
                <a:spcPct val="0"/>
              </a:spcBef>
            </a:pPr>
            <a:r>
              <a:rPr lang="en-US" sz="6995" strike="noStrike" u="none">
                <a:solidFill>
                  <a:srgbClr val="FFFFFF"/>
                </a:solidFill>
                <a:latin typeface="Tex Gyre Termes"/>
                <a:ea typeface="Tex Gyre Termes"/>
                <a:cs typeface="Tex Gyre Termes"/>
                <a:sym typeface="Tex Gyre Termes"/>
              </a:rPr>
              <a:t>Tableau Story</a:t>
            </a:r>
          </a:p>
        </p:txBody>
      </p:sp>
      <p:sp>
        <p:nvSpPr>
          <p:cNvPr name="TextBox 5" id="5"/>
          <p:cNvSpPr txBox="true"/>
          <p:nvPr/>
        </p:nvSpPr>
        <p:spPr>
          <a:xfrm rot="0">
            <a:off x="2544581" y="2087513"/>
            <a:ext cx="12487776" cy="778845"/>
          </a:xfrm>
          <a:prstGeom prst="rect">
            <a:avLst/>
          </a:prstGeom>
        </p:spPr>
        <p:txBody>
          <a:bodyPr anchor="t" rtlCol="false" tIns="0" lIns="0" bIns="0" rIns="0">
            <a:spAutoFit/>
          </a:bodyPr>
          <a:lstStyle/>
          <a:p>
            <a:pPr algn="just" marL="0" indent="0" lvl="0">
              <a:lnSpc>
                <a:spcPts val="3060"/>
              </a:lnSpc>
              <a:spcBef>
                <a:spcPct val="0"/>
              </a:spcBef>
            </a:pPr>
            <a:r>
              <a:rPr lang="en-US" sz="2185">
                <a:solidFill>
                  <a:srgbClr val="FFFFFF"/>
                </a:solidFill>
                <a:latin typeface="Poppins"/>
                <a:ea typeface="Poppins"/>
                <a:cs typeface="Poppins"/>
                <a:sym typeface="Poppins"/>
              </a:rPr>
              <a:t>Point 5 — </a:t>
            </a:r>
            <a:r>
              <a:rPr lang="en-US" sz="2185">
                <a:solidFill>
                  <a:srgbClr val="FFFFFF"/>
                </a:solidFill>
                <a:latin typeface="Poppins"/>
                <a:ea typeface="Poppins"/>
                <a:cs typeface="Poppins"/>
                <a:sym typeface="Poppins"/>
              </a:rPr>
              <a:t>We end with the way out. The same data that revealed the problem gives us 4 clear, number-backed steps to fix it.</a:t>
            </a: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0" y="7247599"/>
            <a:ext cx="3729326" cy="3039401"/>
          </a:xfrm>
          <a:custGeom>
            <a:avLst/>
            <a:gdLst/>
            <a:ahLst/>
            <a:cxnLst/>
            <a:rect r="r" b="b" t="t" l="l"/>
            <a:pathLst>
              <a:path h="3039401" w="3729326">
                <a:moveTo>
                  <a:pt x="0" y="0"/>
                </a:moveTo>
                <a:lnTo>
                  <a:pt x="3729326" y="0"/>
                </a:lnTo>
                <a:lnTo>
                  <a:pt x="3729326" y="3039401"/>
                </a:lnTo>
                <a:lnTo>
                  <a:pt x="0" y="3039401"/>
                </a:lnTo>
                <a:lnTo>
                  <a:pt x="0" y="0"/>
                </a:lnTo>
                <a:close/>
              </a:path>
            </a:pathLst>
          </a:custGeom>
          <a:blipFill>
            <a:blip r:embed="rId2"/>
            <a:stretch>
              <a:fillRect l="0" t="0" r="0" b="0"/>
            </a:stretch>
          </a:blipFill>
        </p:spPr>
      </p:sp>
      <p:sp>
        <p:nvSpPr>
          <p:cNvPr name="TextBox 3" id="3"/>
          <p:cNvSpPr txBox="true"/>
          <p:nvPr/>
        </p:nvSpPr>
        <p:spPr>
          <a:xfrm rot="0">
            <a:off x="2889127" y="1429882"/>
            <a:ext cx="8836964" cy="919342"/>
          </a:xfrm>
          <a:prstGeom prst="rect">
            <a:avLst/>
          </a:prstGeom>
        </p:spPr>
        <p:txBody>
          <a:bodyPr anchor="t" rtlCol="false" tIns="0" lIns="0" bIns="0" rIns="0">
            <a:spAutoFit/>
          </a:bodyPr>
          <a:lstStyle/>
          <a:p>
            <a:pPr algn="l" marL="0" indent="0" lvl="0">
              <a:lnSpc>
                <a:spcPts val="6855"/>
              </a:lnSpc>
              <a:spcBef>
                <a:spcPct val="0"/>
              </a:spcBef>
            </a:pPr>
            <a:r>
              <a:rPr lang="en-US" sz="6995">
                <a:solidFill>
                  <a:srgbClr val="FFFFFF"/>
                </a:solidFill>
                <a:latin typeface="Tex Gyre Termes"/>
                <a:ea typeface="Tex Gyre Termes"/>
                <a:cs typeface="Tex Gyre Termes"/>
                <a:sym typeface="Tex Gyre Termes"/>
              </a:rPr>
              <a:t>Top 6 </a:t>
            </a:r>
            <a:r>
              <a:rPr lang="en-US" sz="6995" strike="noStrike" u="none">
                <a:solidFill>
                  <a:srgbClr val="FFFFFF"/>
                </a:solidFill>
                <a:latin typeface="Tex Gyre Termes"/>
                <a:ea typeface="Tex Gyre Termes"/>
                <a:cs typeface="Tex Gyre Termes"/>
                <a:sym typeface="Tex Gyre Termes"/>
              </a:rPr>
              <a:t>Key Insights</a:t>
            </a:r>
          </a:p>
        </p:txBody>
      </p:sp>
      <p:sp>
        <p:nvSpPr>
          <p:cNvPr name="TextBox 4" id="4"/>
          <p:cNvSpPr txBox="true"/>
          <p:nvPr/>
        </p:nvSpPr>
        <p:spPr>
          <a:xfrm rot="0">
            <a:off x="2443599" y="4542223"/>
            <a:ext cx="14430950" cy="3111914"/>
          </a:xfrm>
          <a:prstGeom prst="rect">
            <a:avLst/>
          </a:prstGeom>
        </p:spPr>
        <p:txBody>
          <a:bodyPr anchor="t" rtlCol="false" tIns="0" lIns="0" bIns="0" rIns="0">
            <a:spAutoFit/>
          </a:bodyPr>
          <a:lstStyle/>
          <a:p>
            <a:pPr algn="l" marL="638844" indent="-319422" lvl="1">
              <a:lnSpc>
                <a:spcPts val="4142"/>
              </a:lnSpc>
              <a:buFont typeface="Arial"/>
              <a:buChar char="•"/>
            </a:pPr>
            <a:r>
              <a:rPr lang="en-US" b="true" sz="2958">
                <a:solidFill>
                  <a:srgbClr val="FFFFFF"/>
                </a:solidFill>
                <a:latin typeface="Canva Sans Bold"/>
                <a:ea typeface="Canva Sans Bold"/>
                <a:cs typeface="Canva Sans Bold"/>
                <a:sym typeface="Canva Sans Bold"/>
              </a:rPr>
              <a:t>63% of players are </a:t>
            </a:r>
            <a:r>
              <a:rPr lang="en-US" b="true" sz="2958">
                <a:solidFill>
                  <a:srgbClr val="FFFFFF"/>
                </a:solidFill>
                <a:latin typeface="Canva Sans Bold"/>
                <a:ea typeface="Canva Sans Bold"/>
                <a:cs typeface="Canva Sans Bold"/>
                <a:sym typeface="Canva Sans Bold"/>
              </a:rPr>
              <a:t>Young Adults, making them the most affected age group.</a:t>
            </a:r>
          </a:p>
          <a:p>
            <a:pPr algn="l" marL="638844" indent="-319422" lvl="1">
              <a:lnSpc>
                <a:spcPts val="4142"/>
              </a:lnSpc>
              <a:buFont typeface="Arial"/>
              <a:buChar char="•"/>
            </a:pPr>
            <a:r>
              <a:rPr lang="en-US" b="true" sz="2958">
                <a:solidFill>
                  <a:srgbClr val="FFFFFF"/>
                </a:solidFill>
                <a:latin typeface="Canva Sans Bold"/>
                <a:ea typeface="Canva Sans Bold"/>
                <a:cs typeface="Canva Sans Bold"/>
                <a:sym typeface="Canva Sans Bold"/>
              </a:rPr>
              <a:t>Higher addiction levels lead to more gaming and less exercise.</a:t>
            </a:r>
          </a:p>
          <a:p>
            <a:pPr algn="l" marL="638844" indent="-319422" lvl="1">
              <a:lnSpc>
                <a:spcPts val="4142"/>
              </a:lnSpc>
              <a:buFont typeface="Arial"/>
              <a:buChar char="•"/>
            </a:pPr>
            <a:r>
              <a:rPr lang="en-US" b="true" sz="2958">
                <a:solidFill>
                  <a:srgbClr val="FFFFFF"/>
                </a:solidFill>
                <a:latin typeface="Canva Sans Bold"/>
                <a:ea typeface="Canva Sans Bold"/>
                <a:cs typeface="Canva Sans Bold"/>
                <a:sym typeface="Canva Sans Bold"/>
              </a:rPr>
              <a:t>Severe addiction has the highest spending ($19,139).</a:t>
            </a:r>
          </a:p>
          <a:p>
            <a:pPr algn="l" marL="638844" indent="-319422" lvl="1">
              <a:lnSpc>
                <a:spcPts val="4142"/>
              </a:lnSpc>
              <a:buFont typeface="Arial"/>
              <a:buChar char="•"/>
            </a:pPr>
            <a:r>
              <a:rPr lang="en-US" b="true" sz="2958">
                <a:solidFill>
                  <a:srgbClr val="FFFFFF"/>
                </a:solidFill>
                <a:latin typeface="Canva Sans Bold"/>
                <a:ea typeface="Canva Sans Bold"/>
                <a:cs typeface="Canva Sans Bold"/>
                <a:sym typeface="Canva Sans Bold"/>
              </a:rPr>
              <a:t>Anxious players spend the most on games ($10,226).</a:t>
            </a:r>
          </a:p>
          <a:p>
            <a:pPr algn="l" marL="638844" indent="-319422" lvl="1">
              <a:lnSpc>
                <a:spcPts val="4142"/>
              </a:lnSpc>
              <a:buFont typeface="Arial"/>
              <a:buChar char="•"/>
            </a:pPr>
            <a:r>
              <a:rPr lang="en-US" b="true" sz="2958">
                <a:solidFill>
                  <a:srgbClr val="FFFFFF"/>
                </a:solidFill>
                <a:latin typeface="Canva Sans Bold"/>
                <a:ea typeface="Canva Sans Bold"/>
                <a:cs typeface="Canva Sans Bold"/>
                <a:sym typeface="Canva Sans Bold"/>
              </a:rPr>
              <a:t>75% of players face moderate to high physical health risks.</a:t>
            </a:r>
          </a:p>
          <a:p>
            <a:pPr algn="l" marL="638844" indent="-319422" lvl="1">
              <a:lnSpc>
                <a:spcPts val="4142"/>
              </a:lnSpc>
              <a:buFont typeface="Arial"/>
              <a:buChar char="•"/>
            </a:pPr>
            <a:r>
              <a:rPr lang="en-US" b="true" sz="2958">
                <a:solidFill>
                  <a:srgbClr val="FFFFFF"/>
                </a:solidFill>
                <a:latin typeface="Canva Sans Bold"/>
                <a:ea typeface="Canva Sans Bold"/>
                <a:cs typeface="Canva Sans Bold"/>
                <a:sym typeface="Canva Sans Bold"/>
              </a:rPr>
              <a:t>Mobile and Multi-platform gamers report the most back and neck pain.</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2166801" y="5675865"/>
            <a:ext cx="2090865" cy="923782"/>
          </a:xfrm>
          <a:custGeom>
            <a:avLst/>
            <a:gdLst/>
            <a:ahLst/>
            <a:cxnLst/>
            <a:rect r="r" b="b" t="t" l="l"/>
            <a:pathLst>
              <a:path h="923782" w="2090865">
                <a:moveTo>
                  <a:pt x="0" y="0"/>
                </a:moveTo>
                <a:lnTo>
                  <a:pt x="2090865" y="0"/>
                </a:lnTo>
                <a:lnTo>
                  <a:pt x="2090865" y="923782"/>
                </a:lnTo>
                <a:lnTo>
                  <a:pt x="0" y="9237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120738" y="3338768"/>
            <a:ext cx="1162257" cy="1162257"/>
          </a:xfrm>
          <a:custGeom>
            <a:avLst/>
            <a:gdLst/>
            <a:ahLst/>
            <a:cxnLst/>
            <a:rect r="r" b="b" t="t" l="l"/>
            <a:pathLst>
              <a:path h="1162257" w="1162257">
                <a:moveTo>
                  <a:pt x="0" y="0"/>
                </a:moveTo>
                <a:lnTo>
                  <a:pt x="1162257" y="0"/>
                </a:lnTo>
                <a:lnTo>
                  <a:pt x="1162257" y="1162256"/>
                </a:lnTo>
                <a:lnTo>
                  <a:pt x="0" y="11622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524220" y="4009005"/>
            <a:ext cx="10733446"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Power BI </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6"/>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7"/>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8"/>
              <a:stretch>
                <a:fillRect l="-12904" t="-12015" r="-11867" b="-12757"/>
              </a:stretch>
            </a:blipFill>
          </p:spPr>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889697" y="7815194"/>
            <a:ext cx="2165247" cy="1632055"/>
          </a:xfrm>
          <a:custGeom>
            <a:avLst/>
            <a:gdLst/>
            <a:ahLst/>
            <a:cxnLst/>
            <a:rect r="r" b="b" t="t" l="l"/>
            <a:pathLst>
              <a:path h="1632055" w="2165247">
                <a:moveTo>
                  <a:pt x="0" y="0"/>
                </a:moveTo>
                <a:lnTo>
                  <a:pt x="2165246" y="0"/>
                </a:lnTo>
                <a:lnTo>
                  <a:pt x="2165246" y="1632054"/>
                </a:lnTo>
                <a:lnTo>
                  <a:pt x="0" y="1632054"/>
                </a:lnTo>
                <a:lnTo>
                  <a:pt x="0" y="0"/>
                </a:lnTo>
                <a:close/>
              </a:path>
            </a:pathLst>
          </a:custGeom>
          <a:blipFill>
            <a:blip r:embed="rId2"/>
            <a:stretch>
              <a:fillRect l="0" t="0" r="0" b="0"/>
            </a:stretch>
          </a:blipFill>
        </p:spPr>
      </p:sp>
      <p:sp>
        <p:nvSpPr>
          <p:cNvPr name="Freeform 3" id="3"/>
          <p:cNvSpPr/>
          <p:nvPr/>
        </p:nvSpPr>
        <p:spPr>
          <a:xfrm flipH="false" flipV="false" rot="0">
            <a:off x="9470082" y="3104508"/>
            <a:ext cx="8357477" cy="4710685"/>
          </a:xfrm>
          <a:custGeom>
            <a:avLst/>
            <a:gdLst/>
            <a:ahLst/>
            <a:cxnLst/>
            <a:rect r="r" b="b" t="t" l="l"/>
            <a:pathLst>
              <a:path h="4710685" w="8357477">
                <a:moveTo>
                  <a:pt x="0" y="0"/>
                </a:moveTo>
                <a:lnTo>
                  <a:pt x="8357477" y="0"/>
                </a:lnTo>
                <a:lnTo>
                  <a:pt x="8357477" y="4710686"/>
                </a:lnTo>
                <a:lnTo>
                  <a:pt x="0" y="4710686"/>
                </a:lnTo>
                <a:lnTo>
                  <a:pt x="0" y="0"/>
                </a:lnTo>
                <a:close/>
              </a:path>
            </a:pathLst>
          </a:custGeom>
          <a:blipFill>
            <a:blip r:embed="rId3"/>
            <a:stretch>
              <a:fillRect l="0" t="0" r="0" b="0"/>
            </a:stretch>
          </a:blipFill>
        </p:spPr>
      </p:sp>
      <p:sp>
        <p:nvSpPr>
          <p:cNvPr name="TextBox 4" id="4"/>
          <p:cNvSpPr txBox="true"/>
          <p:nvPr/>
        </p:nvSpPr>
        <p:spPr>
          <a:xfrm rot="0">
            <a:off x="1016404" y="2364174"/>
            <a:ext cx="6920230" cy="854075"/>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Tex Gyre Termes"/>
                <a:ea typeface="Tex Gyre Termes"/>
                <a:cs typeface="Tex Gyre Termes"/>
                <a:sym typeface="Tex Gyre Termes"/>
              </a:rPr>
              <a:t>Power BI Dashboard</a:t>
            </a:r>
          </a:p>
        </p:txBody>
      </p:sp>
      <p:sp>
        <p:nvSpPr>
          <p:cNvPr name="TextBox 5" id="5"/>
          <p:cNvSpPr txBox="true"/>
          <p:nvPr/>
        </p:nvSpPr>
        <p:spPr>
          <a:xfrm rot="0">
            <a:off x="777205" y="4137807"/>
            <a:ext cx="8366795" cy="1953538"/>
          </a:xfrm>
          <a:prstGeom prst="rect">
            <a:avLst/>
          </a:prstGeom>
        </p:spPr>
        <p:txBody>
          <a:bodyPr anchor="t" rtlCol="false" tIns="0" lIns="0" bIns="0" rIns="0">
            <a:spAutoFit/>
          </a:bodyPr>
          <a:lstStyle/>
          <a:p>
            <a:pPr algn="just" marL="0" indent="0" lvl="0">
              <a:lnSpc>
                <a:spcPts val="3099"/>
              </a:lnSpc>
              <a:spcBef>
                <a:spcPct val="0"/>
              </a:spcBef>
            </a:pPr>
            <a:r>
              <a:rPr lang="en-US" sz="2214">
                <a:solidFill>
                  <a:srgbClr val="FFFFFF"/>
                </a:solidFill>
                <a:latin typeface="Poppins"/>
                <a:ea typeface="Poppins"/>
                <a:cs typeface="Poppins"/>
                <a:sym typeface="Poppins"/>
              </a:rPr>
              <a:t>We used P</a:t>
            </a:r>
            <a:r>
              <a:rPr lang="en-US" sz="2214">
                <a:solidFill>
                  <a:srgbClr val="FFFFFF"/>
                </a:solidFill>
                <a:latin typeface="Poppins"/>
                <a:ea typeface="Poppins"/>
                <a:cs typeface="Poppins"/>
                <a:sym typeface="Poppins"/>
              </a:rPr>
              <a:t>ower BI to transform the processed data into an interactive dashboard that simplifies data exploration and supports decision-making through clear visualizations and business insights.</a:t>
            </a:r>
          </a:p>
          <a:p>
            <a:pPr algn="just" marL="0" indent="0" lvl="0">
              <a:lnSpc>
                <a:spcPts val="3099"/>
              </a:lnSpc>
              <a:spcBef>
                <a:spcPct val="0"/>
              </a:spcBef>
            </a:pPr>
          </a:p>
        </p:txBody>
      </p:sp>
      <p:grpSp>
        <p:nvGrpSpPr>
          <p:cNvPr name="Group 6" id="6"/>
          <p:cNvGrpSpPr/>
          <p:nvPr/>
        </p:nvGrpSpPr>
        <p:grpSpPr>
          <a:xfrm rot="0">
            <a:off x="0" y="-25475"/>
            <a:ext cx="18288000" cy="2166846"/>
            <a:chOff x="0" y="0"/>
            <a:chExt cx="24384000" cy="2889128"/>
          </a:xfrm>
        </p:grpSpPr>
        <p:sp>
          <p:nvSpPr>
            <p:cNvPr name="Freeform 7" id="7"/>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8" id="8"/>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9" id="9"/>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3" r="0" b="-53"/>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6118090" y="46794"/>
            <a:ext cx="2169910" cy="2211186"/>
          </a:xfrm>
          <a:custGeom>
            <a:avLst/>
            <a:gdLst/>
            <a:ahLst/>
            <a:cxnLst/>
            <a:rect r="r" b="b" t="t" l="l"/>
            <a:pathLst>
              <a:path h="2211186" w="2169910">
                <a:moveTo>
                  <a:pt x="0" y="0"/>
                </a:moveTo>
                <a:lnTo>
                  <a:pt x="2169910" y="0"/>
                </a:lnTo>
                <a:lnTo>
                  <a:pt x="2169910" y="2211185"/>
                </a:lnTo>
                <a:lnTo>
                  <a:pt x="0" y="2211185"/>
                </a:lnTo>
                <a:lnTo>
                  <a:pt x="0" y="0"/>
                </a:lnTo>
                <a:close/>
              </a:path>
            </a:pathLst>
          </a:custGeom>
          <a:blipFill>
            <a:blip r:embed="rId2"/>
            <a:stretch>
              <a:fillRect l="0" t="0" r="0" b="0"/>
            </a:stretch>
          </a:blipFill>
        </p:spPr>
      </p:sp>
      <p:sp>
        <p:nvSpPr>
          <p:cNvPr name="Freeform 3" id="3"/>
          <p:cNvSpPr/>
          <p:nvPr/>
        </p:nvSpPr>
        <p:spPr>
          <a:xfrm flipH="false" flipV="false" rot="0">
            <a:off x="2604229" y="1933699"/>
            <a:ext cx="13079542" cy="7718104"/>
          </a:xfrm>
          <a:custGeom>
            <a:avLst/>
            <a:gdLst/>
            <a:ahLst/>
            <a:cxnLst/>
            <a:rect r="r" b="b" t="t" l="l"/>
            <a:pathLst>
              <a:path h="7718104" w="13079542">
                <a:moveTo>
                  <a:pt x="0" y="0"/>
                </a:moveTo>
                <a:lnTo>
                  <a:pt x="13079542" y="0"/>
                </a:lnTo>
                <a:lnTo>
                  <a:pt x="13079542" y="7718105"/>
                </a:lnTo>
                <a:lnTo>
                  <a:pt x="0" y="7718105"/>
                </a:lnTo>
                <a:lnTo>
                  <a:pt x="0" y="0"/>
                </a:lnTo>
                <a:close/>
              </a:path>
            </a:pathLst>
          </a:custGeom>
          <a:blipFill>
            <a:blip r:embed="rId3"/>
            <a:stretch>
              <a:fillRect l="0" t="-12977" r="0" b="0"/>
            </a:stretch>
          </a:blipFill>
        </p:spPr>
      </p:sp>
      <p:sp>
        <p:nvSpPr>
          <p:cNvPr name="TextBox 4" id="4"/>
          <p:cNvSpPr txBox="true"/>
          <p:nvPr/>
        </p:nvSpPr>
        <p:spPr>
          <a:xfrm rot="0">
            <a:off x="4415844" y="585587"/>
            <a:ext cx="8783574" cy="1019299"/>
          </a:xfrm>
          <a:prstGeom prst="rect">
            <a:avLst/>
          </a:prstGeom>
        </p:spPr>
        <p:txBody>
          <a:bodyPr anchor="t" rtlCol="false" tIns="0" lIns="0" bIns="0" rIns="0">
            <a:spAutoFit/>
          </a:bodyPr>
          <a:lstStyle/>
          <a:p>
            <a:pPr algn="ctr" marL="0" indent="0" lvl="0">
              <a:lnSpc>
                <a:spcPts val="8393"/>
              </a:lnSpc>
              <a:spcBef>
                <a:spcPct val="0"/>
              </a:spcBef>
            </a:pPr>
            <a:r>
              <a:rPr lang="en-US" sz="5995" strike="noStrike" u="none">
                <a:solidFill>
                  <a:srgbClr val="FFFFFF"/>
                </a:solidFill>
                <a:latin typeface="Tex Gyre Termes"/>
                <a:ea typeface="Tex Gyre Termes"/>
                <a:cs typeface="Tex Gyre Termes"/>
                <a:sym typeface="Tex Gyre Termes"/>
              </a:rPr>
              <a:t>Power BI Insights</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 r="0" b="-92"/>
            </a:stretch>
          </a:blipFill>
        </p:spPr>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2905416" y="1506637"/>
            <a:ext cx="12477169" cy="8318112"/>
          </a:xfrm>
          <a:custGeom>
            <a:avLst/>
            <a:gdLst/>
            <a:ahLst/>
            <a:cxnLst/>
            <a:rect r="r" b="b" t="t" l="l"/>
            <a:pathLst>
              <a:path h="8318112" w="12477169">
                <a:moveTo>
                  <a:pt x="0" y="0"/>
                </a:moveTo>
                <a:lnTo>
                  <a:pt x="12477168" y="0"/>
                </a:lnTo>
                <a:lnTo>
                  <a:pt x="12477168" y="8318113"/>
                </a:lnTo>
                <a:lnTo>
                  <a:pt x="0" y="8318113"/>
                </a:lnTo>
                <a:lnTo>
                  <a:pt x="0" y="0"/>
                </a:lnTo>
                <a:close/>
              </a:path>
            </a:pathLst>
          </a:custGeom>
          <a:blipFill>
            <a:blip r:embed="rId2"/>
            <a:stretch>
              <a:fillRect l="0" t="0" r="0" b="0"/>
            </a:stretch>
          </a:blipFill>
        </p:spPr>
      </p:sp>
      <p:grpSp>
        <p:nvGrpSpPr>
          <p:cNvPr name="Group 3" id="3"/>
          <p:cNvGrpSpPr/>
          <p:nvPr/>
        </p:nvGrpSpPr>
        <p:grpSpPr>
          <a:xfrm rot="0">
            <a:off x="0" y="-25475"/>
            <a:ext cx="18288000" cy="2166846"/>
            <a:chOff x="0" y="0"/>
            <a:chExt cx="24384000" cy="2889128"/>
          </a:xfrm>
        </p:grpSpPr>
        <p:sp>
          <p:nvSpPr>
            <p:cNvPr name="Freeform 4" id="4"/>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3"/>
              <a:stretch>
                <a:fillRect l="0" t="0" r="0" b="0"/>
              </a:stretch>
            </a:blipFill>
          </p:spPr>
        </p:sp>
        <p:sp>
          <p:nvSpPr>
            <p:cNvPr name="Freeform 5" id="5"/>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4"/>
              <a:stretch>
                <a:fillRect l="0" t="0" r="0" b="0"/>
              </a:stretch>
            </a:blipFill>
          </p:spPr>
        </p:sp>
        <p:sp>
          <p:nvSpPr>
            <p:cNvPr name="Freeform 6" id="6"/>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5"/>
              <a:stretch>
                <a:fillRect l="-12904" t="-12015" r="-11867" b="-12757"/>
              </a:stretch>
            </a:blipFill>
          </p:spPr>
        </p:sp>
      </p:grpSp>
      <p:sp>
        <p:nvSpPr>
          <p:cNvPr name="TextBox 7" id="7"/>
          <p:cNvSpPr txBox="true"/>
          <p:nvPr/>
        </p:nvSpPr>
        <p:spPr>
          <a:xfrm rot="0">
            <a:off x="4470886" y="1392337"/>
            <a:ext cx="8783574" cy="1019299"/>
          </a:xfrm>
          <a:prstGeom prst="rect">
            <a:avLst/>
          </a:prstGeom>
        </p:spPr>
        <p:txBody>
          <a:bodyPr anchor="t" rtlCol="false" tIns="0" lIns="0" bIns="0" rIns="0">
            <a:spAutoFit/>
          </a:bodyPr>
          <a:lstStyle/>
          <a:p>
            <a:pPr algn="ctr" marL="0" indent="0" lvl="0">
              <a:lnSpc>
                <a:spcPts val="8393"/>
              </a:lnSpc>
              <a:spcBef>
                <a:spcPct val="0"/>
              </a:spcBef>
            </a:pPr>
            <a:r>
              <a:rPr lang="en-US" sz="5995" strike="noStrike" u="none">
                <a:solidFill>
                  <a:srgbClr val="FFFFFF"/>
                </a:solidFill>
                <a:latin typeface="Tex Gyre Termes"/>
                <a:ea typeface="Tex Gyre Termes"/>
                <a:cs typeface="Tex Gyre Termes"/>
                <a:sym typeface="Tex Gyre Termes"/>
              </a:rPr>
              <a:t>Power BI Insights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73" t="0" r="-673" b="0"/>
            </a:stretch>
          </a:blipFill>
        </p:spPr>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6118090" y="46794"/>
            <a:ext cx="2169910" cy="2211186"/>
          </a:xfrm>
          <a:custGeom>
            <a:avLst/>
            <a:gdLst/>
            <a:ahLst/>
            <a:cxnLst/>
            <a:rect r="r" b="b" t="t" l="l"/>
            <a:pathLst>
              <a:path h="2211186" w="2169910">
                <a:moveTo>
                  <a:pt x="0" y="0"/>
                </a:moveTo>
                <a:lnTo>
                  <a:pt x="2169910" y="0"/>
                </a:lnTo>
                <a:lnTo>
                  <a:pt x="2169910" y="2211185"/>
                </a:lnTo>
                <a:lnTo>
                  <a:pt x="0" y="2211185"/>
                </a:lnTo>
                <a:lnTo>
                  <a:pt x="0" y="0"/>
                </a:lnTo>
                <a:close/>
              </a:path>
            </a:pathLst>
          </a:custGeom>
          <a:blipFill>
            <a:blip r:embed="rId2"/>
            <a:stretch>
              <a:fillRect l="0" t="0" r="0" b="0"/>
            </a:stretch>
          </a:blipFill>
        </p:spPr>
      </p:sp>
      <p:sp>
        <p:nvSpPr>
          <p:cNvPr name="Freeform 3" id="3"/>
          <p:cNvSpPr/>
          <p:nvPr/>
        </p:nvSpPr>
        <p:spPr>
          <a:xfrm flipH="false" flipV="false" rot="0">
            <a:off x="2763830" y="1894905"/>
            <a:ext cx="12760339" cy="7804890"/>
          </a:xfrm>
          <a:custGeom>
            <a:avLst/>
            <a:gdLst/>
            <a:ahLst/>
            <a:cxnLst/>
            <a:rect r="r" b="b" t="t" l="l"/>
            <a:pathLst>
              <a:path h="7804890" w="12760339">
                <a:moveTo>
                  <a:pt x="0" y="0"/>
                </a:moveTo>
                <a:lnTo>
                  <a:pt x="12760340" y="0"/>
                </a:lnTo>
                <a:lnTo>
                  <a:pt x="12760340" y="7804890"/>
                </a:lnTo>
                <a:lnTo>
                  <a:pt x="0" y="7804890"/>
                </a:lnTo>
                <a:lnTo>
                  <a:pt x="0" y="0"/>
                </a:lnTo>
                <a:close/>
              </a:path>
            </a:pathLst>
          </a:custGeom>
          <a:blipFill>
            <a:blip r:embed="rId3"/>
            <a:stretch>
              <a:fillRect l="0" t="-8994" r="0" b="0"/>
            </a:stretch>
          </a:blipFill>
        </p:spPr>
      </p:sp>
      <p:sp>
        <p:nvSpPr>
          <p:cNvPr name="TextBox 4" id="4"/>
          <p:cNvSpPr txBox="true"/>
          <p:nvPr/>
        </p:nvSpPr>
        <p:spPr>
          <a:xfrm rot="0">
            <a:off x="4400716" y="585587"/>
            <a:ext cx="8783574" cy="1019299"/>
          </a:xfrm>
          <a:prstGeom prst="rect">
            <a:avLst/>
          </a:prstGeom>
        </p:spPr>
        <p:txBody>
          <a:bodyPr anchor="t" rtlCol="false" tIns="0" lIns="0" bIns="0" rIns="0">
            <a:spAutoFit/>
          </a:bodyPr>
          <a:lstStyle/>
          <a:p>
            <a:pPr algn="ctr" marL="0" indent="0" lvl="0">
              <a:lnSpc>
                <a:spcPts val="8393"/>
              </a:lnSpc>
              <a:spcBef>
                <a:spcPct val="0"/>
              </a:spcBef>
            </a:pPr>
            <a:r>
              <a:rPr lang="en-US" sz="5995" strike="noStrike" u="none">
                <a:solidFill>
                  <a:srgbClr val="FFFFFF"/>
                </a:solidFill>
                <a:latin typeface="Tex Gyre Termes"/>
                <a:ea typeface="Tex Gyre Termes"/>
                <a:cs typeface="Tex Gyre Termes"/>
                <a:sym typeface="Tex Gyre Termes"/>
              </a:rPr>
              <a:t>Power BI Insights</a:t>
            </a:r>
          </a:p>
        </p:txBody>
      </p:sp>
      <p:grpSp>
        <p:nvGrpSpPr>
          <p:cNvPr name="Group 5" id="5"/>
          <p:cNvGrpSpPr/>
          <p:nvPr/>
        </p:nvGrpSpPr>
        <p:grpSpPr>
          <a:xfrm rot="0">
            <a:off x="0" y="-25475"/>
            <a:ext cx="18288000" cy="2166846"/>
            <a:chOff x="0" y="0"/>
            <a:chExt cx="24384000" cy="2889128"/>
          </a:xfrm>
        </p:grpSpPr>
        <p:sp>
          <p:nvSpPr>
            <p:cNvPr name="Freeform 6" id="6"/>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7" id="7"/>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8" id="8"/>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052044"/>
            <a:ext cx="2162939" cy="1183717"/>
          </a:xfrm>
          <a:custGeom>
            <a:avLst/>
            <a:gdLst/>
            <a:ahLst/>
            <a:cxnLst/>
            <a:rect r="r" b="b" t="t" l="l"/>
            <a:pathLst>
              <a:path h="1183717" w="2162939">
                <a:moveTo>
                  <a:pt x="0" y="0"/>
                </a:moveTo>
                <a:lnTo>
                  <a:pt x="2162939" y="0"/>
                </a:lnTo>
                <a:lnTo>
                  <a:pt x="2162939" y="1183717"/>
                </a:lnTo>
                <a:lnTo>
                  <a:pt x="0" y="11837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196010" y="2759873"/>
            <a:ext cx="9895979" cy="1193925"/>
          </a:xfrm>
          <a:prstGeom prst="rect">
            <a:avLst/>
          </a:prstGeom>
        </p:spPr>
        <p:txBody>
          <a:bodyPr anchor="t" rtlCol="false" tIns="0" lIns="0" bIns="0" rIns="0">
            <a:spAutoFit/>
          </a:bodyPr>
          <a:lstStyle/>
          <a:p>
            <a:pPr algn="ctr" marL="0" indent="0" lvl="0">
              <a:lnSpc>
                <a:spcPts val="9793"/>
              </a:lnSpc>
              <a:spcBef>
                <a:spcPct val="0"/>
              </a:spcBef>
            </a:pPr>
            <a:r>
              <a:rPr lang="en-US" sz="6995">
                <a:solidFill>
                  <a:srgbClr val="FFFFFF"/>
                </a:solidFill>
                <a:latin typeface="Tex Gyre Termes"/>
                <a:ea typeface="Tex Gyre Termes"/>
                <a:cs typeface="Tex Gyre Termes"/>
                <a:sym typeface="Tex Gyre Termes"/>
              </a:rPr>
              <a:t>Final Recommendations</a:t>
            </a:r>
          </a:p>
        </p:txBody>
      </p:sp>
      <p:grpSp>
        <p:nvGrpSpPr>
          <p:cNvPr name="Group 4" id="4"/>
          <p:cNvGrpSpPr/>
          <p:nvPr/>
        </p:nvGrpSpPr>
        <p:grpSpPr>
          <a:xfrm rot="0">
            <a:off x="2544477" y="4475754"/>
            <a:ext cx="5809547" cy="1046463"/>
            <a:chOff x="0" y="0"/>
            <a:chExt cx="1285952" cy="231636"/>
          </a:xfrm>
        </p:grpSpPr>
        <p:sp>
          <p:nvSpPr>
            <p:cNvPr name="Freeform 5" id="5"/>
            <p:cNvSpPr/>
            <p:nvPr/>
          </p:nvSpPr>
          <p:spPr>
            <a:xfrm flipH="false" flipV="false" rot="0">
              <a:off x="0" y="0"/>
              <a:ext cx="1285952" cy="231636"/>
            </a:xfrm>
            <a:custGeom>
              <a:avLst/>
              <a:gdLst/>
              <a:ahLst/>
              <a:cxnLst/>
              <a:rect r="r" b="b" t="t" l="l"/>
              <a:pathLst>
                <a:path h="231636" w="1285952">
                  <a:moveTo>
                    <a:pt x="67964" y="0"/>
                  </a:moveTo>
                  <a:lnTo>
                    <a:pt x="1217989" y="0"/>
                  </a:lnTo>
                  <a:cubicBezTo>
                    <a:pt x="1255524" y="0"/>
                    <a:pt x="1285952" y="30428"/>
                    <a:pt x="1285952" y="67964"/>
                  </a:cubicBezTo>
                  <a:lnTo>
                    <a:pt x="1285952" y="163673"/>
                  </a:lnTo>
                  <a:cubicBezTo>
                    <a:pt x="1285952" y="201208"/>
                    <a:pt x="1255524" y="231636"/>
                    <a:pt x="1217989" y="231636"/>
                  </a:cubicBezTo>
                  <a:lnTo>
                    <a:pt x="67964" y="231636"/>
                  </a:lnTo>
                  <a:cubicBezTo>
                    <a:pt x="30428" y="231636"/>
                    <a:pt x="0" y="201208"/>
                    <a:pt x="0" y="163673"/>
                  </a:cubicBezTo>
                  <a:lnTo>
                    <a:pt x="0" y="67964"/>
                  </a:lnTo>
                  <a:cubicBezTo>
                    <a:pt x="0" y="30428"/>
                    <a:pt x="30428" y="0"/>
                    <a:pt x="67964" y="0"/>
                  </a:cubicBezTo>
                  <a:close/>
                </a:path>
              </a:pathLst>
            </a:custGeom>
            <a:solidFill>
              <a:srgbClr val="4119FF"/>
            </a:solidFill>
            <a:ln cap="rnd">
              <a:noFill/>
              <a:prstDash val="solid"/>
              <a:round/>
            </a:ln>
          </p:spPr>
        </p:sp>
        <p:sp>
          <p:nvSpPr>
            <p:cNvPr name="TextBox 6" id="6"/>
            <p:cNvSpPr txBox="true"/>
            <p:nvPr/>
          </p:nvSpPr>
          <p:spPr>
            <a:xfrm>
              <a:off x="0" y="-66675"/>
              <a:ext cx="1285952" cy="298311"/>
            </a:xfrm>
            <a:prstGeom prst="rect">
              <a:avLst/>
            </a:prstGeom>
          </p:spPr>
          <p:txBody>
            <a:bodyPr anchor="ctr" rtlCol="false" tIns="50800" lIns="50800" bIns="50800" rIns="50800"/>
            <a:lstStyle/>
            <a:p>
              <a:pPr algn="ctr" marL="0" indent="0" lvl="0">
                <a:lnSpc>
                  <a:spcPts val="3499"/>
                </a:lnSpc>
              </a:pPr>
            </a:p>
          </p:txBody>
        </p:sp>
      </p:grpSp>
      <p:sp>
        <p:nvSpPr>
          <p:cNvPr name="TextBox 7" id="7"/>
          <p:cNvSpPr txBox="true"/>
          <p:nvPr/>
        </p:nvSpPr>
        <p:spPr>
          <a:xfrm rot="0">
            <a:off x="3320189" y="4709422"/>
            <a:ext cx="4258123" cy="409477"/>
          </a:xfrm>
          <a:prstGeom prst="rect">
            <a:avLst/>
          </a:prstGeom>
        </p:spPr>
        <p:txBody>
          <a:bodyPr anchor="t" rtlCol="false" tIns="0" lIns="0" bIns="0" rIns="0">
            <a:spAutoFit/>
          </a:bodyPr>
          <a:lstStyle/>
          <a:p>
            <a:pPr algn="ctr" marL="0" indent="0" lvl="0">
              <a:lnSpc>
                <a:spcPts val="3155"/>
              </a:lnSpc>
              <a:spcBef>
                <a:spcPct val="0"/>
              </a:spcBef>
            </a:pPr>
            <a:r>
              <a:rPr lang="en-US" sz="2253">
                <a:solidFill>
                  <a:srgbClr val="FFFFFF"/>
                </a:solidFill>
                <a:latin typeface="Poppins"/>
                <a:ea typeface="Poppins"/>
                <a:cs typeface="Poppins"/>
                <a:sym typeface="Poppins"/>
              </a:rPr>
              <a:t>🎮 Balance Gaming Hours</a:t>
            </a:r>
          </a:p>
        </p:txBody>
      </p:sp>
      <p:grpSp>
        <p:nvGrpSpPr>
          <p:cNvPr name="Group 8" id="8"/>
          <p:cNvGrpSpPr/>
          <p:nvPr/>
        </p:nvGrpSpPr>
        <p:grpSpPr>
          <a:xfrm rot="0">
            <a:off x="9892827" y="4475754"/>
            <a:ext cx="5809547" cy="1046463"/>
            <a:chOff x="0" y="0"/>
            <a:chExt cx="1285952" cy="231636"/>
          </a:xfrm>
        </p:grpSpPr>
        <p:sp>
          <p:nvSpPr>
            <p:cNvPr name="Freeform 9" id="9"/>
            <p:cNvSpPr/>
            <p:nvPr/>
          </p:nvSpPr>
          <p:spPr>
            <a:xfrm flipH="false" flipV="false" rot="0">
              <a:off x="0" y="0"/>
              <a:ext cx="1285952" cy="231636"/>
            </a:xfrm>
            <a:custGeom>
              <a:avLst/>
              <a:gdLst/>
              <a:ahLst/>
              <a:cxnLst/>
              <a:rect r="r" b="b" t="t" l="l"/>
              <a:pathLst>
                <a:path h="231636" w="1285952">
                  <a:moveTo>
                    <a:pt x="67964" y="0"/>
                  </a:moveTo>
                  <a:lnTo>
                    <a:pt x="1217989" y="0"/>
                  </a:lnTo>
                  <a:cubicBezTo>
                    <a:pt x="1255524" y="0"/>
                    <a:pt x="1285952" y="30428"/>
                    <a:pt x="1285952" y="67964"/>
                  </a:cubicBezTo>
                  <a:lnTo>
                    <a:pt x="1285952" y="163673"/>
                  </a:lnTo>
                  <a:cubicBezTo>
                    <a:pt x="1285952" y="201208"/>
                    <a:pt x="1255524" y="231636"/>
                    <a:pt x="1217989" y="231636"/>
                  </a:cubicBezTo>
                  <a:lnTo>
                    <a:pt x="67964" y="231636"/>
                  </a:lnTo>
                  <a:cubicBezTo>
                    <a:pt x="30428" y="231636"/>
                    <a:pt x="0" y="201208"/>
                    <a:pt x="0" y="163673"/>
                  </a:cubicBezTo>
                  <a:lnTo>
                    <a:pt x="0" y="67964"/>
                  </a:lnTo>
                  <a:cubicBezTo>
                    <a:pt x="0" y="30428"/>
                    <a:pt x="30428" y="0"/>
                    <a:pt x="67964" y="0"/>
                  </a:cubicBezTo>
                  <a:close/>
                </a:path>
              </a:pathLst>
            </a:custGeom>
            <a:solidFill>
              <a:srgbClr val="4119FF"/>
            </a:solidFill>
            <a:ln cap="rnd">
              <a:noFill/>
              <a:prstDash val="solid"/>
              <a:round/>
            </a:ln>
          </p:spPr>
        </p:sp>
        <p:sp>
          <p:nvSpPr>
            <p:cNvPr name="TextBox 10" id="10"/>
            <p:cNvSpPr txBox="true"/>
            <p:nvPr/>
          </p:nvSpPr>
          <p:spPr>
            <a:xfrm>
              <a:off x="0" y="-66675"/>
              <a:ext cx="1285952" cy="298311"/>
            </a:xfrm>
            <a:prstGeom prst="rect">
              <a:avLst/>
            </a:prstGeom>
          </p:spPr>
          <p:txBody>
            <a:bodyPr anchor="ctr" rtlCol="false" tIns="50800" lIns="50800" bIns="50800" rIns="50800"/>
            <a:lstStyle/>
            <a:p>
              <a:pPr algn="ctr" marL="0" indent="0" lvl="0">
                <a:lnSpc>
                  <a:spcPts val="3499"/>
                </a:lnSpc>
                <a:spcBef>
                  <a:spcPct val="0"/>
                </a:spcBef>
              </a:pPr>
            </a:p>
          </p:txBody>
        </p:sp>
      </p:grpSp>
      <p:sp>
        <p:nvSpPr>
          <p:cNvPr name="TextBox 11" id="11"/>
          <p:cNvSpPr txBox="true"/>
          <p:nvPr/>
        </p:nvSpPr>
        <p:spPr>
          <a:xfrm rot="0">
            <a:off x="10668539" y="4709422"/>
            <a:ext cx="4258123" cy="409477"/>
          </a:xfrm>
          <a:prstGeom prst="rect">
            <a:avLst/>
          </a:prstGeom>
        </p:spPr>
        <p:txBody>
          <a:bodyPr anchor="t" rtlCol="false" tIns="0" lIns="0" bIns="0" rIns="0">
            <a:spAutoFit/>
          </a:bodyPr>
          <a:lstStyle/>
          <a:p>
            <a:pPr algn="ctr" marL="0" indent="0" lvl="0">
              <a:lnSpc>
                <a:spcPts val="3155"/>
              </a:lnSpc>
              <a:spcBef>
                <a:spcPct val="0"/>
              </a:spcBef>
            </a:pPr>
            <a:r>
              <a:rPr lang="en-US" sz="2253">
                <a:solidFill>
                  <a:srgbClr val="FFFFFF"/>
                </a:solidFill>
                <a:latin typeface="Poppins"/>
                <a:ea typeface="Poppins"/>
                <a:cs typeface="Poppins"/>
                <a:sym typeface="Poppins"/>
              </a:rPr>
              <a:t>🌙 Improve Sleep Quality</a:t>
            </a:r>
          </a:p>
        </p:txBody>
      </p:sp>
      <p:grpSp>
        <p:nvGrpSpPr>
          <p:cNvPr name="Group 12" id="12"/>
          <p:cNvGrpSpPr/>
          <p:nvPr/>
        </p:nvGrpSpPr>
        <p:grpSpPr>
          <a:xfrm rot="0">
            <a:off x="2544477" y="6483625"/>
            <a:ext cx="5809547" cy="1046463"/>
            <a:chOff x="0" y="0"/>
            <a:chExt cx="1285952" cy="231636"/>
          </a:xfrm>
        </p:grpSpPr>
        <p:sp>
          <p:nvSpPr>
            <p:cNvPr name="Freeform 13" id="13"/>
            <p:cNvSpPr/>
            <p:nvPr/>
          </p:nvSpPr>
          <p:spPr>
            <a:xfrm flipH="false" flipV="false" rot="0">
              <a:off x="0" y="0"/>
              <a:ext cx="1285952" cy="231636"/>
            </a:xfrm>
            <a:custGeom>
              <a:avLst/>
              <a:gdLst/>
              <a:ahLst/>
              <a:cxnLst/>
              <a:rect r="r" b="b" t="t" l="l"/>
              <a:pathLst>
                <a:path h="231636" w="1285952">
                  <a:moveTo>
                    <a:pt x="67964" y="0"/>
                  </a:moveTo>
                  <a:lnTo>
                    <a:pt x="1217989" y="0"/>
                  </a:lnTo>
                  <a:cubicBezTo>
                    <a:pt x="1255524" y="0"/>
                    <a:pt x="1285952" y="30428"/>
                    <a:pt x="1285952" y="67964"/>
                  </a:cubicBezTo>
                  <a:lnTo>
                    <a:pt x="1285952" y="163673"/>
                  </a:lnTo>
                  <a:cubicBezTo>
                    <a:pt x="1285952" y="201208"/>
                    <a:pt x="1255524" y="231636"/>
                    <a:pt x="1217989" y="231636"/>
                  </a:cubicBezTo>
                  <a:lnTo>
                    <a:pt x="67964" y="231636"/>
                  </a:lnTo>
                  <a:cubicBezTo>
                    <a:pt x="30428" y="231636"/>
                    <a:pt x="0" y="201208"/>
                    <a:pt x="0" y="163673"/>
                  </a:cubicBezTo>
                  <a:lnTo>
                    <a:pt x="0" y="67964"/>
                  </a:lnTo>
                  <a:cubicBezTo>
                    <a:pt x="0" y="30428"/>
                    <a:pt x="30428" y="0"/>
                    <a:pt x="67964" y="0"/>
                  </a:cubicBezTo>
                  <a:close/>
                </a:path>
              </a:pathLst>
            </a:custGeom>
            <a:solidFill>
              <a:srgbClr val="4119FF"/>
            </a:solidFill>
            <a:ln cap="rnd">
              <a:noFill/>
              <a:prstDash val="solid"/>
              <a:round/>
            </a:ln>
          </p:spPr>
        </p:sp>
        <p:sp>
          <p:nvSpPr>
            <p:cNvPr name="TextBox 14" id="14"/>
            <p:cNvSpPr txBox="true"/>
            <p:nvPr/>
          </p:nvSpPr>
          <p:spPr>
            <a:xfrm>
              <a:off x="0" y="-66675"/>
              <a:ext cx="1285952" cy="298311"/>
            </a:xfrm>
            <a:prstGeom prst="rect">
              <a:avLst/>
            </a:prstGeom>
          </p:spPr>
          <p:txBody>
            <a:bodyPr anchor="ctr" rtlCol="false" tIns="50800" lIns="50800" bIns="50800" rIns="50800"/>
            <a:lstStyle/>
            <a:p>
              <a:pPr algn="ctr" marL="0" indent="0" lvl="0">
                <a:lnSpc>
                  <a:spcPts val="3499"/>
                </a:lnSpc>
                <a:spcBef>
                  <a:spcPct val="0"/>
                </a:spcBef>
              </a:pPr>
            </a:p>
          </p:txBody>
        </p:sp>
      </p:grpSp>
      <p:sp>
        <p:nvSpPr>
          <p:cNvPr name="TextBox 15" id="15"/>
          <p:cNvSpPr txBox="true"/>
          <p:nvPr/>
        </p:nvSpPr>
        <p:spPr>
          <a:xfrm rot="0">
            <a:off x="3320189" y="6717293"/>
            <a:ext cx="4258123" cy="409477"/>
          </a:xfrm>
          <a:prstGeom prst="rect">
            <a:avLst/>
          </a:prstGeom>
        </p:spPr>
        <p:txBody>
          <a:bodyPr anchor="t" rtlCol="false" tIns="0" lIns="0" bIns="0" rIns="0">
            <a:spAutoFit/>
          </a:bodyPr>
          <a:lstStyle/>
          <a:p>
            <a:pPr algn="ctr" marL="0" indent="0" lvl="0">
              <a:lnSpc>
                <a:spcPts val="3155"/>
              </a:lnSpc>
              <a:spcBef>
                <a:spcPct val="0"/>
              </a:spcBef>
            </a:pPr>
            <a:r>
              <a:rPr lang="en-US" sz="2253">
                <a:solidFill>
                  <a:srgbClr val="FFFFFF"/>
                </a:solidFill>
                <a:latin typeface="Poppins"/>
                <a:ea typeface="Poppins"/>
                <a:cs typeface="Poppins"/>
                <a:sym typeface="Poppins"/>
              </a:rPr>
              <a:t>🏃 Increase Physical Activity</a:t>
            </a:r>
          </a:p>
        </p:txBody>
      </p:sp>
      <p:grpSp>
        <p:nvGrpSpPr>
          <p:cNvPr name="Group 16" id="16"/>
          <p:cNvGrpSpPr/>
          <p:nvPr/>
        </p:nvGrpSpPr>
        <p:grpSpPr>
          <a:xfrm rot="0">
            <a:off x="9892827" y="6406214"/>
            <a:ext cx="5809547" cy="1046463"/>
            <a:chOff x="0" y="0"/>
            <a:chExt cx="1285952" cy="231636"/>
          </a:xfrm>
        </p:grpSpPr>
        <p:sp>
          <p:nvSpPr>
            <p:cNvPr name="Freeform 17" id="17"/>
            <p:cNvSpPr/>
            <p:nvPr/>
          </p:nvSpPr>
          <p:spPr>
            <a:xfrm flipH="false" flipV="false" rot="0">
              <a:off x="0" y="0"/>
              <a:ext cx="1285952" cy="231636"/>
            </a:xfrm>
            <a:custGeom>
              <a:avLst/>
              <a:gdLst/>
              <a:ahLst/>
              <a:cxnLst/>
              <a:rect r="r" b="b" t="t" l="l"/>
              <a:pathLst>
                <a:path h="231636" w="1285952">
                  <a:moveTo>
                    <a:pt x="67964" y="0"/>
                  </a:moveTo>
                  <a:lnTo>
                    <a:pt x="1217989" y="0"/>
                  </a:lnTo>
                  <a:cubicBezTo>
                    <a:pt x="1255524" y="0"/>
                    <a:pt x="1285952" y="30428"/>
                    <a:pt x="1285952" y="67964"/>
                  </a:cubicBezTo>
                  <a:lnTo>
                    <a:pt x="1285952" y="163673"/>
                  </a:lnTo>
                  <a:cubicBezTo>
                    <a:pt x="1285952" y="201208"/>
                    <a:pt x="1255524" y="231636"/>
                    <a:pt x="1217989" y="231636"/>
                  </a:cubicBezTo>
                  <a:lnTo>
                    <a:pt x="67964" y="231636"/>
                  </a:lnTo>
                  <a:cubicBezTo>
                    <a:pt x="30428" y="231636"/>
                    <a:pt x="0" y="201208"/>
                    <a:pt x="0" y="163673"/>
                  </a:cubicBezTo>
                  <a:lnTo>
                    <a:pt x="0" y="67964"/>
                  </a:lnTo>
                  <a:cubicBezTo>
                    <a:pt x="0" y="30428"/>
                    <a:pt x="30428" y="0"/>
                    <a:pt x="67964" y="0"/>
                  </a:cubicBezTo>
                  <a:close/>
                </a:path>
              </a:pathLst>
            </a:custGeom>
            <a:solidFill>
              <a:srgbClr val="4119FF"/>
            </a:solidFill>
            <a:ln cap="rnd">
              <a:noFill/>
              <a:prstDash val="solid"/>
              <a:round/>
            </a:ln>
          </p:spPr>
        </p:sp>
        <p:sp>
          <p:nvSpPr>
            <p:cNvPr name="TextBox 18" id="18"/>
            <p:cNvSpPr txBox="true"/>
            <p:nvPr/>
          </p:nvSpPr>
          <p:spPr>
            <a:xfrm>
              <a:off x="0" y="-66675"/>
              <a:ext cx="1285952" cy="298311"/>
            </a:xfrm>
            <a:prstGeom prst="rect">
              <a:avLst/>
            </a:prstGeom>
          </p:spPr>
          <p:txBody>
            <a:bodyPr anchor="ctr" rtlCol="false" tIns="50800" lIns="50800" bIns="50800" rIns="50800"/>
            <a:lstStyle/>
            <a:p>
              <a:pPr algn="ctr" marL="0" indent="0" lvl="0">
                <a:lnSpc>
                  <a:spcPts val="3499"/>
                </a:lnSpc>
                <a:spcBef>
                  <a:spcPct val="0"/>
                </a:spcBef>
              </a:pPr>
            </a:p>
          </p:txBody>
        </p:sp>
      </p:grpSp>
      <p:sp>
        <p:nvSpPr>
          <p:cNvPr name="TextBox 19" id="19"/>
          <p:cNvSpPr txBox="true"/>
          <p:nvPr/>
        </p:nvSpPr>
        <p:spPr>
          <a:xfrm rot="0">
            <a:off x="10487002" y="6691369"/>
            <a:ext cx="4817864" cy="409477"/>
          </a:xfrm>
          <a:prstGeom prst="rect">
            <a:avLst/>
          </a:prstGeom>
        </p:spPr>
        <p:txBody>
          <a:bodyPr anchor="t" rtlCol="false" tIns="0" lIns="0" bIns="0" rIns="0">
            <a:spAutoFit/>
          </a:bodyPr>
          <a:lstStyle/>
          <a:p>
            <a:pPr algn="ctr" marL="0" indent="0" lvl="0">
              <a:lnSpc>
                <a:spcPts val="3155"/>
              </a:lnSpc>
              <a:spcBef>
                <a:spcPct val="0"/>
              </a:spcBef>
            </a:pPr>
            <a:r>
              <a:rPr lang="en-US" sz="2253">
                <a:solidFill>
                  <a:srgbClr val="FFFFFF"/>
                </a:solidFill>
                <a:latin typeface="Poppins"/>
                <a:ea typeface="Poppins"/>
                <a:cs typeface="Poppins"/>
                <a:sym typeface="Poppins"/>
              </a:rPr>
              <a:t>💰 Monitor Spending &amp; Addiction</a:t>
            </a:r>
          </a:p>
        </p:txBody>
      </p:sp>
      <p:grpSp>
        <p:nvGrpSpPr>
          <p:cNvPr name="Group 20" id="20"/>
          <p:cNvGrpSpPr/>
          <p:nvPr/>
        </p:nvGrpSpPr>
        <p:grpSpPr>
          <a:xfrm rot="0">
            <a:off x="0" y="-25475"/>
            <a:ext cx="18288000" cy="2166846"/>
            <a:chOff x="0" y="0"/>
            <a:chExt cx="24384000" cy="2889128"/>
          </a:xfrm>
        </p:grpSpPr>
        <p:sp>
          <p:nvSpPr>
            <p:cNvPr name="Freeform 21" id="21"/>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22" id="22"/>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23" id="23"/>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0A0425"/>
        </a:solidFill>
      </p:bgPr>
    </p:bg>
    <p:spTree>
      <p:nvGrpSpPr>
        <p:cNvPr id="1" name=""/>
        <p:cNvGrpSpPr/>
        <p:nvPr/>
      </p:nvGrpSpPr>
      <p:grpSpPr>
        <a:xfrm>
          <a:off x="0" y="0"/>
          <a:ext cx="0" cy="0"/>
          <a:chOff x="0" y="0"/>
          <a:chExt cx="0" cy="0"/>
        </a:xfrm>
      </p:grpSpPr>
      <p:sp>
        <p:nvSpPr>
          <p:cNvPr name="Freeform 2" id="2"/>
          <p:cNvSpPr/>
          <p:nvPr/>
        </p:nvSpPr>
        <p:spPr>
          <a:xfrm flipH="false" flipV="false" rot="0">
            <a:off x="0" y="7397693"/>
            <a:ext cx="2843152" cy="2889307"/>
          </a:xfrm>
          <a:custGeom>
            <a:avLst/>
            <a:gdLst/>
            <a:ahLst/>
            <a:cxnLst/>
            <a:rect r="r" b="b" t="t" l="l"/>
            <a:pathLst>
              <a:path h="2889307" w="2843152">
                <a:moveTo>
                  <a:pt x="0" y="0"/>
                </a:moveTo>
                <a:lnTo>
                  <a:pt x="2843152" y="0"/>
                </a:lnTo>
                <a:lnTo>
                  <a:pt x="2843152" y="2889307"/>
                </a:lnTo>
                <a:lnTo>
                  <a:pt x="0" y="2889307"/>
                </a:lnTo>
                <a:lnTo>
                  <a:pt x="0" y="0"/>
                </a:lnTo>
                <a:close/>
              </a:path>
            </a:pathLst>
          </a:custGeom>
          <a:blipFill>
            <a:blip r:embed="rId2"/>
            <a:stretch>
              <a:fillRect l="0" t="0" r="0" b="0"/>
            </a:stretch>
          </a:blipFill>
        </p:spPr>
      </p:sp>
      <p:sp>
        <p:nvSpPr>
          <p:cNvPr name="Freeform 3" id="3"/>
          <p:cNvSpPr/>
          <p:nvPr/>
        </p:nvSpPr>
        <p:spPr>
          <a:xfrm flipH="false" flipV="false" rot="0">
            <a:off x="13966662" y="2262328"/>
            <a:ext cx="4321338" cy="5761784"/>
          </a:xfrm>
          <a:custGeom>
            <a:avLst/>
            <a:gdLst/>
            <a:ahLst/>
            <a:cxnLst/>
            <a:rect r="r" b="b" t="t" l="l"/>
            <a:pathLst>
              <a:path h="5761784" w="4321338">
                <a:moveTo>
                  <a:pt x="0" y="0"/>
                </a:moveTo>
                <a:lnTo>
                  <a:pt x="4321338" y="0"/>
                </a:lnTo>
                <a:lnTo>
                  <a:pt x="4321338" y="5761783"/>
                </a:lnTo>
                <a:lnTo>
                  <a:pt x="0" y="5761783"/>
                </a:lnTo>
                <a:lnTo>
                  <a:pt x="0" y="0"/>
                </a:lnTo>
                <a:close/>
              </a:path>
            </a:pathLst>
          </a:custGeom>
          <a:blipFill>
            <a:blip r:embed="rId3"/>
            <a:stretch>
              <a:fillRect l="0" t="0" r="0" b="0"/>
            </a:stretch>
          </a:blipFill>
        </p:spPr>
      </p:sp>
      <p:grpSp>
        <p:nvGrpSpPr>
          <p:cNvPr name="Group 4" id="4"/>
          <p:cNvGrpSpPr/>
          <p:nvPr/>
        </p:nvGrpSpPr>
        <p:grpSpPr>
          <a:xfrm rot="0">
            <a:off x="0" y="-25475"/>
            <a:ext cx="18288000" cy="2166846"/>
            <a:chOff x="0" y="0"/>
            <a:chExt cx="24384000" cy="2889128"/>
          </a:xfrm>
        </p:grpSpPr>
        <p:sp>
          <p:nvSpPr>
            <p:cNvPr name="Freeform 5" id="5"/>
            <p:cNvSpPr/>
            <p:nvPr/>
          </p:nvSpPr>
          <p:spPr>
            <a:xfrm flipH="false" flipV="false" rot="0">
              <a:off x="0" y="33966"/>
              <a:ext cx="2855162" cy="2855162"/>
            </a:xfrm>
            <a:custGeom>
              <a:avLst/>
              <a:gdLst/>
              <a:ahLst/>
              <a:cxnLst/>
              <a:rect r="r" b="b" t="t" l="l"/>
              <a:pathLst>
                <a:path h="2855162" w="2855162">
                  <a:moveTo>
                    <a:pt x="0" y="0"/>
                  </a:moveTo>
                  <a:lnTo>
                    <a:pt x="2855162" y="0"/>
                  </a:lnTo>
                  <a:lnTo>
                    <a:pt x="2855162" y="2855162"/>
                  </a:lnTo>
                  <a:lnTo>
                    <a:pt x="0" y="2855162"/>
                  </a:lnTo>
                  <a:lnTo>
                    <a:pt x="0" y="0"/>
                  </a:lnTo>
                  <a:close/>
                </a:path>
              </a:pathLst>
            </a:custGeom>
            <a:blipFill>
              <a:blip r:embed="rId4"/>
              <a:stretch>
                <a:fillRect l="0" t="0" r="0" b="0"/>
              </a:stretch>
            </a:blipFill>
          </p:spPr>
        </p:sp>
        <p:sp>
          <p:nvSpPr>
            <p:cNvPr name="Freeform 6" id="6"/>
            <p:cNvSpPr/>
            <p:nvPr/>
          </p:nvSpPr>
          <p:spPr>
            <a:xfrm flipH="false" flipV="false" rot="0">
              <a:off x="20858372" y="0"/>
              <a:ext cx="3525628" cy="1974351"/>
            </a:xfrm>
            <a:custGeom>
              <a:avLst/>
              <a:gdLst/>
              <a:ahLst/>
              <a:cxnLst/>
              <a:rect r="r" b="b" t="t" l="l"/>
              <a:pathLst>
                <a:path h="1974351" w="3525628">
                  <a:moveTo>
                    <a:pt x="0" y="0"/>
                  </a:moveTo>
                  <a:lnTo>
                    <a:pt x="3525628" y="0"/>
                  </a:lnTo>
                  <a:lnTo>
                    <a:pt x="3525628" y="1974351"/>
                  </a:lnTo>
                  <a:lnTo>
                    <a:pt x="0" y="1974351"/>
                  </a:lnTo>
                  <a:lnTo>
                    <a:pt x="0" y="0"/>
                  </a:lnTo>
                  <a:close/>
                </a:path>
              </a:pathLst>
            </a:custGeom>
            <a:blipFill>
              <a:blip r:embed="rId5"/>
              <a:stretch>
                <a:fillRect l="0" t="0" r="0" b="0"/>
              </a:stretch>
            </a:blipFill>
          </p:spPr>
        </p:sp>
        <p:sp>
          <p:nvSpPr>
            <p:cNvPr name="Freeform 7" id="7"/>
            <p:cNvSpPr/>
            <p:nvPr/>
          </p:nvSpPr>
          <p:spPr>
            <a:xfrm flipH="false" flipV="false" rot="0">
              <a:off x="18917988" y="33966"/>
              <a:ext cx="1940385" cy="1940385"/>
            </a:xfrm>
            <a:custGeom>
              <a:avLst/>
              <a:gdLst/>
              <a:ahLst/>
              <a:cxnLst/>
              <a:rect r="r" b="b" t="t" l="l"/>
              <a:pathLst>
                <a:path h="1940385" w="1940385">
                  <a:moveTo>
                    <a:pt x="0" y="0"/>
                  </a:moveTo>
                  <a:lnTo>
                    <a:pt x="1940384" y="0"/>
                  </a:lnTo>
                  <a:lnTo>
                    <a:pt x="1940384" y="1940385"/>
                  </a:lnTo>
                  <a:lnTo>
                    <a:pt x="0" y="1940385"/>
                  </a:lnTo>
                  <a:lnTo>
                    <a:pt x="0" y="0"/>
                  </a:lnTo>
                  <a:close/>
                </a:path>
              </a:pathLst>
            </a:custGeom>
            <a:blipFill>
              <a:blip r:embed="rId6"/>
              <a:stretch>
                <a:fillRect l="-12904" t="-12015" r="-11867" b="-12757"/>
              </a:stretch>
            </a:blipFill>
          </p:spPr>
        </p:sp>
      </p:grpSp>
      <p:sp>
        <p:nvSpPr>
          <p:cNvPr name="Freeform 8" id="8"/>
          <p:cNvSpPr/>
          <p:nvPr/>
        </p:nvSpPr>
        <p:spPr>
          <a:xfrm flipH="false" flipV="false" rot="0">
            <a:off x="8506462" y="5949496"/>
            <a:ext cx="3148821" cy="3148821"/>
          </a:xfrm>
          <a:custGeom>
            <a:avLst/>
            <a:gdLst/>
            <a:ahLst/>
            <a:cxnLst/>
            <a:rect r="r" b="b" t="t" l="l"/>
            <a:pathLst>
              <a:path h="3148821" w="3148821">
                <a:moveTo>
                  <a:pt x="0" y="0"/>
                </a:moveTo>
                <a:lnTo>
                  <a:pt x="3148821" y="0"/>
                </a:lnTo>
                <a:lnTo>
                  <a:pt x="3148821" y="3148820"/>
                </a:lnTo>
                <a:lnTo>
                  <a:pt x="0" y="3148820"/>
                </a:lnTo>
                <a:lnTo>
                  <a:pt x="0" y="0"/>
                </a:lnTo>
                <a:close/>
              </a:path>
            </a:pathLst>
          </a:custGeom>
          <a:blipFill>
            <a:blip r:embed="rId7"/>
            <a:stretch>
              <a:fillRect l="0" t="0" r="0" b="0"/>
            </a:stretch>
          </a:blipFill>
        </p:spPr>
      </p:sp>
      <p:sp>
        <p:nvSpPr>
          <p:cNvPr name="Freeform 9" id="9"/>
          <p:cNvSpPr/>
          <p:nvPr/>
        </p:nvSpPr>
        <p:spPr>
          <a:xfrm flipH="false" flipV="false" rot="0">
            <a:off x="2963075" y="5869504"/>
            <a:ext cx="3228812" cy="3228812"/>
          </a:xfrm>
          <a:custGeom>
            <a:avLst/>
            <a:gdLst/>
            <a:ahLst/>
            <a:cxnLst/>
            <a:rect r="r" b="b" t="t" l="l"/>
            <a:pathLst>
              <a:path h="3228812" w="3228812">
                <a:moveTo>
                  <a:pt x="0" y="0"/>
                </a:moveTo>
                <a:lnTo>
                  <a:pt x="3228812" y="0"/>
                </a:lnTo>
                <a:lnTo>
                  <a:pt x="3228812" y="3228812"/>
                </a:lnTo>
                <a:lnTo>
                  <a:pt x="0" y="3228812"/>
                </a:lnTo>
                <a:lnTo>
                  <a:pt x="0" y="0"/>
                </a:lnTo>
                <a:close/>
              </a:path>
            </a:pathLst>
          </a:custGeom>
          <a:blipFill>
            <a:blip r:embed="rId8"/>
            <a:stretch>
              <a:fillRect l="0" t="0" r="0" b="0"/>
            </a:stretch>
          </a:blipFill>
        </p:spPr>
      </p:sp>
      <p:sp>
        <p:nvSpPr>
          <p:cNvPr name="TextBox 10" id="10"/>
          <p:cNvSpPr txBox="true"/>
          <p:nvPr/>
        </p:nvSpPr>
        <p:spPr>
          <a:xfrm rot="0">
            <a:off x="1049265" y="2033728"/>
            <a:ext cx="8282942" cy="2048088"/>
          </a:xfrm>
          <a:prstGeom prst="rect">
            <a:avLst/>
          </a:prstGeom>
        </p:spPr>
        <p:txBody>
          <a:bodyPr anchor="t" rtlCol="false" tIns="0" lIns="0" bIns="0" rIns="0">
            <a:spAutoFit/>
          </a:bodyPr>
          <a:lstStyle/>
          <a:p>
            <a:pPr algn="l" marL="0" indent="0" lvl="0">
              <a:lnSpc>
                <a:spcPts val="16788"/>
              </a:lnSpc>
              <a:spcBef>
                <a:spcPct val="0"/>
              </a:spcBef>
            </a:pPr>
            <a:r>
              <a:rPr lang="en-US" sz="11991" strike="noStrike" u="none">
                <a:solidFill>
                  <a:srgbClr val="FFFFFF"/>
                </a:solidFill>
                <a:latin typeface="Tex Gyre Termes"/>
                <a:ea typeface="Tex Gyre Termes"/>
                <a:cs typeface="Tex Gyre Termes"/>
                <a:sym typeface="Tex Gyre Termes"/>
              </a:rPr>
              <a:t>Thank You</a:t>
            </a:r>
          </a:p>
        </p:txBody>
      </p:sp>
      <p:sp>
        <p:nvSpPr>
          <p:cNvPr name="TextBox 11" id="11"/>
          <p:cNvSpPr txBox="true"/>
          <p:nvPr/>
        </p:nvSpPr>
        <p:spPr>
          <a:xfrm rot="0">
            <a:off x="9496157" y="5098905"/>
            <a:ext cx="1169432" cy="501552"/>
          </a:xfrm>
          <a:prstGeom prst="rect">
            <a:avLst/>
          </a:prstGeom>
        </p:spPr>
        <p:txBody>
          <a:bodyPr anchor="t" rtlCol="false" tIns="0" lIns="0" bIns="0" rIns="0">
            <a:spAutoFit/>
          </a:bodyPr>
          <a:lstStyle/>
          <a:p>
            <a:pPr algn="ctr">
              <a:lnSpc>
                <a:spcPts val="3855"/>
              </a:lnSpc>
              <a:spcBef>
                <a:spcPct val="0"/>
              </a:spcBef>
            </a:pPr>
            <a:r>
              <a:rPr lang="en-US" sz="2753">
                <a:solidFill>
                  <a:srgbClr val="FFFFFF"/>
                </a:solidFill>
                <a:latin typeface="Poppins"/>
                <a:ea typeface="Poppins"/>
                <a:cs typeface="Poppins"/>
                <a:sym typeface="Poppins"/>
              </a:rPr>
              <a:t>Github</a:t>
            </a:r>
          </a:p>
        </p:txBody>
      </p:sp>
      <p:sp>
        <p:nvSpPr>
          <p:cNvPr name="TextBox 12" id="12"/>
          <p:cNvSpPr txBox="true"/>
          <p:nvPr/>
        </p:nvSpPr>
        <p:spPr>
          <a:xfrm rot="0">
            <a:off x="3786751" y="5098905"/>
            <a:ext cx="1403985" cy="501552"/>
          </a:xfrm>
          <a:prstGeom prst="rect">
            <a:avLst/>
          </a:prstGeom>
        </p:spPr>
        <p:txBody>
          <a:bodyPr anchor="t" rtlCol="false" tIns="0" lIns="0" bIns="0" rIns="0">
            <a:spAutoFit/>
          </a:bodyPr>
          <a:lstStyle/>
          <a:p>
            <a:pPr algn="ctr">
              <a:lnSpc>
                <a:spcPts val="3855"/>
              </a:lnSpc>
              <a:spcBef>
                <a:spcPct val="0"/>
              </a:spcBef>
            </a:pPr>
            <a:r>
              <a:rPr lang="en-US" sz="2753">
                <a:solidFill>
                  <a:srgbClr val="FFFFFF"/>
                </a:solidFill>
                <a:latin typeface="Poppins"/>
                <a:ea typeface="Poppins"/>
                <a:cs typeface="Poppins"/>
                <a:sym typeface="Poppins"/>
              </a:rPr>
              <a:t>LinkedIn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DAHOUecV7OM</dc:identifier>
  <dcterms:modified xsi:type="dcterms:W3CDTF">2011-08-01T06:04:30Z</dcterms:modified>
  <cp:revision>1</cp:revision>
  <dc:title>GAMING AND MENTAL HEALTH: DATA ANALYSIS STUDY</dc:title>
</cp:coreProperties>
</file>